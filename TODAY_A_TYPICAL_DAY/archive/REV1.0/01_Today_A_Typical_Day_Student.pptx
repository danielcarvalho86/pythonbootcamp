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(with slide 2) · Lead-in · 4 min total.
Show the cover for a few seconds while you greet the student. No explanation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 Lead-in · 4 min · T↔S
Aim: activate the topic; start diagnosing spontaneous simple present.
Ask the big question naturally. Use the three follow-ups only if the student needs a push.
Do NOT correct. Start your error log (lesson plan, Appendix C): note 3rd-person -s, do/does, don't/doesn't, "I am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 Diagnostic speaking · 5 min · S→T
Aim: baseline — let the student speak at length about a normal weekday.
"Tell me about a normal weekday — from the morning to the evening." Let the student point along the day line.
Use the support questions only when the student stops. Listen more than you speak.
Keep writing errors in your log — especially: He work… / I am work… / He don't… / Does he works…? These feed stage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Vocabulary discovery · 7 min (slides 4–6) · T↔S
Slide 4 (about 2 min): times and pictures only. ELICIT: "What does he do at 7:00?" Accept any form; don't correct yet.
Expected: He gets up / He arrives at the clinic / He sees patients / He examines a patient / He has lunch / He sees patients / He checks medical records / He finishes work.
Feed missing words ("medical records", "examine") only if the student can't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continued (about 3 min)
Reveal the phrases. Student reads the day as a story: "At 7:00 he gets up. At 8:00 he arrives at the clinic…"
Then ask the three questions.
ANSWERS: He sees patients. · No, he doesn't. He works at a clinic. · He finishes at 6:00.
If the student says "he see / he finish", don't correct yet — note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Personalisation (about 2 min) · T↔S
"Which of these things do you do? When?" The student chooses 5–6 phrases and makes true sentences: "I see patients at 9:00." "I don't work on weekends."
Encourage negatives. Note errors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Language discovery · 7 min (slides 7–8) · T↔S
Slide 7 (about 4 min): ELICIT, don't explain. Ask one question at a time and wait:
1 "What's different?" (works / doesn't / does)
2 "Why do we say 'works' here?" (he / she / it)
3 "Why doesn't 'work' change here?" (after doesn't / does → base verb)
4 "What happens after 'does'?" (he + work — no -s)
CCQs: "Does he work at night — one person or more?" (one) "Is 'works' OK after does?"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continued (about 3 min)
Let the student tell YOU the pattern first, then show this slide to confirm.
Point to the crossed-out WORKS: "Does he works?" — no. Does already has the -s.
Quick check: "She ___ (live) in Brazil." "___ she work at night?" "He ___ (not work) on Sundays."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 Quick accuracy challenge · 5 min · T↔S
"Right or wrong? Fix the wrong ones." The student says the correct sentence aloud — no writing needed.
KEY: 1 ✗ He works in a clinic. · 2 ✗ I work from Monday to Friday. · 3 ✓ · 4 ✗ Does he work on Saturdays? · 5 ✓
If the student is unsure, point back to slide 8 (don't re-explain).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Information gap · 7 min (slides 10–11) · S↔T
"This is Dr. Sarah. You don't know her day. I know. Ask me — find the six things."
Answer ONLY what the student asks. If the question is wrong ("Where she works?"), look puzzled and wait — let them self-correct. Reformulate only if they're stuck.
TEACHER ONLY — Dr. Sarah: works in a hospital · starts at 7:30 · sees 15 patients a day · doesn't work on Sundays · has lunch at 12:30 · finishes at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continued
Use this slide if the student needs support forming the questions (auxiliary gap = does).
When all six facts are found: "Now tell me about Dr. Sarah." → She works in a hospital. She starts at 7:30… (third-person -s in use).
Do not reveal Sarah's facts on screen — say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 Pronunciation micro-focus · 3 min · T↔S
NOTICE: "Listen — are the endings the same?" Say works / lives / watches.
LISTEN: model each sentence twice, natural speed.
REPEAT: student repeats; tap the final sound.
USE: "Tell me about a colleague or a friend." → She works… He lives… He watches…
Only 3 minutes — no phonetics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Main communicative task · 10 min (slides 13–15)
ROUND 1 (about 3 min) · S→T: the student interviews you about Dr. Ben. You answer as his colleague, in the 3rd person.
TEACHER ONLY — Dr. Ben: works at a hospital · starts at 8:00 in the evening · works at night (Yes, he does) · sees about 20 patients a night · works on weekends (Yes, he does — he doesn't work on Mondays) · finishes at 6:00 in the morning.
Monitor, don't interrupt.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2 (about 3–4 min) · T→S
Now you interview the student. The questions are on screen as a model of do-questions; the student answers with full sentences where natural.
Follow up genuinely ("Really? Why?").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3 (about 3 min) · S→T
No prompts. "Tell me about your typical working day." Let the student speak for 2 minutes without help.
Monitor silently; choose the 3–5 most useful real errors from the whole lesson and type them into slide 16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9 · Delayed correction · 5 min · T↔S
BEFORE SHOWING: replace these example sentences with 3–5 REAL errors from your log (type over them; delete unused lines).
Show one at a time if possible. "Is it right? Can you fix it?" Student self-corrects; if stuck, point to the pattern box.
Finish with the pattern box (read it together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10 · Exit task · 2 min · S→T
"So, what does a typical day look like for you?" The student produces 4–5 sentences with no help.
Check against the exit checklist (lesson plan): simple present form · routine vocabulary · 3rd-person / questions if used · fewer of today's main slips.
Mention next lesson: How often…? (always / usually / sometimes / never). Don't teach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40"/>
        </a:solidFill>
      </p:bgPr>
    </p:bg>
    <p:spTree>
      <p:nvGrpSpPr>
        <p:cNvPr id="1" name=""/>
        <p:cNvGrpSpPr/>
        <p:nvPr/>
      </p:nvGrpSpPr>
      <p:grpSpPr>
        <a:xfrm>
          <a:off x="0" y="0"/>
          <a:ext cx="0" cy="0"/>
          <a:chOff x="0" y="0"/>
          <a:chExt cx="0" cy="0"/>
        </a:xfrm>
      </p:grpSpPr>
      <p:sp>
        <p:nvSpPr>
          <p:cNvPr id="3" name="Text 0"/>
          <p:cNvSpPr txBox="1"/>
          <p:nvPr/>
        </p:nvSpPr>
        <p:spPr>
          <a:xfrm>
            <a:off x="548640" y="548640"/>
            <a:ext cx="7315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GENERAL ENGLISH · CONVERSATION</a:t>
            </a:r>
            <a:endParaRPr lang="en-US" sz="1100" dirty="0"/>
          </a:p>
        </p:txBody>
      </p:sp>
      <p:pic>
        <p:nvPicPr>
          <p:cNvPr id="4" name="Image 0" descr="Today">    </p:cNvPr>
          <p:cNvPicPr>
            <a:picLocks noChangeAspect="1"/>
          </p:cNvPicPr>
          <p:nvPr/>
        </p:nvPicPr>
        <p:blipFill>
          <a:blip r:embed="rId1"/>
          <a:stretch>
            <a:fillRect/>
          </a:stretch>
        </p:blipFill>
        <p:spPr>
          <a:xfrm>
            <a:off x="10771632" y="457200"/>
            <a:ext cx="868680" cy="1004059"/>
          </a:xfrm>
          <a:prstGeom prst="rect">
            <a:avLst/>
          </a:prstGeom>
        </p:spPr>
      </p:pic>
      <p:sp>
        <p:nvSpPr>
          <p:cNvPr id="5" name="Text 1"/>
          <p:cNvSpPr txBox="1"/>
          <p:nvPr/>
        </p:nvSpPr>
        <p:spPr>
          <a:xfrm>
            <a:off x="548640" y="1325880"/>
            <a:ext cx="8229600" cy="2743200"/>
          </a:xfrm>
          <a:prstGeom prst="rect">
            <a:avLst/>
          </a:prstGeom>
          <a:noFill/>
          <a:ln/>
        </p:spPr>
        <p:txBody>
          <a:bodyPr wrap="square" lIns="0" tIns="0" rIns="0" bIns="0" rtlCol="0" anchor="t"/>
          <a:lstStyle/>
          <a:p>
            <a:pPr indent="0" marL="0">
              <a:lnSpc>
                <a:spcPct val="90000"/>
              </a:lnSpc>
              <a:buNone/>
            </a:pPr>
            <a:r>
              <a:rPr lang="en-US" sz="9600" dirty="0">
                <a:solidFill>
                  <a:srgbClr val="FAF7F2"/>
                </a:solidFill>
                <a:latin typeface="Poppins ExtraBold" pitchFamily="34" charset="0"/>
                <a:ea typeface="Poppins ExtraBold" pitchFamily="34" charset="-122"/>
                <a:cs typeface="Poppins ExtraBold" pitchFamily="34" charset="-120"/>
              </a:rPr>
              <a:t>A Typical</a:t>
            </a:r>
            <a:endParaRPr lang="en-US" sz="9600" dirty="0"/>
          </a:p>
          <a:p>
            <a:pPr indent="0" marL="0">
              <a:lnSpc>
                <a:spcPct val="90000"/>
              </a:lnSpc>
              <a:buNone/>
            </a:pPr>
            <a:r>
              <a:rPr lang="en-US" sz="9600" dirty="0">
                <a:solidFill>
                  <a:srgbClr val="F44904"/>
                </a:solidFill>
                <a:latin typeface="Poppins ExtraBold" pitchFamily="34" charset="0"/>
                <a:ea typeface="Poppins ExtraBold" pitchFamily="34" charset="-122"/>
                <a:cs typeface="Poppins ExtraBold" pitchFamily="34" charset="-120"/>
              </a:rPr>
              <a:t>Day.</a:t>
            </a:r>
            <a:endParaRPr lang="en-US" sz="9600" dirty="0"/>
          </a:p>
        </p:txBody>
      </p:sp>
      <p:sp>
        <p:nvSpPr>
          <p:cNvPr id="6" name="Text 2"/>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AF7F2"/>
                </a:solidFill>
                <a:latin typeface="Poppins SemiBold" pitchFamily="34" charset="0"/>
                <a:ea typeface="Poppins SemiBold" pitchFamily="34" charset="-122"/>
                <a:cs typeface="Poppins SemiBold" pitchFamily="34" charset="-120"/>
              </a:rPr>
              <a:t>Habits, routines &amp; everyday life</a:t>
            </a:r>
            <a:endParaRPr lang="en-US" sz="2400" dirty="0"/>
          </a:p>
        </p:txBody>
      </p:sp>
      <p:sp>
        <p:nvSpPr>
          <p:cNvPr id="7" name="Text 3"/>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A1 / A1+  ·  60 MIN  ·  1-TO-1</a:t>
            </a:r>
            <a:endParaRPr lang="en-US" sz="1100" dirty="0"/>
          </a:p>
        </p:txBody>
      </p:sp>
      <p:sp>
        <p:nvSpPr>
          <p:cNvPr id="8" name="Shape 4"/>
          <p:cNvSpPr/>
          <p:nvPr/>
        </p:nvSpPr>
        <p:spPr>
          <a:xfrm>
            <a:off x="548640" y="5669280"/>
            <a:ext cx="11091672" cy="0"/>
          </a:xfrm>
          <a:prstGeom prst="line">
            <a:avLst/>
          </a:prstGeom>
          <a:noFill/>
          <a:ln w="15875">
            <a:solidFill>
              <a:srgbClr val="5B6088"/>
            </a:solidFill>
            <a:prstDash val="solid"/>
          </a:ln>
        </p:spPr>
      </p:sp>
      <p:sp>
        <p:nvSpPr>
          <p:cNvPr id="9" name="Shape 5"/>
          <p:cNvSpPr/>
          <p:nvPr/>
        </p:nvSpPr>
        <p:spPr>
          <a:xfrm>
            <a:off x="548640" y="5522976"/>
            <a:ext cx="0" cy="292608"/>
          </a:xfrm>
          <a:prstGeom prst="line">
            <a:avLst/>
          </a:prstGeom>
          <a:noFill/>
          <a:ln w="15875">
            <a:solidFill>
              <a:srgbClr val="5B6088"/>
            </a:solidFill>
            <a:prstDash val="solid"/>
          </a:ln>
        </p:spPr>
      </p:sp>
      <p:sp>
        <p:nvSpPr>
          <p:cNvPr id="10" name="Text 6"/>
          <p:cNvSpPr txBox="1"/>
          <p:nvPr/>
        </p:nvSpPr>
        <p:spPr>
          <a:xfrm>
            <a:off x="548640" y="589788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7"/>
          <p:cNvSpPr/>
          <p:nvPr/>
        </p:nvSpPr>
        <p:spPr>
          <a:xfrm>
            <a:off x="1241870" y="5586984"/>
            <a:ext cx="0" cy="164592"/>
          </a:xfrm>
          <a:prstGeom prst="line">
            <a:avLst/>
          </a:prstGeom>
          <a:noFill/>
          <a:ln w="9525">
            <a:solidFill>
              <a:srgbClr val="5B6088"/>
            </a:solidFill>
            <a:prstDash val="solid"/>
          </a:ln>
        </p:spPr>
      </p:sp>
      <p:sp>
        <p:nvSpPr>
          <p:cNvPr id="12" name="Shape 8"/>
          <p:cNvSpPr/>
          <p:nvPr/>
        </p:nvSpPr>
        <p:spPr>
          <a:xfrm>
            <a:off x="1935099" y="5522976"/>
            <a:ext cx="0" cy="292608"/>
          </a:xfrm>
          <a:prstGeom prst="line">
            <a:avLst/>
          </a:prstGeom>
          <a:noFill/>
          <a:ln w="15875">
            <a:solidFill>
              <a:srgbClr val="5B6088"/>
            </a:solidFill>
            <a:prstDash val="solid"/>
          </a:ln>
        </p:spPr>
      </p:sp>
      <p:sp>
        <p:nvSpPr>
          <p:cNvPr id="13" name="Text 9"/>
          <p:cNvSpPr txBox="1"/>
          <p:nvPr/>
        </p:nvSpPr>
        <p:spPr>
          <a:xfrm>
            <a:off x="1569339"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0"/>
          <p:cNvSpPr/>
          <p:nvPr/>
        </p:nvSpPr>
        <p:spPr>
          <a:xfrm>
            <a:off x="2628329" y="5586984"/>
            <a:ext cx="0" cy="164592"/>
          </a:xfrm>
          <a:prstGeom prst="line">
            <a:avLst/>
          </a:prstGeom>
          <a:noFill/>
          <a:ln w="9525">
            <a:solidFill>
              <a:srgbClr val="5B6088"/>
            </a:solidFill>
            <a:prstDash val="solid"/>
          </a:ln>
        </p:spPr>
      </p:sp>
      <p:sp>
        <p:nvSpPr>
          <p:cNvPr id="15" name="Shape 11"/>
          <p:cNvSpPr/>
          <p:nvPr/>
        </p:nvSpPr>
        <p:spPr>
          <a:xfrm>
            <a:off x="3321558" y="5522976"/>
            <a:ext cx="0" cy="292608"/>
          </a:xfrm>
          <a:prstGeom prst="line">
            <a:avLst/>
          </a:prstGeom>
          <a:noFill/>
          <a:ln w="15875">
            <a:solidFill>
              <a:srgbClr val="5B6088"/>
            </a:solidFill>
            <a:prstDash val="solid"/>
          </a:ln>
        </p:spPr>
      </p:sp>
      <p:sp>
        <p:nvSpPr>
          <p:cNvPr id="16" name="Text 12"/>
          <p:cNvSpPr txBox="1"/>
          <p:nvPr/>
        </p:nvSpPr>
        <p:spPr>
          <a:xfrm>
            <a:off x="2955798"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3"/>
          <p:cNvSpPr/>
          <p:nvPr/>
        </p:nvSpPr>
        <p:spPr>
          <a:xfrm>
            <a:off x="4014788" y="5586984"/>
            <a:ext cx="0" cy="164592"/>
          </a:xfrm>
          <a:prstGeom prst="line">
            <a:avLst/>
          </a:prstGeom>
          <a:noFill/>
          <a:ln w="9525">
            <a:solidFill>
              <a:srgbClr val="5B6088"/>
            </a:solidFill>
            <a:prstDash val="solid"/>
          </a:ln>
        </p:spPr>
      </p:sp>
      <p:sp>
        <p:nvSpPr>
          <p:cNvPr id="18" name="Shape 14"/>
          <p:cNvSpPr/>
          <p:nvPr/>
        </p:nvSpPr>
        <p:spPr>
          <a:xfrm>
            <a:off x="4708017" y="5522976"/>
            <a:ext cx="0" cy="292608"/>
          </a:xfrm>
          <a:prstGeom prst="line">
            <a:avLst/>
          </a:prstGeom>
          <a:noFill/>
          <a:ln w="15875">
            <a:solidFill>
              <a:srgbClr val="5B6088"/>
            </a:solidFill>
            <a:prstDash val="solid"/>
          </a:ln>
        </p:spPr>
      </p:sp>
      <p:sp>
        <p:nvSpPr>
          <p:cNvPr id="19" name="Text 15"/>
          <p:cNvSpPr txBox="1"/>
          <p:nvPr/>
        </p:nvSpPr>
        <p:spPr>
          <a:xfrm>
            <a:off x="4342257"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6"/>
          <p:cNvSpPr/>
          <p:nvPr/>
        </p:nvSpPr>
        <p:spPr>
          <a:xfrm>
            <a:off x="5401247" y="5586984"/>
            <a:ext cx="0" cy="164592"/>
          </a:xfrm>
          <a:prstGeom prst="line">
            <a:avLst/>
          </a:prstGeom>
          <a:noFill/>
          <a:ln w="9525">
            <a:solidFill>
              <a:srgbClr val="5B6088"/>
            </a:solidFill>
            <a:prstDash val="solid"/>
          </a:ln>
        </p:spPr>
      </p:sp>
      <p:sp>
        <p:nvSpPr>
          <p:cNvPr id="21" name="Shape 17"/>
          <p:cNvSpPr/>
          <p:nvPr/>
        </p:nvSpPr>
        <p:spPr>
          <a:xfrm>
            <a:off x="6094476" y="5522976"/>
            <a:ext cx="0" cy="292608"/>
          </a:xfrm>
          <a:prstGeom prst="line">
            <a:avLst/>
          </a:prstGeom>
          <a:noFill/>
          <a:ln w="15875">
            <a:solidFill>
              <a:srgbClr val="5B6088"/>
            </a:solidFill>
            <a:prstDash val="solid"/>
          </a:ln>
        </p:spPr>
      </p:sp>
      <p:sp>
        <p:nvSpPr>
          <p:cNvPr id="22" name="Text 18"/>
          <p:cNvSpPr txBox="1"/>
          <p:nvPr/>
        </p:nvSpPr>
        <p:spPr>
          <a:xfrm>
            <a:off x="5728716"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19"/>
          <p:cNvSpPr/>
          <p:nvPr/>
        </p:nvSpPr>
        <p:spPr>
          <a:xfrm>
            <a:off x="6787706" y="5586984"/>
            <a:ext cx="0" cy="164592"/>
          </a:xfrm>
          <a:prstGeom prst="line">
            <a:avLst/>
          </a:prstGeom>
          <a:noFill/>
          <a:ln w="9525">
            <a:solidFill>
              <a:srgbClr val="5B6088"/>
            </a:solidFill>
            <a:prstDash val="solid"/>
          </a:ln>
        </p:spPr>
      </p:sp>
      <p:sp>
        <p:nvSpPr>
          <p:cNvPr id="24" name="Shape 20"/>
          <p:cNvSpPr/>
          <p:nvPr/>
        </p:nvSpPr>
        <p:spPr>
          <a:xfrm>
            <a:off x="7480935" y="5522976"/>
            <a:ext cx="0" cy="292608"/>
          </a:xfrm>
          <a:prstGeom prst="line">
            <a:avLst/>
          </a:prstGeom>
          <a:noFill/>
          <a:ln w="15875">
            <a:solidFill>
              <a:srgbClr val="5B6088"/>
            </a:solidFill>
            <a:prstDash val="solid"/>
          </a:ln>
        </p:spPr>
      </p:sp>
      <p:sp>
        <p:nvSpPr>
          <p:cNvPr id="25" name="Text 21"/>
          <p:cNvSpPr txBox="1"/>
          <p:nvPr/>
        </p:nvSpPr>
        <p:spPr>
          <a:xfrm>
            <a:off x="7115175"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2"/>
          <p:cNvSpPr/>
          <p:nvPr/>
        </p:nvSpPr>
        <p:spPr>
          <a:xfrm>
            <a:off x="8174165" y="5586984"/>
            <a:ext cx="0" cy="164592"/>
          </a:xfrm>
          <a:prstGeom prst="line">
            <a:avLst/>
          </a:prstGeom>
          <a:noFill/>
          <a:ln w="9525">
            <a:solidFill>
              <a:srgbClr val="5B6088"/>
            </a:solidFill>
            <a:prstDash val="solid"/>
          </a:ln>
        </p:spPr>
      </p:sp>
      <p:sp>
        <p:nvSpPr>
          <p:cNvPr id="27" name="Shape 23"/>
          <p:cNvSpPr/>
          <p:nvPr/>
        </p:nvSpPr>
        <p:spPr>
          <a:xfrm>
            <a:off x="8867394" y="5522976"/>
            <a:ext cx="0" cy="292608"/>
          </a:xfrm>
          <a:prstGeom prst="line">
            <a:avLst/>
          </a:prstGeom>
          <a:noFill/>
          <a:ln w="15875">
            <a:solidFill>
              <a:srgbClr val="5B6088"/>
            </a:solidFill>
            <a:prstDash val="solid"/>
          </a:ln>
        </p:spPr>
      </p:sp>
      <p:sp>
        <p:nvSpPr>
          <p:cNvPr id="28" name="Text 24"/>
          <p:cNvSpPr txBox="1"/>
          <p:nvPr/>
        </p:nvSpPr>
        <p:spPr>
          <a:xfrm>
            <a:off x="8501634"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5"/>
          <p:cNvSpPr/>
          <p:nvPr/>
        </p:nvSpPr>
        <p:spPr>
          <a:xfrm>
            <a:off x="9560624" y="5586984"/>
            <a:ext cx="0" cy="164592"/>
          </a:xfrm>
          <a:prstGeom prst="line">
            <a:avLst/>
          </a:prstGeom>
          <a:noFill/>
          <a:ln w="9525">
            <a:solidFill>
              <a:srgbClr val="5B6088"/>
            </a:solidFill>
            <a:prstDash val="solid"/>
          </a:ln>
        </p:spPr>
      </p:sp>
      <p:sp>
        <p:nvSpPr>
          <p:cNvPr id="30" name="Shape 26"/>
          <p:cNvSpPr/>
          <p:nvPr/>
        </p:nvSpPr>
        <p:spPr>
          <a:xfrm>
            <a:off x="10253853" y="5522976"/>
            <a:ext cx="0" cy="292608"/>
          </a:xfrm>
          <a:prstGeom prst="line">
            <a:avLst/>
          </a:prstGeom>
          <a:noFill/>
          <a:ln w="15875">
            <a:solidFill>
              <a:srgbClr val="5B6088"/>
            </a:solidFill>
            <a:prstDash val="solid"/>
          </a:ln>
        </p:spPr>
      </p:sp>
      <p:sp>
        <p:nvSpPr>
          <p:cNvPr id="31" name="Text 27"/>
          <p:cNvSpPr txBox="1"/>
          <p:nvPr/>
        </p:nvSpPr>
        <p:spPr>
          <a:xfrm>
            <a:off x="9888093"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8"/>
          <p:cNvSpPr/>
          <p:nvPr/>
        </p:nvSpPr>
        <p:spPr>
          <a:xfrm>
            <a:off x="10947083" y="5586984"/>
            <a:ext cx="0" cy="164592"/>
          </a:xfrm>
          <a:prstGeom prst="line">
            <a:avLst/>
          </a:prstGeom>
          <a:noFill/>
          <a:ln w="9525">
            <a:solidFill>
              <a:srgbClr val="5B6088"/>
            </a:solidFill>
            <a:prstDash val="solid"/>
          </a:ln>
        </p:spPr>
      </p:sp>
      <p:sp>
        <p:nvSpPr>
          <p:cNvPr id="33" name="Shape 29"/>
          <p:cNvSpPr/>
          <p:nvPr/>
        </p:nvSpPr>
        <p:spPr>
          <a:xfrm>
            <a:off x="11640312" y="5522976"/>
            <a:ext cx="0" cy="292608"/>
          </a:xfrm>
          <a:prstGeom prst="line">
            <a:avLst/>
          </a:prstGeom>
          <a:noFill/>
          <a:ln w="15875">
            <a:solidFill>
              <a:srgbClr val="5B6088"/>
            </a:solidFill>
            <a:prstDash val="solid"/>
          </a:ln>
        </p:spPr>
      </p:sp>
      <p:sp>
        <p:nvSpPr>
          <p:cNvPr id="34" name="Text 30"/>
          <p:cNvSpPr txBox="1"/>
          <p:nvPr/>
        </p:nvSpPr>
        <p:spPr>
          <a:xfrm>
            <a:off x="10908792" y="589788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Shape 31"/>
          <p:cNvSpPr/>
          <p:nvPr/>
        </p:nvSpPr>
        <p:spPr>
          <a:xfrm>
            <a:off x="1040702" y="5468112"/>
            <a:ext cx="402336" cy="402336"/>
          </a:xfrm>
          <a:prstGeom prst="ellipse">
            <a:avLst/>
          </a:prstGeom>
          <a:ln w="31750">
            <a:solidFill>
              <a:srgbClr val="F4490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01 · LET’S TALK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02 / 17</a:t>
            </a:r>
            <a:endParaRPr lang="en-US" sz="1000" dirty="0"/>
          </a:p>
        </p:txBody>
      </p:sp>
      <p:sp>
        <p:nvSpPr>
          <p:cNvPr id="6" name="Text 3"/>
          <p:cNvSpPr txBox="1"/>
          <p:nvPr/>
        </p:nvSpPr>
        <p:spPr>
          <a:xfrm>
            <a:off x="548640" y="1188720"/>
            <a:ext cx="6766560" cy="2377440"/>
          </a:xfrm>
          <a:prstGeom prst="rect">
            <a:avLst/>
          </a:prstGeom>
          <a:noFill/>
          <a:ln/>
        </p:spPr>
        <p:txBody>
          <a:bodyPr wrap="square" lIns="0" tIns="0" rIns="0" bIns="0" rtlCol="0" anchor="t"/>
          <a:lstStyle/>
          <a:p>
            <a:pPr indent="0" marL="0">
              <a:lnSpc>
                <a:spcPct val="95000"/>
              </a:lnSpc>
              <a:buNone/>
            </a:pPr>
            <a:r>
              <a:rPr lang="en-US" sz="5200" dirty="0">
                <a:solidFill>
                  <a:srgbClr val="0B1440"/>
                </a:solidFill>
                <a:latin typeface="Poppins ExtraBold" pitchFamily="34" charset="0"/>
                <a:ea typeface="Poppins ExtraBold" pitchFamily="34" charset="-122"/>
                <a:cs typeface="Poppins ExtraBold" pitchFamily="34" charset="-120"/>
              </a:rPr>
              <a:t>What’s a typical day like for you?</a:t>
            </a:r>
            <a:endParaRPr lang="en-US" sz="5200" dirty="0"/>
          </a:p>
        </p:txBody>
      </p:sp>
      <p:sp>
        <p:nvSpPr>
          <p:cNvPr id="7" name="Shape 4"/>
          <p:cNvSpPr/>
          <p:nvPr/>
        </p:nvSpPr>
        <p:spPr>
          <a:xfrm>
            <a:off x="7726680" y="1188720"/>
            <a:ext cx="3913632" cy="1188720"/>
          </a:xfrm>
          <a:prstGeom prst="roundRect">
            <a:avLst>
              <a:gd name="adj" fmla="val 10769"/>
            </a:avLst>
          </a:prstGeom>
          <a:solidFill>
            <a:srgbClr val="F3EFE6"/>
          </a:solidFill>
          <a:ln/>
        </p:spPr>
      </p:sp>
      <p:sp>
        <p:nvSpPr>
          <p:cNvPr id="8" name="Text 5"/>
          <p:cNvSpPr txBox="1"/>
          <p:nvPr/>
        </p:nvSpPr>
        <p:spPr>
          <a:xfrm>
            <a:off x="8001000" y="13716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01</a:t>
            </a:r>
            <a:endParaRPr lang="en-US" sz="1100" dirty="0"/>
          </a:p>
        </p:txBody>
      </p:sp>
      <p:sp>
        <p:nvSpPr>
          <p:cNvPr id="9" name="Text 6"/>
          <p:cNvSpPr txBox="1"/>
          <p:nvPr/>
        </p:nvSpPr>
        <p:spPr>
          <a:xfrm>
            <a:off x="8001000" y="16276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get up?</a:t>
            </a:r>
            <a:endParaRPr lang="en-US" sz="1800" dirty="0"/>
          </a:p>
        </p:txBody>
      </p:sp>
      <p:sp>
        <p:nvSpPr>
          <p:cNvPr id="10" name="Shape 7"/>
          <p:cNvSpPr/>
          <p:nvPr/>
        </p:nvSpPr>
        <p:spPr>
          <a:xfrm>
            <a:off x="7726680" y="2560320"/>
            <a:ext cx="3913632" cy="1188720"/>
          </a:xfrm>
          <a:prstGeom prst="roundRect">
            <a:avLst>
              <a:gd name="adj" fmla="val 10769"/>
            </a:avLst>
          </a:prstGeom>
          <a:solidFill>
            <a:srgbClr val="F3EFE6"/>
          </a:solidFill>
          <a:ln/>
        </p:spPr>
      </p:sp>
      <p:sp>
        <p:nvSpPr>
          <p:cNvPr id="11" name="Text 8"/>
          <p:cNvSpPr txBox="1"/>
          <p:nvPr/>
        </p:nvSpPr>
        <p:spPr>
          <a:xfrm>
            <a:off x="8001000" y="27432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02</a:t>
            </a:r>
            <a:endParaRPr lang="en-US" sz="1100" dirty="0"/>
          </a:p>
        </p:txBody>
      </p:sp>
      <p:sp>
        <p:nvSpPr>
          <p:cNvPr id="12" name="Text 9"/>
          <p:cNvSpPr txBox="1"/>
          <p:nvPr/>
        </p:nvSpPr>
        <p:spPr>
          <a:xfrm>
            <a:off x="8001000" y="29992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do you do in the morning?</a:t>
            </a:r>
            <a:endParaRPr lang="en-US" sz="1800" dirty="0"/>
          </a:p>
        </p:txBody>
      </p:sp>
      <p:sp>
        <p:nvSpPr>
          <p:cNvPr id="13" name="Shape 10"/>
          <p:cNvSpPr/>
          <p:nvPr/>
        </p:nvSpPr>
        <p:spPr>
          <a:xfrm>
            <a:off x="7726680" y="3931920"/>
            <a:ext cx="3913632" cy="1188720"/>
          </a:xfrm>
          <a:prstGeom prst="roundRect">
            <a:avLst>
              <a:gd name="adj" fmla="val 10769"/>
            </a:avLst>
          </a:prstGeom>
          <a:solidFill>
            <a:srgbClr val="F3EFE6"/>
          </a:solidFill>
          <a:ln/>
        </p:spPr>
      </p:sp>
      <p:sp>
        <p:nvSpPr>
          <p:cNvPr id="14" name="Text 11"/>
          <p:cNvSpPr txBox="1"/>
          <p:nvPr/>
        </p:nvSpPr>
        <p:spPr>
          <a:xfrm>
            <a:off x="8001000" y="41148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03</a:t>
            </a:r>
            <a:endParaRPr lang="en-US" sz="1100" dirty="0"/>
          </a:p>
        </p:txBody>
      </p:sp>
      <p:sp>
        <p:nvSpPr>
          <p:cNvPr id="15" name="Text 12"/>
          <p:cNvSpPr txBox="1"/>
          <p:nvPr/>
        </p:nvSpPr>
        <p:spPr>
          <a:xfrm>
            <a:off x="8001000" y="43708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start 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02 · YOUR WEEKDAY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Tell me about your day.</a:t>
            </a:r>
            <a:endParaRPr lang="en-US" sz="4000" dirty="0"/>
          </a:p>
        </p:txBody>
      </p:sp>
      <p:sp>
        <p:nvSpPr>
          <p:cNvPr id="7" name="Text 4"/>
          <p:cNvSpPr txBox="1"/>
          <p:nvPr/>
        </p:nvSpPr>
        <p:spPr>
          <a:xfrm>
            <a:off x="548640" y="160020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 normal weekday — morning to evening.</a:t>
            </a:r>
            <a:endParaRPr lang="en-US" sz="2200" dirty="0"/>
          </a:p>
        </p:txBody>
      </p:sp>
      <p:sp>
        <p:nvSpPr>
          <p:cNvPr id="8" name="Shape 5"/>
          <p:cNvSpPr/>
          <p:nvPr/>
        </p:nvSpPr>
        <p:spPr>
          <a:xfrm>
            <a:off x="548640" y="3246120"/>
            <a:ext cx="11091672" cy="0"/>
          </a:xfrm>
          <a:prstGeom prst="line">
            <a:avLst/>
          </a:prstGeom>
          <a:noFill/>
          <a:ln w="15875">
            <a:solidFill>
              <a:srgbClr val="DDD6C7"/>
            </a:solidFill>
            <a:prstDash val="solid"/>
          </a:ln>
        </p:spPr>
      </p:sp>
      <p:sp>
        <p:nvSpPr>
          <p:cNvPr id="9" name="Shape 6"/>
          <p:cNvSpPr/>
          <p:nvPr/>
        </p:nvSpPr>
        <p:spPr>
          <a:xfrm>
            <a:off x="548640" y="3099816"/>
            <a:ext cx="0" cy="292608"/>
          </a:xfrm>
          <a:prstGeom prst="line">
            <a:avLst/>
          </a:prstGeom>
          <a:noFill/>
          <a:ln w="15875">
            <a:solidFill>
              <a:srgbClr val="B7AFA0"/>
            </a:solidFill>
            <a:prstDash val="solid"/>
          </a:ln>
        </p:spPr>
      </p:sp>
      <p:sp>
        <p:nvSpPr>
          <p:cNvPr id="10" name="Text 7"/>
          <p:cNvSpPr txBox="1"/>
          <p:nvPr/>
        </p:nvSpPr>
        <p:spPr>
          <a:xfrm>
            <a:off x="548640" y="3474720"/>
            <a:ext cx="731520" cy="228600"/>
          </a:xfrm>
          <a:prstGeom prst="rect">
            <a:avLst/>
          </a:prstGeom>
          <a:noFill/>
          <a:ln/>
        </p:spPr>
        <p:txBody>
          <a:bodyPr wrap="square" lIns="0" tIns="0" rIns="0" bIns="0" rtlCol="0" anchor="t"/>
          <a:lstStyle/>
          <a:p>
            <a:pPr algn="l"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3163824"/>
            <a:ext cx="0" cy="164592"/>
          </a:xfrm>
          <a:prstGeom prst="line">
            <a:avLst/>
          </a:prstGeom>
          <a:noFill/>
          <a:ln w="9525">
            <a:solidFill>
              <a:srgbClr val="B7AFA0"/>
            </a:solidFill>
            <a:prstDash val="solid"/>
          </a:ln>
        </p:spPr>
      </p:sp>
      <p:sp>
        <p:nvSpPr>
          <p:cNvPr id="12" name="Shape 9"/>
          <p:cNvSpPr/>
          <p:nvPr/>
        </p:nvSpPr>
        <p:spPr>
          <a:xfrm>
            <a:off x="1935099" y="3099816"/>
            <a:ext cx="0" cy="292608"/>
          </a:xfrm>
          <a:prstGeom prst="line">
            <a:avLst/>
          </a:prstGeom>
          <a:noFill/>
          <a:ln w="15875">
            <a:solidFill>
              <a:srgbClr val="B7AFA0"/>
            </a:solidFill>
            <a:prstDash val="solid"/>
          </a:ln>
        </p:spPr>
      </p:sp>
      <p:sp>
        <p:nvSpPr>
          <p:cNvPr id="13" name="Text 10"/>
          <p:cNvSpPr txBox="1"/>
          <p:nvPr/>
        </p:nvSpPr>
        <p:spPr>
          <a:xfrm>
            <a:off x="1569339"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3163824"/>
            <a:ext cx="0" cy="164592"/>
          </a:xfrm>
          <a:prstGeom prst="line">
            <a:avLst/>
          </a:prstGeom>
          <a:noFill/>
          <a:ln w="9525">
            <a:solidFill>
              <a:srgbClr val="B7AFA0"/>
            </a:solidFill>
            <a:prstDash val="solid"/>
          </a:ln>
        </p:spPr>
      </p:sp>
      <p:sp>
        <p:nvSpPr>
          <p:cNvPr id="15" name="Shape 12"/>
          <p:cNvSpPr/>
          <p:nvPr/>
        </p:nvSpPr>
        <p:spPr>
          <a:xfrm>
            <a:off x="3321558" y="3099816"/>
            <a:ext cx="0" cy="292608"/>
          </a:xfrm>
          <a:prstGeom prst="line">
            <a:avLst/>
          </a:prstGeom>
          <a:noFill/>
          <a:ln w="15875">
            <a:solidFill>
              <a:srgbClr val="B7AFA0"/>
            </a:solidFill>
            <a:prstDash val="solid"/>
          </a:ln>
        </p:spPr>
      </p:sp>
      <p:sp>
        <p:nvSpPr>
          <p:cNvPr id="16" name="Text 13"/>
          <p:cNvSpPr txBox="1"/>
          <p:nvPr/>
        </p:nvSpPr>
        <p:spPr>
          <a:xfrm>
            <a:off x="2955798"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3163824"/>
            <a:ext cx="0" cy="164592"/>
          </a:xfrm>
          <a:prstGeom prst="line">
            <a:avLst/>
          </a:prstGeom>
          <a:noFill/>
          <a:ln w="9525">
            <a:solidFill>
              <a:srgbClr val="B7AFA0"/>
            </a:solidFill>
            <a:prstDash val="solid"/>
          </a:ln>
        </p:spPr>
      </p:sp>
      <p:sp>
        <p:nvSpPr>
          <p:cNvPr id="18" name="Shape 15"/>
          <p:cNvSpPr/>
          <p:nvPr/>
        </p:nvSpPr>
        <p:spPr>
          <a:xfrm>
            <a:off x="4708017" y="3099816"/>
            <a:ext cx="0" cy="292608"/>
          </a:xfrm>
          <a:prstGeom prst="line">
            <a:avLst/>
          </a:prstGeom>
          <a:noFill/>
          <a:ln w="15875">
            <a:solidFill>
              <a:srgbClr val="B7AFA0"/>
            </a:solidFill>
            <a:prstDash val="solid"/>
          </a:ln>
        </p:spPr>
      </p:sp>
      <p:sp>
        <p:nvSpPr>
          <p:cNvPr id="19" name="Text 16"/>
          <p:cNvSpPr txBox="1"/>
          <p:nvPr/>
        </p:nvSpPr>
        <p:spPr>
          <a:xfrm>
            <a:off x="4342257"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3163824"/>
            <a:ext cx="0" cy="164592"/>
          </a:xfrm>
          <a:prstGeom prst="line">
            <a:avLst/>
          </a:prstGeom>
          <a:noFill/>
          <a:ln w="9525">
            <a:solidFill>
              <a:srgbClr val="B7AFA0"/>
            </a:solidFill>
            <a:prstDash val="solid"/>
          </a:ln>
        </p:spPr>
      </p:sp>
      <p:sp>
        <p:nvSpPr>
          <p:cNvPr id="21" name="Shape 18"/>
          <p:cNvSpPr/>
          <p:nvPr/>
        </p:nvSpPr>
        <p:spPr>
          <a:xfrm>
            <a:off x="6094476" y="3099816"/>
            <a:ext cx="0" cy="292608"/>
          </a:xfrm>
          <a:prstGeom prst="line">
            <a:avLst/>
          </a:prstGeom>
          <a:noFill/>
          <a:ln w="15875">
            <a:solidFill>
              <a:srgbClr val="B7AFA0"/>
            </a:solidFill>
            <a:prstDash val="solid"/>
          </a:ln>
        </p:spPr>
      </p:sp>
      <p:sp>
        <p:nvSpPr>
          <p:cNvPr id="22" name="Text 19"/>
          <p:cNvSpPr txBox="1"/>
          <p:nvPr/>
        </p:nvSpPr>
        <p:spPr>
          <a:xfrm>
            <a:off x="5728716"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3163824"/>
            <a:ext cx="0" cy="164592"/>
          </a:xfrm>
          <a:prstGeom prst="line">
            <a:avLst/>
          </a:prstGeom>
          <a:noFill/>
          <a:ln w="9525">
            <a:solidFill>
              <a:srgbClr val="B7AFA0"/>
            </a:solidFill>
            <a:prstDash val="solid"/>
          </a:ln>
        </p:spPr>
      </p:sp>
      <p:sp>
        <p:nvSpPr>
          <p:cNvPr id="24" name="Shape 21"/>
          <p:cNvSpPr/>
          <p:nvPr/>
        </p:nvSpPr>
        <p:spPr>
          <a:xfrm>
            <a:off x="7480935" y="3099816"/>
            <a:ext cx="0" cy="292608"/>
          </a:xfrm>
          <a:prstGeom prst="line">
            <a:avLst/>
          </a:prstGeom>
          <a:noFill/>
          <a:ln w="15875">
            <a:solidFill>
              <a:srgbClr val="B7AFA0"/>
            </a:solidFill>
            <a:prstDash val="solid"/>
          </a:ln>
        </p:spPr>
      </p:sp>
      <p:sp>
        <p:nvSpPr>
          <p:cNvPr id="25" name="Text 22"/>
          <p:cNvSpPr txBox="1"/>
          <p:nvPr/>
        </p:nvSpPr>
        <p:spPr>
          <a:xfrm>
            <a:off x="7115175"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3163824"/>
            <a:ext cx="0" cy="164592"/>
          </a:xfrm>
          <a:prstGeom prst="line">
            <a:avLst/>
          </a:prstGeom>
          <a:noFill/>
          <a:ln w="9525">
            <a:solidFill>
              <a:srgbClr val="B7AFA0"/>
            </a:solidFill>
            <a:prstDash val="solid"/>
          </a:ln>
        </p:spPr>
      </p:sp>
      <p:sp>
        <p:nvSpPr>
          <p:cNvPr id="27" name="Shape 24"/>
          <p:cNvSpPr/>
          <p:nvPr/>
        </p:nvSpPr>
        <p:spPr>
          <a:xfrm>
            <a:off x="8867394" y="3099816"/>
            <a:ext cx="0" cy="292608"/>
          </a:xfrm>
          <a:prstGeom prst="line">
            <a:avLst/>
          </a:prstGeom>
          <a:noFill/>
          <a:ln w="15875">
            <a:solidFill>
              <a:srgbClr val="B7AFA0"/>
            </a:solidFill>
            <a:prstDash val="solid"/>
          </a:ln>
        </p:spPr>
      </p:sp>
      <p:sp>
        <p:nvSpPr>
          <p:cNvPr id="28" name="Text 25"/>
          <p:cNvSpPr txBox="1"/>
          <p:nvPr/>
        </p:nvSpPr>
        <p:spPr>
          <a:xfrm>
            <a:off x="8501634"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3163824"/>
            <a:ext cx="0" cy="164592"/>
          </a:xfrm>
          <a:prstGeom prst="line">
            <a:avLst/>
          </a:prstGeom>
          <a:noFill/>
          <a:ln w="9525">
            <a:solidFill>
              <a:srgbClr val="B7AFA0"/>
            </a:solidFill>
            <a:prstDash val="solid"/>
          </a:ln>
        </p:spPr>
      </p:sp>
      <p:sp>
        <p:nvSpPr>
          <p:cNvPr id="30" name="Shape 27"/>
          <p:cNvSpPr/>
          <p:nvPr/>
        </p:nvSpPr>
        <p:spPr>
          <a:xfrm>
            <a:off x="10253853" y="3099816"/>
            <a:ext cx="0" cy="292608"/>
          </a:xfrm>
          <a:prstGeom prst="line">
            <a:avLst/>
          </a:prstGeom>
          <a:noFill/>
          <a:ln w="15875">
            <a:solidFill>
              <a:srgbClr val="B7AFA0"/>
            </a:solidFill>
            <a:prstDash val="solid"/>
          </a:ln>
        </p:spPr>
      </p:sp>
      <p:sp>
        <p:nvSpPr>
          <p:cNvPr id="31" name="Text 28"/>
          <p:cNvSpPr txBox="1"/>
          <p:nvPr/>
        </p:nvSpPr>
        <p:spPr>
          <a:xfrm>
            <a:off x="9888093"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3163824"/>
            <a:ext cx="0" cy="164592"/>
          </a:xfrm>
          <a:prstGeom prst="line">
            <a:avLst/>
          </a:prstGeom>
          <a:noFill/>
          <a:ln w="9525">
            <a:solidFill>
              <a:srgbClr val="B7AFA0"/>
            </a:solidFill>
            <a:prstDash val="solid"/>
          </a:ln>
        </p:spPr>
      </p:sp>
      <p:sp>
        <p:nvSpPr>
          <p:cNvPr id="33" name="Shape 30"/>
          <p:cNvSpPr/>
          <p:nvPr/>
        </p:nvSpPr>
        <p:spPr>
          <a:xfrm>
            <a:off x="11640312" y="3099816"/>
            <a:ext cx="0" cy="292608"/>
          </a:xfrm>
          <a:prstGeom prst="line">
            <a:avLst/>
          </a:prstGeom>
          <a:noFill/>
          <a:ln w="15875">
            <a:solidFill>
              <a:srgbClr val="B7AFA0"/>
            </a:solidFill>
            <a:prstDash val="solid"/>
          </a:ln>
        </p:spPr>
      </p:sp>
      <p:sp>
        <p:nvSpPr>
          <p:cNvPr id="34" name="Text 31"/>
          <p:cNvSpPr txBox="1"/>
          <p:nvPr/>
        </p:nvSpPr>
        <p:spPr>
          <a:xfrm>
            <a:off x="10908792" y="3474720"/>
            <a:ext cx="731520" cy="228600"/>
          </a:xfrm>
          <a:prstGeom prst="rect">
            <a:avLst/>
          </a:prstGeom>
          <a:noFill/>
          <a:ln/>
        </p:spPr>
        <p:txBody>
          <a:bodyPr wrap="square" lIns="0" tIns="0" rIns="0" bIns="0" rtlCol="0" anchor="t"/>
          <a:lstStyle/>
          <a:p>
            <a:pPr algn="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Text 32"/>
          <p:cNvSpPr txBox="1"/>
          <p:nvPr/>
        </p:nvSpPr>
        <p:spPr>
          <a:xfrm>
            <a:off x="548640" y="2697480"/>
            <a:ext cx="1463040" cy="274320"/>
          </a:xfrm>
          <a:prstGeom prst="rect">
            <a:avLst/>
          </a:prstGeom>
          <a:noFill/>
          <a:ln/>
        </p:spPr>
        <p:txBody>
          <a:bodyPr wrap="square" lIns="0" tIns="0" rIns="0" bIns="0" rtlCol="0" anchor="t"/>
          <a:lstStyle/>
          <a:p>
            <a:pPr algn="l"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MORNING</a:t>
            </a:r>
            <a:endParaRPr lang="en-US" sz="1000" dirty="0"/>
          </a:p>
        </p:txBody>
      </p:sp>
      <p:sp>
        <p:nvSpPr>
          <p:cNvPr id="36" name="Text 33"/>
          <p:cNvSpPr txBox="1"/>
          <p:nvPr/>
        </p:nvSpPr>
        <p:spPr>
          <a:xfrm>
            <a:off x="3976497"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AFTERNOON</a:t>
            </a:r>
            <a:endParaRPr lang="en-US" sz="1000" dirty="0"/>
          </a:p>
        </p:txBody>
      </p:sp>
      <p:sp>
        <p:nvSpPr>
          <p:cNvPr id="37" name="Text 34"/>
          <p:cNvSpPr txBox="1"/>
          <p:nvPr/>
        </p:nvSpPr>
        <p:spPr>
          <a:xfrm>
            <a:off x="8135874"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EVENING</a:t>
            </a:r>
            <a:endParaRPr lang="en-US" sz="1000" dirty="0"/>
          </a:p>
        </p:txBody>
      </p:sp>
      <p:sp>
        <p:nvSpPr>
          <p:cNvPr id="38" name="Text 35"/>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IF YOU NEED HELP</a:t>
            </a:r>
            <a:endParaRPr lang="en-US" sz="1100" dirty="0"/>
          </a:p>
        </p:txBody>
      </p:sp>
      <p:sp>
        <p:nvSpPr>
          <p:cNvPr id="39" name="Text 36"/>
          <p:cNvSpPr txBox="1"/>
          <p:nvPr/>
        </p:nvSpPr>
        <p:spPr>
          <a:xfrm>
            <a:off x="54864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get up?</a:t>
            </a:r>
            <a:endParaRPr lang="en-US" sz="1700" dirty="0"/>
          </a:p>
        </p:txBody>
      </p:sp>
      <p:sp>
        <p:nvSpPr>
          <p:cNvPr id="40" name="Text 37"/>
          <p:cNvSpPr txBox="1"/>
          <p:nvPr/>
        </p:nvSpPr>
        <p:spPr>
          <a:xfrm>
            <a:off x="429768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in the morning?</a:t>
            </a:r>
            <a:endParaRPr lang="en-US" sz="1700" dirty="0"/>
          </a:p>
        </p:txBody>
      </p:sp>
      <p:sp>
        <p:nvSpPr>
          <p:cNvPr id="41" name="Text 38"/>
          <p:cNvSpPr txBox="1"/>
          <p:nvPr/>
        </p:nvSpPr>
        <p:spPr>
          <a:xfrm>
            <a:off x="804672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Where do you work?</a:t>
            </a:r>
            <a:endParaRPr lang="en-US" sz="1700" dirty="0"/>
          </a:p>
        </p:txBody>
      </p:sp>
      <p:sp>
        <p:nvSpPr>
          <p:cNvPr id="42" name="Text 39"/>
          <p:cNvSpPr txBox="1"/>
          <p:nvPr/>
        </p:nvSpPr>
        <p:spPr>
          <a:xfrm>
            <a:off x="54864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at work?</a:t>
            </a:r>
            <a:endParaRPr lang="en-US" sz="1700" dirty="0"/>
          </a:p>
        </p:txBody>
      </p:sp>
      <p:sp>
        <p:nvSpPr>
          <p:cNvPr id="43" name="Text 40"/>
          <p:cNvSpPr txBox="1"/>
          <p:nvPr/>
        </p:nvSpPr>
        <p:spPr>
          <a:xfrm>
            <a:off x="429768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finish?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 Doctor’s Day</a:t>
            </a:r>
            <a:endParaRPr lang="en-US" sz="4000" dirty="0"/>
          </a:p>
        </p:txBody>
      </p:sp>
      <p:sp>
        <p:nvSpPr>
          <p:cNvPr id="7" name="Shape 4"/>
          <p:cNvSpPr/>
          <p:nvPr/>
        </p:nvSpPr>
        <p:spPr>
          <a:xfrm>
            <a:off x="7891272" y="731520"/>
            <a:ext cx="868680" cy="868680"/>
          </a:xfrm>
          <a:prstGeom prst="roundRect">
            <a:avLst>
              <a:gd name="adj" fmla="val 14737"/>
            </a:avLst>
          </a:prstGeom>
          <a:solidFill>
            <a:srgbClr val="0B1440"/>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FAF7F2"/>
                </a:solidFill>
                <a:latin typeface="Poppins ExtraBold" pitchFamily="34" charset="0"/>
                <a:ea typeface="Poppins ExtraBold" pitchFamily="34" charset="-122"/>
                <a:cs typeface="Poppins ExtraBold" pitchFamily="34" charset="-120"/>
              </a:rPr>
              <a:t>L</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Lucas</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554480"/>
            <a:ext cx="64008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What does he do at 7:00?</a:t>
            </a:r>
            <a:endParaRPr lang="en-US" sz="2200" dirty="0"/>
          </a:p>
        </p:txBody>
      </p:sp>
      <p:sp>
        <p:nvSpPr>
          <p:cNvPr id="12" name="Shape 9"/>
          <p:cNvSpPr/>
          <p:nvPr/>
        </p:nvSpPr>
        <p:spPr>
          <a:xfrm>
            <a:off x="548640" y="3063240"/>
            <a:ext cx="11091672" cy="0"/>
          </a:xfrm>
          <a:prstGeom prst="line">
            <a:avLst/>
          </a:prstGeom>
          <a:noFill/>
          <a:ln w="15875">
            <a:solidFill>
              <a:srgbClr val="DDD6C7"/>
            </a:solidFill>
            <a:prstDash val="solid"/>
          </a:ln>
        </p:spPr>
      </p:sp>
      <p:sp>
        <p:nvSpPr>
          <p:cNvPr id="13" name="Shape 10"/>
          <p:cNvSpPr/>
          <p:nvPr/>
        </p:nvSpPr>
        <p:spPr>
          <a:xfrm>
            <a:off x="1115568" y="2953512"/>
            <a:ext cx="0" cy="219456"/>
          </a:xfrm>
          <a:prstGeom prst="line">
            <a:avLst/>
          </a:prstGeom>
          <a:noFill/>
          <a:ln w="15875">
            <a:solidFill>
              <a:srgbClr val="0B1440"/>
            </a:solidFill>
            <a:prstDash val="solid"/>
          </a:ln>
        </p:spPr>
      </p:sp>
      <p:sp>
        <p:nvSpPr>
          <p:cNvPr id="14" name="Text 11"/>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5"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Shape 14"/>
          <p:cNvSpPr/>
          <p:nvPr/>
        </p:nvSpPr>
        <p:spPr>
          <a:xfrm>
            <a:off x="3960658" y="2953512"/>
            <a:ext cx="0" cy="219456"/>
          </a:xfrm>
          <a:prstGeom prst="line">
            <a:avLst/>
          </a:prstGeom>
          <a:noFill/>
          <a:ln w="15875">
            <a:solidFill>
              <a:srgbClr val="0B1440"/>
            </a:solidFill>
            <a:prstDash val="solid"/>
          </a:ln>
        </p:spPr>
      </p:sp>
      <p:sp>
        <p:nvSpPr>
          <p:cNvPr id="20" name="Text 15"/>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1"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2" name="Shape 16"/>
          <p:cNvSpPr/>
          <p:nvPr/>
        </p:nvSpPr>
        <p:spPr>
          <a:xfrm>
            <a:off x="5383203" y="2953512"/>
            <a:ext cx="0" cy="219456"/>
          </a:xfrm>
          <a:prstGeom prst="line">
            <a:avLst/>
          </a:prstGeom>
          <a:noFill/>
          <a:ln w="15875">
            <a:solidFill>
              <a:srgbClr val="0B1440"/>
            </a:solidFill>
            <a:prstDash val="solid"/>
          </a:ln>
        </p:spPr>
      </p:sp>
      <p:sp>
        <p:nvSpPr>
          <p:cNvPr id="23" name="Text 17"/>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4"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5" name="Shape 18"/>
          <p:cNvSpPr/>
          <p:nvPr/>
        </p:nvSpPr>
        <p:spPr>
          <a:xfrm>
            <a:off x="6805749" y="2953512"/>
            <a:ext cx="0" cy="219456"/>
          </a:xfrm>
          <a:prstGeom prst="line">
            <a:avLst/>
          </a:prstGeom>
          <a:noFill/>
          <a:ln w="15875">
            <a:solidFill>
              <a:srgbClr val="0B1440"/>
            </a:solidFill>
            <a:prstDash val="solid"/>
          </a:ln>
        </p:spPr>
      </p:sp>
      <p:sp>
        <p:nvSpPr>
          <p:cNvPr id="26" name="Text 19"/>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27"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28" name="Shape 20"/>
          <p:cNvSpPr/>
          <p:nvPr/>
        </p:nvSpPr>
        <p:spPr>
          <a:xfrm>
            <a:off x="8228294" y="2953512"/>
            <a:ext cx="0" cy="219456"/>
          </a:xfrm>
          <a:prstGeom prst="line">
            <a:avLst/>
          </a:prstGeom>
          <a:noFill/>
          <a:ln w="15875">
            <a:solidFill>
              <a:srgbClr val="0B1440"/>
            </a:solidFill>
            <a:prstDash val="solid"/>
          </a:ln>
        </p:spPr>
      </p:sp>
      <p:sp>
        <p:nvSpPr>
          <p:cNvPr id="29" name="Text 21"/>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0"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1" name="Shape 22"/>
          <p:cNvSpPr/>
          <p:nvPr/>
        </p:nvSpPr>
        <p:spPr>
          <a:xfrm>
            <a:off x="9650839" y="2953512"/>
            <a:ext cx="0" cy="219456"/>
          </a:xfrm>
          <a:prstGeom prst="line">
            <a:avLst/>
          </a:prstGeom>
          <a:noFill/>
          <a:ln w="15875">
            <a:solidFill>
              <a:srgbClr val="0B1440"/>
            </a:solidFill>
            <a:prstDash val="solid"/>
          </a:ln>
        </p:spPr>
      </p:sp>
      <p:sp>
        <p:nvSpPr>
          <p:cNvPr id="32" name="Text 23"/>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3"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4" name="Shape 24"/>
          <p:cNvSpPr/>
          <p:nvPr/>
        </p:nvSpPr>
        <p:spPr>
          <a:xfrm>
            <a:off x="11073384" y="2953512"/>
            <a:ext cx="0" cy="219456"/>
          </a:xfrm>
          <a:prstGeom prst="line">
            <a:avLst/>
          </a:prstGeom>
          <a:noFill/>
          <a:ln w="15875">
            <a:solidFill>
              <a:srgbClr val="0B1440"/>
            </a:solidFill>
            <a:prstDash val="solid"/>
          </a:ln>
        </p:spPr>
      </p:sp>
      <p:sp>
        <p:nvSpPr>
          <p:cNvPr id="35" name="Text 25"/>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36"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37" name="Text 26"/>
          <p:cNvSpPr txBox="1"/>
          <p:nvPr/>
        </p:nvSpPr>
        <p:spPr>
          <a:xfrm>
            <a:off x="548640" y="5394960"/>
            <a:ext cx="7315200" cy="36576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Look. Guess. Say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05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does he do?</a:t>
            </a:r>
            <a:endParaRPr lang="en-US" sz="4000" dirty="0"/>
          </a:p>
        </p:txBody>
      </p:sp>
      <p:sp>
        <p:nvSpPr>
          <p:cNvPr id="7" name="Shape 4"/>
          <p:cNvSpPr/>
          <p:nvPr/>
        </p:nvSpPr>
        <p:spPr>
          <a:xfrm>
            <a:off x="7891272" y="731520"/>
            <a:ext cx="868680" cy="868680"/>
          </a:xfrm>
          <a:prstGeom prst="roundRect">
            <a:avLst>
              <a:gd name="adj" fmla="val 14737"/>
            </a:avLst>
          </a:prstGeom>
          <a:solidFill>
            <a:srgbClr val="0B1440"/>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FAF7F2"/>
                </a:solidFill>
                <a:latin typeface="Poppins ExtraBold" pitchFamily="34" charset="0"/>
                <a:ea typeface="Poppins ExtraBold" pitchFamily="34" charset="-122"/>
                <a:cs typeface="Poppins ExtraBold" pitchFamily="34" charset="-120"/>
              </a:rPr>
              <a:t>L</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Lucas</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Shape 8"/>
          <p:cNvSpPr/>
          <p:nvPr/>
        </p:nvSpPr>
        <p:spPr>
          <a:xfrm>
            <a:off x="548640" y="3063240"/>
            <a:ext cx="11091672" cy="0"/>
          </a:xfrm>
          <a:prstGeom prst="line">
            <a:avLst/>
          </a:prstGeom>
          <a:noFill/>
          <a:ln w="15875">
            <a:solidFill>
              <a:srgbClr val="DDD6C7"/>
            </a:solidFill>
            <a:prstDash val="solid"/>
          </a:ln>
        </p:spPr>
      </p:sp>
      <p:sp>
        <p:nvSpPr>
          <p:cNvPr id="12" name="Shape 9"/>
          <p:cNvSpPr/>
          <p:nvPr/>
        </p:nvSpPr>
        <p:spPr>
          <a:xfrm>
            <a:off x="1115568" y="2953512"/>
            <a:ext cx="0" cy="219456"/>
          </a:xfrm>
          <a:prstGeom prst="line">
            <a:avLst/>
          </a:prstGeom>
          <a:noFill/>
          <a:ln w="15875">
            <a:solidFill>
              <a:srgbClr val="0B1440"/>
            </a:solidFill>
            <a:prstDash val="solid"/>
          </a:ln>
        </p:spPr>
      </p:sp>
      <p:sp>
        <p:nvSpPr>
          <p:cNvPr id="13" name="Text 10"/>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4"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5" name="Text 11"/>
          <p:cNvSpPr txBox="1"/>
          <p:nvPr/>
        </p:nvSpPr>
        <p:spPr>
          <a:xfrm>
            <a:off x="51206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Get up</a:t>
            </a:r>
            <a:endParaRPr lang="en-US" sz="1500" dirty="0"/>
          </a:p>
        </p:txBody>
      </p:sp>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Text 14"/>
          <p:cNvSpPr txBox="1"/>
          <p:nvPr/>
        </p:nvSpPr>
        <p:spPr>
          <a:xfrm>
            <a:off x="193460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Arrive at the clinic</a:t>
            </a:r>
            <a:endParaRPr lang="en-US" sz="1500" dirty="0"/>
          </a:p>
        </p:txBody>
      </p:sp>
      <p:sp>
        <p:nvSpPr>
          <p:cNvPr id="20" name="Shape 15"/>
          <p:cNvSpPr/>
          <p:nvPr/>
        </p:nvSpPr>
        <p:spPr>
          <a:xfrm>
            <a:off x="3960658" y="2953512"/>
            <a:ext cx="0" cy="219456"/>
          </a:xfrm>
          <a:prstGeom prst="line">
            <a:avLst/>
          </a:prstGeom>
          <a:noFill/>
          <a:ln w="15875">
            <a:solidFill>
              <a:srgbClr val="0B1440"/>
            </a:solidFill>
            <a:prstDash val="solid"/>
          </a:ln>
        </p:spPr>
      </p:sp>
      <p:sp>
        <p:nvSpPr>
          <p:cNvPr id="21" name="Text 16"/>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2"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3" name="Text 17"/>
          <p:cNvSpPr txBox="1"/>
          <p:nvPr/>
        </p:nvSpPr>
        <p:spPr>
          <a:xfrm>
            <a:off x="335715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 patients</a:t>
            </a:r>
            <a:endParaRPr lang="en-US" sz="1500" dirty="0"/>
          </a:p>
        </p:txBody>
      </p:sp>
      <p:sp>
        <p:nvSpPr>
          <p:cNvPr id="24" name="Shape 18"/>
          <p:cNvSpPr/>
          <p:nvPr/>
        </p:nvSpPr>
        <p:spPr>
          <a:xfrm>
            <a:off x="5383203" y="2953512"/>
            <a:ext cx="0" cy="219456"/>
          </a:xfrm>
          <a:prstGeom prst="line">
            <a:avLst/>
          </a:prstGeom>
          <a:noFill/>
          <a:ln w="15875">
            <a:solidFill>
              <a:srgbClr val="0B1440"/>
            </a:solidFill>
            <a:prstDash val="solid"/>
          </a:ln>
        </p:spPr>
      </p:sp>
      <p:sp>
        <p:nvSpPr>
          <p:cNvPr id="25" name="Text 19"/>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6"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7" name="Text 20"/>
          <p:cNvSpPr txBox="1"/>
          <p:nvPr/>
        </p:nvSpPr>
        <p:spPr>
          <a:xfrm>
            <a:off x="477969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Examine a patient</a:t>
            </a:r>
            <a:endParaRPr lang="en-US" sz="1500" dirty="0"/>
          </a:p>
        </p:txBody>
      </p:sp>
      <p:sp>
        <p:nvSpPr>
          <p:cNvPr id="28" name="Shape 21"/>
          <p:cNvSpPr/>
          <p:nvPr/>
        </p:nvSpPr>
        <p:spPr>
          <a:xfrm>
            <a:off x="6805749" y="2953512"/>
            <a:ext cx="0" cy="219456"/>
          </a:xfrm>
          <a:prstGeom prst="line">
            <a:avLst/>
          </a:prstGeom>
          <a:noFill/>
          <a:ln w="15875">
            <a:solidFill>
              <a:srgbClr val="0B1440"/>
            </a:solidFill>
            <a:prstDash val="solid"/>
          </a:ln>
        </p:spPr>
      </p:sp>
      <p:sp>
        <p:nvSpPr>
          <p:cNvPr id="29" name="Text 22"/>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30"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31" name="Text 23"/>
          <p:cNvSpPr txBox="1"/>
          <p:nvPr/>
        </p:nvSpPr>
        <p:spPr>
          <a:xfrm>
            <a:off x="620224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Have lunch</a:t>
            </a:r>
            <a:endParaRPr lang="en-US" sz="1500" dirty="0"/>
          </a:p>
        </p:txBody>
      </p:sp>
      <p:sp>
        <p:nvSpPr>
          <p:cNvPr id="32" name="Shape 24"/>
          <p:cNvSpPr/>
          <p:nvPr/>
        </p:nvSpPr>
        <p:spPr>
          <a:xfrm>
            <a:off x="8228294" y="2953512"/>
            <a:ext cx="0" cy="219456"/>
          </a:xfrm>
          <a:prstGeom prst="line">
            <a:avLst/>
          </a:prstGeom>
          <a:noFill/>
          <a:ln w="15875">
            <a:solidFill>
              <a:srgbClr val="0B1440"/>
            </a:solidFill>
            <a:prstDash val="solid"/>
          </a:ln>
        </p:spPr>
      </p:sp>
      <p:sp>
        <p:nvSpPr>
          <p:cNvPr id="33" name="Text 25"/>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4"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5" name="Text 26"/>
          <p:cNvSpPr txBox="1"/>
          <p:nvPr/>
        </p:nvSpPr>
        <p:spPr>
          <a:xfrm>
            <a:off x="762479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 patients</a:t>
            </a:r>
            <a:endParaRPr lang="en-US" sz="1500" dirty="0"/>
          </a:p>
        </p:txBody>
      </p:sp>
      <p:sp>
        <p:nvSpPr>
          <p:cNvPr id="36" name="Shape 27"/>
          <p:cNvSpPr/>
          <p:nvPr/>
        </p:nvSpPr>
        <p:spPr>
          <a:xfrm>
            <a:off x="9650839" y="2953512"/>
            <a:ext cx="0" cy="219456"/>
          </a:xfrm>
          <a:prstGeom prst="line">
            <a:avLst/>
          </a:prstGeom>
          <a:noFill/>
          <a:ln w="15875">
            <a:solidFill>
              <a:srgbClr val="0B1440"/>
            </a:solidFill>
            <a:prstDash val="solid"/>
          </a:ln>
        </p:spPr>
      </p:sp>
      <p:sp>
        <p:nvSpPr>
          <p:cNvPr id="37" name="Text 28"/>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8"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9" name="Text 29"/>
          <p:cNvSpPr txBox="1"/>
          <p:nvPr/>
        </p:nvSpPr>
        <p:spPr>
          <a:xfrm>
            <a:off x="904733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Check medical records</a:t>
            </a:r>
            <a:endParaRPr lang="en-US" sz="1500" dirty="0"/>
          </a:p>
        </p:txBody>
      </p:sp>
      <p:sp>
        <p:nvSpPr>
          <p:cNvPr id="40" name="Shape 30"/>
          <p:cNvSpPr/>
          <p:nvPr/>
        </p:nvSpPr>
        <p:spPr>
          <a:xfrm>
            <a:off x="11073384" y="2953512"/>
            <a:ext cx="0" cy="219456"/>
          </a:xfrm>
          <a:prstGeom prst="line">
            <a:avLst/>
          </a:prstGeom>
          <a:noFill/>
          <a:ln w="15875">
            <a:solidFill>
              <a:srgbClr val="0B1440"/>
            </a:solidFill>
            <a:prstDash val="solid"/>
          </a:ln>
        </p:spPr>
      </p:sp>
      <p:sp>
        <p:nvSpPr>
          <p:cNvPr id="41" name="Text 31"/>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42"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43" name="Text 32"/>
          <p:cNvSpPr txBox="1"/>
          <p:nvPr/>
        </p:nvSpPr>
        <p:spPr>
          <a:xfrm>
            <a:off x="1046988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Finish work</a:t>
            </a:r>
            <a:endParaRPr lang="en-US" sz="1500" dirty="0"/>
          </a:p>
        </p:txBody>
      </p:sp>
      <p:sp>
        <p:nvSpPr>
          <p:cNvPr id="44" name="Shape 33"/>
          <p:cNvSpPr/>
          <p:nvPr/>
        </p:nvSpPr>
        <p:spPr>
          <a:xfrm>
            <a:off x="548640" y="5257800"/>
            <a:ext cx="3520440" cy="777240"/>
          </a:xfrm>
          <a:prstGeom prst="roundRect">
            <a:avLst>
              <a:gd name="adj" fmla="val 16471"/>
            </a:avLst>
          </a:prstGeom>
          <a:solidFill>
            <a:srgbClr val="F3EFE6"/>
          </a:solidFill>
          <a:ln/>
        </p:spPr>
      </p:sp>
      <p:sp>
        <p:nvSpPr>
          <p:cNvPr id="45" name="Text 34"/>
          <p:cNvSpPr txBox="1"/>
          <p:nvPr/>
        </p:nvSpPr>
        <p:spPr>
          <a:xfrm>
            <a:off x="822960" y="5257800"/>
            <a:ext cx="3108960" cy="777240"/>
          </a:xfrm>
          <a:prstGeom prst="rect">
            <a:avLst/>
          </a:prstGeom>
          <a:noFill/>
          <a:ln/>
        </p:spPr>
        <p:txBody>
          <a:bodyPr wrap="square" lIns="0" tIns="0" rIns="0" bIns="0" rtlCol="0" anchor="ctr"/>
          <a:lstStyle/>
          <a:p>
            <a:pPr indent="0" marL="0">
              <a:buNone/>
            </a:pPr>
            <a:r>
              <a:rPr lang="en-US" sz="1700" dirty="0">
                <a:solidFill>
                  <a:srgbClr val="0B1440"/>
                </a:solidFill>
                <a:latin typeface="Poppins SemiBold" pitchFamily="34" charset="0"/>
                <a:ea typeface="Poppins SemiBold" pitchFamily="34" charset="-122"/>
                <a:cs typeface="Poppins SemiBold" pitchFamily="34" charset="-120"/>
              </a:rPr>
              <a:t>What does he do at 8:30?</a:t>
            </a:r>
            <a:endParaRPr lang="en-US" sz="1700" dirty="0"/>
          </a:p>
        </p:txBody>
      </p:sp>
      <p:sp>
        <p:nvSpPr>
          <p:cNvPr id="46" name="Shape 35"/>
          <p:cNvSpPr/>
          <p:nvPr/>
        </p:nvSpPr>
        <p:spPr>
          <a:xfrm>
            <a:off x="4297680" y="5257800"/>
            <a:ext cx="3520440" cy="777240"/>
          </a:xfrm>
          <a:prstGeom prst="roundRect">
            <a:avLst>
              <a:gd name="adj" fmla="val 16471"/>
            </a:avLst>
          </a:prstGeom>
          <a:solidFill>
            <a:srgbClr val="F3EFE6"/>
          </a:solidFill>
          <a:ln/>
        </p:spPr>
      </p:sp>
      <p:sp>
        <p:nvSpPr>
          <p:cNvPr id="47" name="Text 36"/>
          <p:cNvSpPr txBox="1"/>
          <p:nvPr/>
        </p:nvSpPr>
        <p:spPr>
          <a:xfrm>
            <a:off x="4572000" y="5257800"/>
            <a:ext cx="3108960" cy="777240"/>
          </a:xfrm>
          <a:prstGeom prst="rect">
            <a:avLst/>
          </a:prstGeom>
          <a:noFill/>
          <a:ln/>
        </p:spPr>
        <p:txBody>
          <a:bodyPr wrap="square" lIns="0" tIns="0" rIns="0" bIns="0" rtlCol="0" anchor="ctr"/>
          <a:lstStyle/>
          <a:p>
            <a:pPr indent="0" marL="0">
              <a:buNone/>
            </a:pPr>
            <a:r>
              <a:rPr lang="en-US" sz="1700" dirty="0">
                <a:solidFill>
                  <a:srgbClr val="0B1440"/>
                </a:solidFill>
                <a:latin typeface="Poppins SemiBold" pitchFamily="34" charset="0"/>
                <a:ea typeface="Poppins SemiBold" pitchFamily="34" charset="-122"/>
                <a:cs typeface="Poppins SemiBold" pitchFamily="34" charset="-120"/>
              </a:rPr>
              <a:t>Does he work at a hospital?</a:t>
            </a:r>
            <a:endParaRPr lang="en-US" sz="1700" dirty="0"/>
          </a:p>
        </p:txBody>
      </p:sp>
      <p:sp>
        <p:nvSpPr>
          <p:cNvPr id="48" name="Shape 37"/>
          <p:cNvSpPr/>
          <p:nvPr/>
        </p:nvSpPr>
        <p:spPr>
          <a:xfrm>
            <a:off x="8046720" y="5257800"/>
            <a:ext cx="3520440" cy="777240"/>
          </a:xfrm>
          <a:prstGeom prst="roundRect">
            <a:avLst>
              <a:gd name="adj" fmla="val 16471"/>
            </a:avLst>
          </a:prstGeom>
          <a:solidFill>
            <a:srgbClr val="F3EFE6"/>
          </a:solidFill>
          <a:ln/>
        </p:spPr>
      </p:sp>
      <p:sp>
        <p:nvSpPr>
          <p:cNvPr id="49" name="Text 38"/>
          <p:cNvSpPr txBox="1"/>
          <p:nvPr/>
        </p:nvSpPr>
        <p:spPr>
          <a:xfrm>
            <a:off x="8321040" y="5257800"/>
            <a:ext cx="3108960" cy="777240"/>
          </a:xfrm>
          <a:prstGeom prst="rect">
            <a:avLst/>
          </a:prstGeom>
          <a:noFill/>
          <a:ln/>
        </p:spPr>
        <p:txBody>
          <a:bodyPr wrap="square" lIns="0" tIns="0" rIns="0" bIns="0" rtlCol="0" anchor="ctr"/>
          <a:lstStyle/>
          <a:p>
            <a:pPr indent="0" marL="0">
              <a:buNone/>
            </a:pPr>
            <a:r>
              <a:rPr lang="en-US" sz="1700" dirty="0">
                <a:solidFill>
                  <a:srgbClr val="0B1440"/>
                </a:solidFill>
                <a:latin typeface="Poppins SemiBold" pitchFamily="34" charset="0"/>
                <a:ea typeface="Poppins SemiBold" pitchFamily="34" charset="-122"/>
                <a:cs typeface="Poppins SemiBold" pitchFamily="34" charset="-120"/>
              </a:rPr>
              <a:t>What time does he finish?</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YOU</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 you do?</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Which of these things do you do? When?</a:t>
            </a:r>
            <a:endParaRPr lang="en-US" sz="2200" dirty="0"/>
          </a:p>
        </p:txBody>
      </p:sp>
      <p:sp>
        <p:nvSpPr>
          <p:cNvPr id="8" name="Text 5"/>
          <p:cNvSpPr txBox="1"/>
          <p:nvPr/>
        </p:nvSpPr>
        <p:spPr>
          <a:xfrm>
            <a:off x="548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EVERY DAY</a:t>
            </a:r>
            <a:endParaRPr lang="en-US" sz="1100" dirty="0"/>
          </a:p>
        </p:txBody>
      </p:sp>
      <p:sp>
        <p:nvSpPr>
          <p:cNvPr id="9" name="Text 6"/>
          <p:cNvSpPr txBox="1"/>
          <p:nvPr/>
        </p:nvSpPr>
        <p:spPr>
          <a:xfrm>
            <a:off x="6263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AT WORK</a:t>
            </a:r>
            <a:endParaRPr lang="en-US" sz="1100" dirty="0"/>
          </a:p>
        </p:txBody>
      </p:sp>
      <p:sp>
        <p:nvSpPr>
          <p:cNvPr id="10" name="Shape 7"/>
          <p:cNvSpPr/>
          <p:nvPr/>
        </p:nvSpPr>
        <p:spPr>
          <a:xfrm>
            <a:off x="548640" y="2606040"/>
            <a:ext cx="921715" cy="438912"/>
          </a:xfrm>
          <a:prstGeom prst="roundRect">
            <a:avLst>
              <a:gd name="adj" fmla="val 50000"/>
            </a:avLst>
          </a:prstGeom>
          <a:solidFill>
            <a:srgbClr val="F3EFE6"/>
          </a:solidFill>
          <a:ln/>
        </p:spPr>
      </p:sp>
      <p:sp>
        <p:nvSpPr>
          <p:cNvPr id="11" name="Text 8"/>
          <p:cNvSpPr txBox="1"/>
          <p:nvPr/>
        </p:nvSpPr>
        <p:spPr>
          <a:xfrm>
            <a:off x="548640" y="2606040"/>
            <a:ext cx="921715"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get up</a:t>
            </a:r>
            <a:endParaRPr lang="en-US" sz="1500" dirty="0"/>
          </a:p>
        </p:txBody>
      </p:sp>
      <p:sp>
        <p:nvSpPr>
          <p:cNvPr id="12" name="Shape 9"/>
          <p:cNvSpPr/>
          <p:nvPr/>
        </p:nvSpPr>
        <p:spPr>
          <a:xfrm>
            <a:off x="1598371" y="2606040"/>
            <a:ext cx="1784909" cy="438912"/>
          </a:xfrm>
          <a:prstGeom prst="roundRect">
            <a:avLst>
              <a:gd name="adj" fmla="val 50000"/>
            </a:avLst>
          </a:prstGeom>
          <a:solidFill>
            <a:srgbClr val="F3EFE6"/>
          </a:solidFill>
          <a:ln/>
        </p:spPr>
      </p:sp>
      <p:sp>
        <p:nvSpPr>
          <p:cNvPr id="13" name="Text 10"/>
          <p:cNvSpPr txBox="1"/>
          <p:nvPr/>
        </p:nvSpPr>
        <p:spPr>
          <a:xfrm>
            <a:off x="1598371" y="2606040"/>
            <a:ext cx="1784909"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breakfast</a:t>
            </a:r>
            <a:endParaRPr lang="en-US" sz="1500" dirty="0"/>
          </a:p>
        </p:txBody>
      </p:sp>
      <p:sp>
        <p:nvSpPr>
          <p:cNvPr id="14" name="Shape 11"/>
          <p:cNvSpPr/>
          <p:nvPr/>
        </p:nvSpPr>
        <p:spPr>
          <a:xfrm>
            <a:off x="3511296" y="2606040"/>
            <a:ext cx="1353312" cy="438912"/>
          </a:xfrm>
          <a:prstGeom prst="roundRect">
            <a:avLst>
              <a:gd name="adj" fmla="val 50000"/>
            </a:avLst>
          </a:prstGeom>
          <a:solidFill>
            <a:srgbClr val="F3EFE6"/>
          </a:solidFill>
          <a:ln/>
        </p:spPr>
      </p:sp>
      <p:sp>
        <p:nvSpPr>
          <p:cNvPr id="15" name="Text 12"/>
          <p:cNvSpPr txBox="1"/>
          <p:nvPr/>
        </p:nvSpPr>
        <p:spPr>
          <a:xfrm>
            <a:off x="3511296" y="2606040"/>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work</a:t>
            </a:r>
            <a:endParaRPr lang="en-US" sz="1500" dirty="0"/>
          </a:p>
        </p:txBody>
      </p:sp>
      <p:sp>
        <p:nvSpPr>
          <p:cNvPr id="16" name="Shape 13"/>
          <p:cNvSpPr/>
          <p:nvPr/>
        </p:nvSpPr>
        <p:spPr>
          <a:xfrm>
            <a:off x="548640" y="3172968"/>
            <a:ext cx="1353312" cy="438912"/>
          </a:xfrm>
          <a:prstGeom prst="roundRect">
            <a:avLst>
              <a:gd name="adj" fmla="val 50000"/>
            </a:avLst>
          </a:prstGeom>
          <a:solidFill>
            <a:srgbClr val="F3EFE6"/>
          </a:solidFill>
          <a:ln/>
        </p:spPr>
      </p:sp>
      <p:sp>
        <p:nvSpPr>
          <p:cNvPr id="17" name="Text 14"/>
          <p:cNvSpPr txBox="1"/>
          <p:nvPr/>
        </p:nvSpPr>
        <p:spPr>
          <a:xfrm>
            <a:off x="548640"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start work</a:t>
            </a:r>
            <a:endParaRPr lang="en-US" sz="1500" dirty="0"/>
          </a:p>
        </p:txBody>
      </p:sp>
      <p:sp>
        <p:nvSpPr>
          <p:cNvPr id="18" name="Shape 15"/>
          <p:cNvSpPr/>
          <p:nvPr/>
        </p:nvSpPr>
        <p:spPr>
          <a:xfrm>
            <a:off x="2029968" y="3172968"/>
            <a:ext cx="1353312" cy="438912"/>
          </a:xfrm>
          <a:prstGeom prst="roundRect">
            <a:avLst>
              <a:gd name="adj" fmla="val 50000"/>
            </a:avLst>
          </a:prstGeom>
          <a:solidFill>
            <a:srgbClr val="F3EFE6"/>
          </a:solidFill>
          <a:ln/>
        </p:spPr>
      </p:sp>
      <p:sp>
        <p:nvSpPr>
          <p:cNvPr id="19" name="Text 16"/>
          <p:cNvSpPr txBox="1"/>
          <p:nvPr/>
        </p:nvSpPr>
        <p:spPr>
          <a:xfrm>
            <a:off x="2029968"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lunch</a:t>
            </a:r>
            <a:endParaRPr lang="en-US" sz="1500" dirty="0"/>
          </a:p>
        </p:txBody>
      </p:sp>
      <p:sp>
        <p:nvSpPr>
          <p:cNvPr id="20" name="Shape 17"/>
          <p:cNvSpPr/>
          <p:nvPr/>
        </p:nvSpPr>
        <p:spPr>
          <a:xfrm>
            <a:off x="3511296" y="3172968"/>
            <a:ext cx="1569110" cy="438912"/>
          </a:xfrm>
          <a:prstGeom prst="roundRect">
            <a:avLst>
              <a:gd name="adj" fmla="val 50000"/>
            </a:avLst>
          </a:prstGeom>
          <a:solidFill>
            <a:srgbClr val="F3EFE6"/>
          </a:solidFill>
          <a:ln/>
        </p:spPr>
      </p:sp>
      <p:sp>
        <p:nvSpPr>
          <p:cNvPr id="21" name="Text 18"/>
          <p:cNvSpPr txBox="1"/>
          <p:nvPr/>
        </p:nvSpPr>
        <p:spPr>
          <a:xfrm>
            <a:off x="3511296"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take a break</a:t>
            </a:r>
            <a:endParaRPr lang="en-US" sz="1500" dirty="0"/>
          </a:p>
        </p:txBody>
      </p:sp>
      <p:sp>
        <p:nvSpPr>
          <p:cNvPr id="22" name="Shape 19"/>
          <p:cNvSpPr/>
          <p:nvPr/>
        </p:nvSpPr>
        <p:spPr>
          <a:xfrm>
            <a:off x="548640" y="3739896"/>
            <a:ext cx="1461211" cy="438912"/>
          </a:xfrm>
          <a:prstGeom prst="roundRect">
            <a:avLst>
              <a:gd name="adj" fmla="val 50000"/>
            </a:avLst>
          </a:prstGeom>
          <a:solidFill>
            <a:srgbClr val="F3EFE6"/>
          </a:solidFill>
          <a:ln/>
        </p:spPr>
      </p:sp>
      <p:sp>
        <p:nvSpPr>
          <p:cNvPr id="23" name="Text 20"/>
          <p:cNvSpPr txBox="1"/>
          <p:nvPr/>
        </p:nvSpPr>
        <p:spPr>
          <a:xfrm>
            <a:off x="548640" y="3739896"/>
            <a:ext cx="1461211"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finish work</a:t>
            </a:r>
            <a:endParaRPr lang="en-US" sz="1500" dirty="0"/>
          </a:p>
        </p:txBody>
      </p:sp>
      <p:sp>
        <p:nvSpPr>
          <p:cNvPr id="24" name="Shape 21"/>
          <p:cNvSpPr/>
          <p:nvPr/>
        </p:nvSpPr>
        <p:spPr>
          <a:xfrm>
            <a:off x="2137867" y="3739896"/>
            <a:ext cx="1029614" cy="438912"/>
          </a:xfrm>
          <a:prstGeom prst="roundRect">
            <a:avLst>
              <a:gd name="adj" fmla="val 50000"/>
            </a:avLst>
          </a:prstGeom>
          <a:solidFill>
            <a:srgbClr val="F3EFE6"/>
          </a:solidFill>
          <a:ln/>
        </p:spPr>
      </p:sp>
      <p:sp>
        <p:nvSpPr>
          <p:cNvPr id="25" name="Text 22"/>
          <p:cNvSpPr txBox="1"/>
          <p:nvPr/>
        </p:nvSpPr>
        <p:spPr>
          <a:xfrm>
            <a:off x="2137867" y="3739896"/>
            <a:ext cx="10296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home</a:t>
            </a:r>
            <a:endParaRPr lang="en-US" sz="1500" dirty="0"/>
          </a:p>
        </p:txBody>
      </p:sp>
      <p:sp>
        <p:nvSpPr>
          <p:cNvPr id="26" name="Shape 23"/>
          <p:cNvSpPr/>
          <p:nvPr/>
        </p:nvSpPr>
        <p:spPr>
          <a:xfrm>
            <a:off x="3295498" y="3739896"/>
            <a:ext cx="1137514" cy="438912"/>
          </a:xfrm>
          <a:prstGeom prst="roundRect">
            <a:avLst>
              <a:gd name="adj" fmla="val 50000"/>
            </a:avLst>
          </a:prstGeom>
          <a:solidFill>
            <a:srgbClr val="F3EFE6"/>
          </a:solidFill>
          <a:ln/>
        </p:spPr>
      </p:sp>
      <p:sp>
        <p:nvSpPr>
          <p:cNvPr id="27" name="Text 24"/>
          <p:cNvSpPr txBox="1"/>
          <p:nvPr/>
        </p:nvSpPr>
        <p:spPr>
          <a:xfrm>
            <a:off x="3295498" y="3739896"/>
            <a:ext cx="11375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watch TV</a:t>
            </a:r>
            <a:endParaRPr lang="en-US" sz="1500" dirty="0"/>
          </a:p>
        </p:txBody>
      </p:sp>
      <p:sp>
        <p:nvSpPr>
          <p:cNvPr id="28" name="Shape 25"/>
          <p:cNvSpPr/>
          <p:nvPr/>
        </p:nvSpPr>
        <p:spPr>
          <a:xfrm>
            <a:off x="4561027" y="3739896"/>
            <a:ext cx="1245413" cy="438912"/>
          </a:xfrm>
          <a:prstGeom prst="roundRect">
            <a:avLst>
              <a:gd name="adj" fmla="val 50000"/>
            </a:avLst>
          </a:prstGeom>
          <a:solidFill>
            <a:srgbClr val="F3EFE6"/>
          </a:solidFill>
          <a:ln/>
        </p:spPr>
      </p:sp>
      <p:sp>
        <p:nvSpPr>
          <p:cNvPr id="29" name="Text 26"/>
          <p:cNvSpPr txBox="1"/>
          <p:nvPr/>
        </p:nvSpPr>
        <p:spPr>
          <a:xfrm>
            <a:off x="4561027" y="3739896"/>
            <a:ext cx="124541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bed</a:t>
            </a:r>
            <a:endParaRPr lang="en-US" sz="1500" dirty="0"/>
          </a:p>
        </p:txBody>
      </p:sp>
      <p:sp>
        <p:nvSpPr>
          <p:cNvPr id="30" name="Shape 27"/>
          <p:cNvSpPr/>
          <p:nvPr/>
        </p:nvSpPr>
        <p:spPr>
          <a:xfrm>
            <a:off x="6263640" y="2606040"/>
            <a:ext cx="2216506" cy="438912"/>
          </a:xfrm>
          <a:prstGeom prst="roundRect">
            <a:avLst>
              <a:gd name="adj" fmla="val 50000"/>
            </a:avLst>
          </a:prstGeom>
          <a:solidFill>
            <a:srgbClr val="F3EFE6"/>
          </a:solidFill>
          <a:ln/>
        </p:spPr>
      </p:sp>
      <p:sp>
        <p:nvSpPr>
          <p:cNvPr id="31" name="Text 28"/>
          <p:cNvSpPr txBox="1"/>
          <p:nvPr/>
        </p:nvSpPr>
        <p:spPr>
          <a:xfrm>
            <a:off x="6263640" y="2606040"/>
            <a:ext cx="22165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hospital</a:t>
            </a:r>
            <a:endParaRPr lang="en-US" sz="1500" dirty="0"/>
          </a:p>
        </p:txBody>
      </p:sp>
      <p:sp>
        <p:nvSpPr>
          <p:cNvPr id="32" name="Shape 29"/>
          <p:cNvSpPr/>
          <p:nvPr/>
        </p:nvSpPr>
        <p:spPr>
          <a:xfrm>
            <a:off x="8608162" y="2606040"/>
            <a:ext cx="2000707" cy="438912"/>
          </a:xfrm>
          <a:prstGeom prst="roundRect">
            <a:avLst>
              <a:gd name="adj" fmla="val 50000"/>
            </a:avLst>
          </a:prstGeom>
          <a:solidFill>
            <a:srgbClr val="F3EFE6"/>
          </a:solidFill>
          <a:ln/>
        </p:spPr>
      </p:sp>
      <p:sp>
        <p:nvSpPr>
          <p:cNvPr id="33" name="Text 30"/>
          <p:cNvSpPr txBox="1"/>
          <p:nvPr/>
        </p:nvSpPr>
        <p:spPr>
          <a:xfrm>
            <a:off x="8608162" y="2606040"/>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clinic</a:t>
            </a:r>
            <a:endParaRPr lang="en-US" sz="1500" dirty="0"/>
          </a:p>
        </p:txBody>
      </p:sp>
      <p:sp>
        <p:nvSpPr>
          <p:cNvPr id="34" name="Shape 31"/>
          <p:cNvSpPr/>
          <p:nvPr/>
        </p:nvSpPr>
        <p:spPr>
          <a:xfrm>
            <a:off x="6263640" y="3172968"/>
            <a:ext cx="1569110" cy="438912"/>
          </a:xfrm>
          <a:prstGeom prst="roundRect">
            <a:avLst>
              <a:gd name="adj" fmla="val 50000"/>
            </a:avLst>
          </a:prstGeom>
          <a:solidFill>
            <a:srgbClr val="F3EFE6"/>
          </a:solidFill>
          <a:ln/>
        </p:spPr>
      </p:sp>
      <p:sp>
        <p:nvSpPr>
          <p:cNvPr id="35" name="Text 32"/>
          <p:cNvSpPr txBox="1"/>
          <p:nvPr/>
        </p:nvSpPr>
        <p:spPr>
          <a:xfrm>
            <a:off x="6263640"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see patients</a:t>
            </a:r>
            <a:endParaRPr lang="en-US" sz="1500" dirty="0"/>
          </a:p>
        </p:txBody>
      </p:sp>
      <p:sp>
        <p:nvSpPr>
          <p:cNvPr id="36" name="Shape 33"/>
          <p:cNvSpPr/>
          <p:nvPr/>
        </p:nvSpPr>
        <p:spPr>
          <a:xfrm>
            <a:off x="7960766" y="3172968"/>
            <a:ext cx="2108606" cy="438912"/>
          </a:xfrm>
          <a:prstGeom prst="roundRect">
            <a:avLst>
              <a:gd name="adj" fmla="val 50000"/>
            </a:avLst>
          </a:prstGeom>
          <a:solidFill>
            <a:srgbClr val="F3EFE6"/>
          </a:solidFill>
          <a:ln/>
        </p:spPr>
      </p:sp>
      <p:sp>
        <p:nvSpPr>
          <p:cNvPr id="37" name="Text 34"/>
          <p:cNvSpPr txBox="1"/>
          <p:nvPr/>
        </p:nvSpPr>
        <p:spPr>
          <a:xfrm>
            <a:off x="7960766" y="3172968"/>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examine a patient</a:t>
            </a:r>
            <a:endParaRPr lang="en-US" sz="1500" dirty="0"/>
          </a:p>
        </p:txBody>
      </p:sp>
      <p:sp>
        <p:nvSpPr>
          <p:cNvPr id="38" name="Shape 35"/>
          <p:cNvSpPr/>
          <p:nvPr/>
        </p:nvSpPr>
        <p:spPr>
          <a:xfrm>
            <a:off x="6263640" y="3739896"/>
            <a:ext cx="1892808" cy="438912"/>
          </a:xfrm>
          <a:prstGeom prst="roundRect">
            <a:avLst>
              <a:gd name="adj" fmla="val 50000"/>
            </a:avLst>
          </a:prstGeom>
          <a:solidFill>
            <a:srgbClr val="F3EFE6"/>
          </a:solidFill>
          <a:ln/>
        </p:spPr>
      </p:sp>
      <p:sp>
        <p:nvSpPr>
          <p:cNvPr id="39" name="Text 36"/>
          <p:cNvSpPr txBox="1"/>
          <p:nvPr/>
        </p:nvSpPr>
        <p:spPr>
          <a:xfrm>
            <a:off x="6263640" y="3739896"/>
            <a:ext cx="1892808"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a patient</a:t>
            </a:r>
            <a:endParaRPr lang="en-US" sz="1500" dirty="0"/>
          </a:p>
        </p:txBody>
      </p:sp>
      <p:sp>
        <p:nvSpPr>
          <p:cNvPr id="40" name="Shape 37"/>
          <p:cNvSpPr/>
          <p:nvPr/>
        </p:nvSpPr>
        <p:spPr>
          <a:xfrm>
            <a:off x="8284464" y="3739896"/>
            <a:ext cx="2108606" cy="438912"/>
          </a:xfrm>
          <a:prstGeom prst="roundRect">
            <a:avLst>
              <a:gd name="adj" fmla="val 50000"/>
            </a:avLst>
          </a:prstGeom>
          <a:solidFill>
            <a:srgbClr val="F3EFE6"/>
          </a:solidFill>
          <a:ln/>
        </p:spPr>
      </p:sp>
      <p:sp>
        <p:nvSpPr>
          <p:cNvPr id="41" name="Text 38"/>
          <p:cNvSpPr txBox="1"/>
          <p:nvPr/>
        </p:nvSpPr>
        <p:spPr>
          <a:xfrm>
            <a:off x="8284464" y="3739896"/>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appointments</a:t>
            </a:r>
            <a:endParaRPr lang="en-US" sz="1500" dirty="0"/>
          </a:p>
        </p:txBody>
      </p:sp>
      <p:sp>
        <p:nvSpPr>
          <p:cNvPr id="42" name="Shape 39"/>
          <p:cNvSpPr/>
          <p:nvPr/>
        </p:nvSpPr>
        <p:spPr>
          <a:xfrm>
            <a:off x="6263640" y="4306824"/>
            <a:ext cx="2540203" cy="438912"/>
          </a:xfrm>
          <a:prstGeom prst="roundRect">
            <a:avLst>
              <a:gd name="adj" fmla="val 50000"/>
            </a:avLst>
          </a:prstGeom>
          <a:solidFill>
            <a:srgbClr val="F3EFE6"/>
          </a:solidFill>
          <a:ln/>
        </p:spPr>
      </p:sp>
      <p:sp>
        <p:nvSpPr>
          <p:cNvPr id="43" name="Text 40"/>
          <p:cNvSpPr txBox="1"/>
          <p:nvPr/>
        </p:nvSpPr>
        <p:spPr>
          <a:xfrm>
            <a:off x="6263640" y="4306824"/>
            <a:ext cx="254020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medical records</a:t>
            </a:r>
            <a:endParaRPr lang="en-US" sz="1500" dirty="0"/>
          </a:p>
        </p:txBody>
      </p:sp>
      <p:sp>
        <p:nvSpPr>
          <p:cNvPr id="44" name="Shape 41"/>
          <p:cNvSpPr/>
          <p:nvPr/>
        </p:nvSpPr>
        <p:spPr>
          <a:xfrm>
            <a:off x="8931859" y="4306824"/>
            <a:ext cx="2000707" cy="438912"/>
          </a:xfrm>
          <a:prstGeom prst="roundRect">
            <a:avLst>
              <a:gd name="adj" fmla="val 50000"/>
            </a:avLst>
          </a:prstGeom>
          <a:solidFill>
            <a:srgbClr val="F3EFE6"/>
          </a:solidFill>
          <a:ln/>
        </p:spPr>
      </p:sp>
      <p:sp>
        <p:nvSpPr>
          <p:cNvPr id="45" name="Text 42"/>
          <p:cNvSpPr txBox="1"/>
          <p:nvPr/>
        </p:nvSpPr>
        <p:spPr>
          <a:xfrm>
            <a:off x="8931859" y="4306824"/>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on weekends</a:t>
            </a:r>
            <a:endParaRPr lang="en-US" sz="1500" dirty="0"/>
          </a:p>
        </p:txBody>
      </p:sp>
      <p:sp>
        <p:nvSpPr>
          <p:cNvPr id="46" name="Shape 43"/>
          <p:cNvSpPr/>
          <p:nvPr/>
        </p:nvSpPr>
        <p:spPr>
          <a:xfrm>
            <a:off x="548640" y="5257800"/>
            <a:ext cx="11091672" cy="0"/>
          </a:xfrm>
          <a:prstGeom prst="line">
            <a:avLst/>
          </a:prstGeom>
          <a:noFill/>
          <a:ln w="12700">
            <a:solidFill>
              <a:srgbClr val="DDD6C7"/>
            </a:solidFill>
            <a:prstDash val="solid"/>
          </a:ln>
        </p:spPr>
      </p:sp>
      <p:sp>
        <p:nvSpPr>
          <p:cNvPr id="47" name="Text 44"/>
          <p:cNvSpPr txBox="1"/>
          <p:nvPr/>
        </p:nvSpPr>
        <p:spPr>
          <a:xfrm>
            <a:off x="548640" y="5440680"/>
            <a:ext cx="10972800" cy="50292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see patients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 at 9:00.     I don’t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work on weekends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LOOK AGAIN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07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What’s different?</a:t>
            </a:r>
            <a:endParaRPr lang="en-US" sz="4000" dirty="0"/>
          </a:p>
        </p:txBody>
      </p:sp>
      <p:sp>
        <p:nvSpPr>
          <p:cNvPr id="7" name="Text 4"/>
          <p:cNvSpPr txBox="1"/>
          <p:nvPr/>
        </p:nvSpPr>
        <p:spPr>
          <a:xfrm>
            <a:off x="548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 / YOU</a:t>
            </a:r>
            <a:endParaRPr lang="en-US" sz="1100" dirty="0"/>
          </a:p>
        </p:txBody>
      </p:sp>
      <p:sp>
        <p:nvSpPr>
          <p:cNvPr id="8" name="Text 5"/>
          <p:cNvSpPr txBox="1"/>
          <p:nvPr/>
        </p:nvSpPr>
        <p:spPr>
          <a:xfrm>
            <a:off x="6263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HE / SHE</a:t>
            </a:r>
            <a:endParaRPr lang="en-US" sz="1100" dirty="0"/>
          </a:p>
        </p:txBody>
      </p:sp>
      <p:sp>
        <p:nvSpPr>
          <p:cNvPr id="9" name="Shape 6"/>
          <p:cNvSpPr/>
          <p:nvPr/>
        </p:nvSpPr>
        <p:spPr>
          <a:xfrm>
            <a:off x="548640" y="2103120"/>
            <a:ext cx="5440680" cy="868680"/>
          </a:xfrm>
          <a:prstGeom prst="roundRect">
            <a:avLst>
              <a:gd name="adj" fmla="val 14737"/>
            </a:avLst>
          </a:prstGeom>
          <a:solidFill>
            <a:srgbClr val="F3EFE6"/>
          </a:solidFill>
          <a:ln/>
        </p:spPr>
      </p:sp>
      <p:sp>
        <p:nvSpPr>
          <p:cNvPr id="10" name="Shape 7"/>
          <p:cNvSpPr/>
          <p:nvPr/>
        </p:nvSpPr>
        <p:spPr>
          <a:xfrm>
            <a:off x="6263640" y="2103120"/>
            <a:ext cx="5376672" cy="868680"/>
          </a:xfrm>
          <a:prstGeom prst="roundRect">
            <a:avLst>
              <a:gd name="adj" fmla="val 14737"/>
            </a:avLst>
          </a:prstGeom>
          <a:solidFill>
            <a:srgbClr val="F3EFE6"/>
          </a:solidFill>
          <a:ln/>
        </p:spPr>
      </p:sp>
      <p:sp>
        <p:nvSpPr>
          <p:cNvPr id="11" name="Text 8"/>
          <p:cNvSpPr txBox="1"/>
          <p:nvPr/>
        </p:nvSpPr>
        <p:spPr>
          <a:xfrm>
            <a:off x="822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 at a clinic.</a:t>
            </a:r>
            <a:endParaRPr lang="en-US" sz="2600" dirty="0"/>
          </a:p>
        </p:txBody>
      </p:sp>
      <p:sp>
        <p:nvSpPr>
          <p:cNvPr id="12" name="Text 9"/>
          <p:cNvSpPr txBox="1"/>
          <p:nvPr/>
        </p:nvSpPr>
        <p:spPr>
          <a:xfrm>
            <a:off x="6537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works at a clinic.</a:t>
            </a:r>
            <a:endParaRPr lang="en-US" sz="2600" dirty="0"/>
          </a:p>
        </p:txBody>
      </p:sp>
      <p:sp>
        <p:nvSpPr>
          <p:cNvPr id="13" name="Shape 10"/>
          <p:cNvSpPr/>
          <p:nvPr/>
        </p:nvSpPr>
        <p:spPr>
          <a:xfrm>
            <a:off x="548640" y="3200400"/>
            <a:ext cx="5440680" cy="868680"/>
          </a:xfrm>
          <a:prstGeom prst="roundRect">
            <a:avLst>
              <a:gd name="adj" fmla="val 14737"/>
            </a:avLst>
          </a:prstGeom>
          <a:solidFill>
            <a:srgbClr val="F3EFE6"/>
          </a:solidFill>
          <a:ln/>
        </p:spPr>
      </p:sp>
      <p:sp>
        <p:nvSpPr>
          <p:cNvPr id="14" name="Shape 11"/>
          <p:cNvSpPr/>
          <p:nvPr/>
        </p:nvSpPr>
        <p:spPr>
          <a:xfrm>
            <a:off x="6263640" y="3200400"/>
            <a:ext cx="5376672" cy="868680"/>
          </a:xfrm>
          <a:prstGeom prst="roundRect">
            <a:avLst>
              <a:gd name="adj" fmla="val 14737"/>
            </a:avLst>
          </a:prstGeom>
          <a:solidFill>
            <a:srgbClr val="F3EFE6"/>
          </a:solidFill>
          <a:ln/>
        </p:spPr>
      </p:sp>
      <p:sp>
        <p:nvSpPr>
          <p:cNvPr id="15" name="Text 12"/>
          <p:cNvSpPr txBox="1"/>
          <p:nvPr/>
        </p:nvSpPr>
        <p:spPr>
          <a:xfrm>
            <a:off x="822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don’t work on Sundays.</a:t>
            </a:r>
            <a:endParaRPr lang="en-US" sz="2600" dirty="0"/>
          </a:p>
        </p:txBody>
      </p:sp>
      <p:sp>
        <p:nvSpPr>
          <p:cNvPr id="16" name="Text 13"/>
          <p:cNvSpPr txBox="1"/>
          <p:nvPr/>
        </p:nvSpPr>
        <p:spPr>
          <a:xfrm>
            <a:off x="6537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doesn’t work on Sundays.</a:t>
            </a:r>
            <a:endParaRPr lang="en-US" sz="2600" dirty="0"/>
          </a:p>
        </p:txBody>
      </p:sp>
      <p:sp>
        <p:nvSpPr>
          <p:cNvPr id="17" name="Shape 14"/>
          <p:cNvSpPr/>
          <p:nvPr/>
        </p:nvSpPr>
        <p:spPr>
          <a:xfrm>
            <a:off x="548640" y="4297680"/>
            <a:ext cx="5440680" cy="868680"/>
          </a:xfrm>
          <a:prstGeom prst="roundRect">
            <a:avLst>
              <a:gd name="adj" fmla="val 14737"/>
            </a:avLst>
          </a:prstGeom>
          <a:solidFill>
            <a:srgbClr val="F3EFE6"/>
          </a:solidFill>
          <a:ln/>
        </p:spPr>
      </p:sp>
      <p:sp>
        <p:nvSpPr>
          <p:cNvPr id="18" name="Shape 15"/>
          <p:cNvSpPr/>
          <p:nvPr/>
        </p:nvSpPr>
        <p:spPr>
          <a:xfrm>
            <a:off x="6263640" y="4297680"/>
            <a:ext cx="5376672" cy="868680"/>
          </a:xfrm>
          <a:prstGeom prst="roundRect">
            <a:avLst>
              <a:gd name="adj" fmla="val 14737"/>
            </a:avLst>
          </a:prstGeom>
          <a:solidFill>
            <a:srgbClr val="F3EFE6"/>
          </a:solidFill>
          <a:ln/>
        </p:spPr>
      </p:sp>
      <p:sp>
        <p:nvSpPr>
          <p:cNvPr id="19" name="Text 16"/>
          <p:cNvSpPr txBox="1"/>
          <p:nvPr/>
        </p:nvSpPr>
        <p:spPr>
          <a:xfrm>
            <a:off x="822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 you work at night?</a:t>
            </a:r>
            <a:endParaRPr lang="en-US" sz="2600" dirty="0"/>
          </a:p>
        </p:txBody>
      </p:sp>
      <p:sp>
        <p:nvSpPr>
          <p:cNvPr id="20" name="Text 17"/>
          <p:cNvSpPr txBox="1"/>
          <p:nvPr/>
        </p:nvSpPr>
        <p:spPr>
          <a:xfrm>
            <a:off x="6537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he work at night?</a:t>
            </a:r>
            <a:endParaRPr lang="en-US" sz="2600" dirty="0"/>
          </a:p>
        </p:txBody>
      </p:sp>
      <p:sp>
        <p:nvSpPr>
          <p:cNvPr id="21" name="Text 18"/>
          <p:cNvSpPr txBox="1"/>
          <p:nvPr/>
        </p:nvSpPr>
        <p:spPr>
          <a:xfrm>
            <a:off x="548640" y="5532120"/>
            <a:ext cx="7315200" cy="502920"/>
          </a:xfrm>
          <a:prstGeom prst="rect">
            <a:avLst/>
          </a:prstGeom>
          <a:noFill/>
          <a:ln/>
        </p:spPr>
        <p:txBody>
          <a:bodyPr wrap="square" lIns="0" tIns="0" rIns="0" bIns="0" rtlCol="0" anchor="t"/>
          <a:lstStyle/>
          <a:p>
            <a:pPr indent="0" marL="0">
              <a:buNone/>
            </a:pPr>
            <a:r>
              <a:rPr lang="en-US" sz="2400" b="1" i="1" dirty="0">
                <a:solidFill>
                  <a:srgbClr val="F44904"/>
                </a:solidFill>
                <a:latin typeface="Poppins" pitchFamily="34" charset="0"/>
                <a:ea typeface="Poppins" pitchFamily="34" charset="-122"/>
                <a:cs typeface="Poppins" pitchFamily="34" charset="-120"/>
              </a:rPr>
              <a:t>What changes? Why?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THE PATTERN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08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The pattern</a:t>
            </a:r>
            <a:endParaRPr lang="en-US" sz="4000" dirty="0"/>
          </a:p>
        </p:txBody>
      </p:sp>
      <p:sp>
        <p:nvSpPr>
          <p:cNvPr id="7" name="Text 4"/>
          <p:cNvSpPr txBox="1"/>
          <p:nvPr/>
        </p:nvSpPr>
        <p:spPr>
          <a:xfrm>
            <a:off x="548640" y="187452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HE / SHE / IT + -S</a:t>
            </a:r>
            <a:endParaRPr lang="en-US" sz="1100" dirty="0"/>
          </a:p>
        </p:txBody>
      </p:sp>
      <p:sp>
        <p:nvSpPr>
          <p:cNvPr id="8" name="Text 5"/>
          <p:cNvSpPr txBox="1"/>
          <p:nvPr/>
        </p:nvSpPr>
        <p:spPr>
          <a:xfrm>
            <a:off x="4480560" y="169164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work</a:t>
            </a:r>
            <a:pPr indent="0" marL="0">
              <a:buNone/>
            </a:pPr>
            <a:r>
              <a:rPr lang="en-US" sz="3400" b="1" dirty="0">
                <a:solidFill>
                  <a:srgbClr val="F44904"/>
                </a:solidFill>
                <a:latin typeface="Poppins" pitchFamily="34" charset="0"/>
                <a:ea typeface="Poppins" pitchFamily="34" charset="-122"/>
                <a:cs typeface="Poppins" pitchFamily="34" charset="-120"/>
              </a:rPr>
              <a:t>s</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9" name="Shape 6"/>
          <p:cNvSpPr/>
          <p:nvPr/>
        </p:nvSpPr>
        <p:spPr>
          <a:xfrm>
            <a:off x="548640" y="2468880"/>
            <a:ext cx="11091672" cy="0"/>
          </a:xfrm>
          <a:prstGeom prst="line">
            <a:avLst/>
          </a:prstGeom>
          <a:noFill/>
          <a:ln w="12700">
            <a:solidFill>
              <a:srgbClr val="DDD6C7"/>
            </a:solidFill>
            <a:prstDash val="solid"/>
          </a:ln>
        </p:spPr>
      </p:sp>
      <p:sp>
        <p:nvSpPr>
          <p:cNvPr id="10" name="Text 7"/>
          <p:cNvSpPr txBox="1"/>
          <p:nvPr/>
        </p:nvSpPr>
        <p:spPr>
          <a:xfrm>
            <a:off x="548640" y="274320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DOESN’T + BASE VERB</a:t>
            </a:r>
            <a:endParaRPr lang="en-US" sz="1100" dirty="0"/>
          </a:p>
        </p:txBody>
      </p:sp>
      <p:sp>
        <p:nvSpPr>
          <p:cNvPr id="11" name="Text 8"/>
          <p:cNvSpPr txBox="1"/>
          <p:nvPr/>
        </p:nvSpPr>
        <p:spPr>
          <a:xfrm>
            <a:off x="4480560" y="256032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a:t>
            </a:r>
            <a:pPr indent="0" marL="0">
              <a:buNone/>
            </a:pPr>
            <a:r>
              <a:rPr lang="en-US" sz="3400" b="1" dirty="0">
                <a:solidFill>
                  <a:srgbClr val="F44904"/>
                </a:solidFill>
                <a:latin typeface="Poppins" pitchFamily="34" charset="0"/>
                <a:ea typeface="Poppins" pitchFamily="34" charset="-122"/>
                <a:cs typeface="Poppins" pitchFamily="34" charset="-120"/>
              </a:rPr>
              <a:t>doesn’t 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2" name="Shape 9"/>
          <p:cNvSpPr/>
          <p:nvPr/>
        </p:nvSpPr>
        <p:spPr>
          <a:xfrm>
            <a:off x="548640" y="3337560"/>
            <a:ext cx="11091672" cy="0"/>
          </a:xfrm>
          <a:prstGeom prst="line">
            <a:avLst/>
          </a:prstGeom>
          <a:noFill/>
          <a:ln w="12700">
            <a:solidFill>
              <a:srgbClr val="DDD6C7"/>
            </a:solidFill>
            <a:prstDash val="solid"/>
          </a:ln>
        </p:spPr>
      </p:sp>
      <p:sp>
        <p:nvSpPr>
          <p:cNvPr id="13" name="Text 10"/>
          <p:cNvSpPr txBox="1"/>
          <p:nvPr/>
        </p:nvSpPr>
        <p:spPr>
          <a:xfrm>
            <a:off x="548640" y="361188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 + HE + BASE VERB</a:t>
            </a:r>
            <a:endParaRPr lang="en-US" sz="1100" dirty="0"/>
          </a:p>
        </p:txBody>
      </p:sp>
      <p:sp>
        <p:nvSpPr>
          <p:cNvPr id="14" name="Text 11"/>
          <p:cNvSpPr txBox="1"/>
          <p:nvPr/>
        </p:nvSpPr>
        <p:spPr>
          <a:xfrm>
            <a:off x="4480560" y="3429000"/>
            <a:ext cx="6400800" cy="685800"/>
          </a:xfrm>
          <a:prstGeom prst="rect">
            <a:avLst/>
          </a:prstGeom>
          <a:noFill/>
          <a:ln/>
        </p:spPr>
        <p:txBody>
          <a:bodyPr wrap="square" lIns="0" tIns="0" rIns="0" bIns="0" rtlCol="0" anchor="ctr"/>
          <a:lstStyle/>
          <a:p>
            <a:pPr indent="0" marL="0">
              <a:buNone/>
            </a:pPr>
            <a:r>
              <a:rPr lang="en-US" sz="3400" b="1" dirty="0">
                <a:solidFill>
                  <a:srgbClr val="F44904"/>
                </a:solidFill>
                <a:latin typeface="Poppins" pitchFamily="34" charset="0"/>
                <a:ea typeface="Poppins" pitchFamily="34" charset="-122"/>
                <a:cs typeface="Poppins" pitchFamily="34" charset="-120"/>
              </a:rPr>
              <a:t>Does</a:t>
            </a:r>
            <a:pPr indent="0" marL="0">
              <a:buNone/>
            </a:pPr>
            <a:r>
              <a:rPr lang="en-US" sz="3400" b="1" dirty="0">
                <a:solidFill>
                  <a:srgbClr val="0B1440"/>
                </a:solidFill>
                <a:latin typeface="Poppins" pitchFamily="34" charset="0"/>
                <a:ea typeface="Poppins" pitchFamily="34" charset="-122"/>
                <a:cs typeface="Poppins" pitchFamily="34" charset="-120"/>
              </a:rPr>
              <a:t> he </a:t>
            </a:r>
            <a:pPr indent="0" marL="0">
              <a:buNone/>
            </a:pPr>
            <a:r>
              <a:rPr lang="en-US" sz="3400" b="1" dirty="0">
                <a:solidFill>
                  <a:srgbClr val="F44904"/>
                </a:solidFill>
                <a:latin typeface="Poppins" pitchFamily="34" charset="0"/>
                <a:ea typeface="Poppins" pitchFamily="34" charset="-122"/>
                <a:cs typeface="Poppins" pitchFamily="34" charset="-120"/>
              </a:rPr>
              <a:t>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5" name="Shape 12"/>
          <p:cNvSpPr/>
          <p:nvPr/>
        </p:nvSpPr>
        <p:spPr>
          <a:xfrm>
            <a:off x="548640" y="4480560"/>
            <a:ext cx="11091672" cy="1508760"/>
          </a:xfrm>
          <a:prstGeom prst="roundRect">
            <a:avLst>
              <a:gd name="adj" fmla="val 8485"/>
            </a:avLst>
          </a:prstGeom>
          <a:solidFill>
            <a:srgbClr val="0B1440"/>
          </a:solidFill>
          <a:ln/>
        </p:spPr>
      </p:sp>
      <p:sp>
        <p:nvSpPr>
          <p:cNvPr id="16" name="Shape 13"/>
          <p:cNvSpPr/>
          <p:nvPr/>
        </p:nvSpPr>
        <p:spPr>
          <a:xfrm>
            <a:off x="868680" y="4800600"/>
            <a:ext cx="1993392" cy="868680"/>
          </a:xfrm>
          <a:prstGeom prst="roundRect">
            <a:avLst>
              <a:gd name="adj" fmla="val 12632"/>
            </a:avLst>
          </a:prstGeom>
          <a:solidFill>
            <a:srgbClr val="141E52"/>
          </a:solidFill>
          <a:ln w="19050">
            <a:solidFill>
              <a:srgbClr val="F44904"/>
            </a:solidFill>
            <a:prstDash val="solid"/>
          </a:ln>
        </p:spPr>
      </p:sp>
      <p:sp>
        <p:nvSpPr>
          <p:cNvPr id="17" name="Text 14"/>
          <p:cNvSpPr txBox="1"/>
          <p:nvPr/>
        </p:nvSpPr>
        <p:spPr>
          <a:xfrm>
            <a:off x="868680" y="4800600"/>
            <a:ext cx="1993392" cy="868680"/>
          </a:xfrm>
          <a:prstGeom prst="rect">
            <a:avLst/>
          </a:prstGeom>
          <a:noFill/>
          <a:ln/>
        </p:spPr>
        <p:txBody>
          <a:bodyPr wrap="square" lIns="0" tIns="0" rIns="0" bIns="0" rtlCol="0" anchor="ctr"/>
          <a:lstStyle/>
          <a:p>
            <a:pPr algn="ctr" indent="0" marL="0">
              <a:buNone/>
            </a:pPr>
            <a:r>
              <a:rPr lang="en-US" sz="3000" dirty="0">
                <a:solidFill>
                  <a:srgbClr val="F44904"/>
                </a:solidFill>
                <a:latin typeface="Poppins ExtraBold" pitchFamily="34" charset="0"/>
                <a:ea typeface="Poppins ExtraBold" pitchFamily="34" charset="-122"/>
                <a:cs typeface="Poppins ExtraBold" pitchFamily="34" charset="-120"/>
              </a:rPr>
              <a:t>DOES</a:t>
            </a:r>
            <a:endParaRPr lang="en-US" sz="3000" dirty="0"/>
          </a:p>
        </p:txBody>
      </p:sp>
      <p:sp>
        <p:nvSpPr>
          <p:cNvPr id="18" name="Text 15"/>
          <p:cNvSpPr txBox="1"/>
          <p:nvPr/>
        </p:nvSpPr>
        <p:spPr>
          <a:xfrm>
            <a:off x="2953512"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19" name="Shape 16"/>
          <p:cNvSpPr/>
          <p:nvPr/>
        </p:nvSpPr>
        <p:spPr>
          <a:xfrm>
            <a:off x="3456432" y="4800600"/>
            <a:ext cx="1225296" cy="868680"/>
          </a:xfrm>
          <a:prstGeom prst="roundRect">
            <a:avLst>
              <a:gd name="adj" fmla="val 12632"/>
            </a:avLst>
          </a:prstGeom>
          <a:solidFill>
            <a:srgbClr val="141E52"/>
          </a:solidFill>
          <a:ln w="19050">
            <a:solidFill>
              <a:srgbClr val="5B6088"/>
            </a:solidFill>
            <a:prstDash val="solid"/>
          </a:ln>
        </p:spPr>
      </p:sp>
      <p:sp>
        <p:nvSpPr>
          <p:cNvPr id="20" name="Text 17"/>
          <p:cNvSpPr txBox="1"/>
          <p:nvPr/>
        </p:nvSpPr>
        <p:spPr>
          <a:xfrm>
            <a:off x="3456432" y="4800600"/>
            <a:ext cx="1225296"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HE</a:t>
            </a:r>
            <a:endParaRPr lang="en-US" sz="3000" dirty="0"/>
          </a:p>
        </p:txBody>
      </p:sp>
      <p:sp>
        <p:nvSpPr>
          <p:cNvPr id="21" name="Text 18"/>
          <p:cNvSpPr txBox="1"/>
          <p:nvPr/>
        </p:nvSpPr>
        <p:spPr>
          <a:xfrm>
            <a:off x="4773168"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22" name="Shape 19"/>
          <p:cNvSpPr/>
          <p:nvPr/>
        </p:nvSpPr>
        <p:spPr>
          <a:xfrm>
            <a:off x="5276088" y="4800600"/>
            <a:ext cx="1993392" cy="868680"/>
          </a:xfrm>
          <a:prstGeom prst="roundRect">
            <a:avLst>
              <a:gd name="adj" fmla="val 12632"/>
            </a:avLst>
          </a:prstGeom>
          <a:solidFill>
            <a:srgbClr val="141E52"/>
          </a:solidFill>
          <a:ln w="19050">
            <a:solidFill>
              <a:srgbClr val="5B6088"/>
            </a:solidFill>
            <a:prstDash val="solid"/>
          </a:ln>
        </p:spPr>
      </p:sp>
      <p:sp>
        <p:nvSpPr>
          <p:cNvPr id="23" name="Text 20"/>
          <p:cNvSpPr txBox="1"/>
          <p:nvPr/>
        </p:nvSpPr>
        <p:spPr>
          <a:xfrm>
            <a:off x="5276088" y="4800600"/>
            <a:ext cx="1993392"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WORK</a:t>
            </a:r>
            <a:endParaRPr lang="en-US" sz="3000" dirty="0"/>
          </a:p>
        </p:txBody>
      </p:sp>
      <p:sp>
        <p:nvSpPr>
          <p:cNvPr id="24" name="Text 21"/>
          <p:cNvSpPr txBox="1"/>
          <p:nvPr/>
        </p:nvSpPr>
        <p:spPr>
          <a:xfrm>
            <a:off x="7818120" y="4800600"/>
            <a:ext cx="3657600" cy="868680"/>
          </a:xfrm>
          <a:prstGeom prst="rect">
            <a:avLst/>
          </a:prstGeom>
          <a:noFill/>
          <a:ln/>
        </p:spPr>
        <p:txBody>
          <a:bodyPr wrap="square" lIns="0" tIns="0" rIns="0" bIns="0" rtlCol="0" anchor="ctr"/>
          <a:lstStyle/>
          <a:p>
            <a:pPr indent="0" marL="0">
              <a:buNone/>
            </a:pPr>
            <a:r>
              <a:rPr lang="en-US" sz="1200" b="1" dirty="0">
                <a:solidFill>
                  <a:srgbClr val="B7AFA0"/>
                </a:solidFill>
                <a:latin typeface="JetBrains Mono Medium" pitchFamily="34" charset="0"/>
                <a:ea typeface="JetBrains Mono Medium" pitchFamily="34" charset="-122"/>
                <a:cs typeface="JetBrains Mono Medium" pitchFamily="34" charset="-120"/>
              </a:rPr>
              <a:t>NOT  </a:t>
            </a:r>
            <a:pPr indent="0" marL="0">
              <a:buNone/>
            </a:pPr>
            <a:r>
              <a:rPr lang="en-US" sz="2600" b="1" strike="sngStrike" dirty="0">
                <a:solidFill>
                  <a:srgbClr val="B7AFA0"/>
                </a:solidFill>
                <a:latin typeface="Poppins" pitchFamily="34" charset="0"/>
                <a:ea typeface="Poppins" pitchFamily="34" charset="-122"/>
                <a:cs typeface="Poppins" pitchFamily="34" charset="-120"/>
              </a:rPr>
              <a:t>Does he works?</a:t>
            </a:r>
            <a:endParaRPr lang="en-US" sz="2600" dirty="0"/>
          </a:p>
        </p:txBody>
      </p:sp>
      <p:sp>
        <p:nvSpPr>
          <p:cNvPr id="25" name="Text 22"/>
          <p:cNvSpPr txBox="1"/>
          <p:nvPr/>
        </p:nvSpPr>
        <p:spPr>
          <a:xfrm>
            <a:off x="7818120" y="5440680"/>
            <a:ext cx="3657600" cy="365760"/>
          </a:xfrm>
          <a:prstGeom prst="rect">
            <a:avLst/>
          </a:prstGeom>
          <a:noFill/>
          <a:ln/>
        </p:spPr>
        <p:txBody>
          <a:bodyPr wrap="square" lIns="0" tIns="0" rIns="0" bIns="0" rtlCol="0" anchor="t"/>
          <a:lstStyle/>
          <a:p>
            <a:pPr indent="0" marL="0">
              <a:buNone/>
            </a:pPr>
            <a:r>
              <a:rPr lang="en-US" sz="1500" dirty="0">
                <a:solidFill>
                  <a:srgbClr val="B7AFA0"/>
                </a:solidFill>
                <a:latin typeface="Hanken Grotesk" pitchFamily="34" charset="0"/>
                <a:ea typeface="Hanken Grotesk" pitchFamily="34" charset="-122"/>
                <a:cs typeface="Hanken Grotesk" pitchFamily="34" charset="-120"/>
              </a:rPr>
              <a:t>Yes, he does.  /  No, he doesn’t.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05 · CHALLENGE</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09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Right or wrong?</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Fix the wrong ones.</a:t>
            </a:r>
            <a:endParaRPr lang="en-US" sz="2200" dirty="0"/>
          </a:p>
        </p:txBody>
      </p:sp>
      <p:sp>
        <p:nvSpPr>
          <p:cNvPr id="8" name="Text 5"/>
          <p:cNvSpPr txBox="1"/>
          <p:nvPr/>
        </p:nvSpPr>
        <p:spPr>
          <a:xfrm>
            <a:off x="548640" y="2194560"/>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1</a:t>
            </a:r>
            <a:endParaRPr lang="en-US" sz="1400" dirty="0"/>
          </a:p>
        </p:txBody>
      </p:sp>
      <p:sp>
        <p:nvSpPr>
          <p:cNvPr id="9" name="Text 6"/>
          <p:cNvSpPr txBox="1"/>
          <p:nvPr/>
        </p:nvSpPr>
        <p:spPr>
          <a:xfrm>
            <a:off x="1097280" y="2194560"/>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He work in a clinic.</a:t>
            </a:r>
            <a:endParaRPr lang="en-US" sz="2800" dirty="0"/>
          </a:p>
        </p:txBody>
      </p:sp>
      <p:sp>
        <p:nvSpPr>
          <p:cNvPr id="10" name="Shape 7"/>
          <p:cNvSpPr/>
          <p:nvPr/>
        </p:nvSpPr>
        <p:spPr>
          <a:xfrm>
            <a:off x="9326880" y="2258568"/>
            <a:ext cx="1078992" cy="420624"/>
          </a:xfrm>
          <a:prstGeom prst="roundRect">
            <a:avLst>
              <a:gd name="adj" fmla="val 50000"/>
            </a:avLst>
          </a:prstGeom>
          <a:solidFill>
            <a:srgbClr val="F3EFE6"/>
          </a:solidFill>
          <a:ln/>
        </p:spPr>
      </p:sp>
      <p:sp>
        <p:nvSpPr>
          <p:cNvPr id="11" name="Text 8"/>
          <p:cNvSpPr txBox="1"/>
          <p:nvPr/>
        </p:nvSpPr>
        <p:spPr>
          <a:xfrm>
            <a:off x="932688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2" name="Shape 9"/>
          <p:cNvSpPr/>
          <p:nvPr/>
        </p:nvSpPr>
        <p:spPr>
          <a:xfrm>
            <a:off x="10515600" y="2258568"/>
            <a:ext cx="1078992" cy="420624"/>
          </a:xfrm>
          <a:prstGeom prst="roundRect">
            <a:avLst>
              <a:gd name="adj" fmla="val 50000"/>
            </a:avLst>
          </a:prstGeom>
          <a:solidFill>
            <a:srgbClr val="F3EFE6"/>
          </a:solidFill>
          <a:ln/>
        </p:spPr>
      </p:sp>
      <p:sp>
        <p:nvSpPr>
          <p:cNvPr id="13" name="Text 10"/>
          <p:cNvSpPr txBox="1"/>
          <p:nvPr/>
        </p:nvSpPr>
        <p:spPr>
          <a:xfrm>
            <a:off x="1051560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14" name="Text 11"/>
          <p:cNvSpPr txBox="1"/>
          <p:nvPr/>
        </p:nvSpPr>
        <p:spPr>
          <a:xfrm>
            <a:off x="548640" y="2944368"/>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2</a:t>
            </a:r>
            <a:endParaRPr lang="en-US" sz="1400" dirty="0"/>
          </a:p>
        </p:txBody>
      </p:sp>
      <p:sp>
        <p:nvSpPr>
          <p:cNvPr id="15" name="Text 12"/>
          <p:cNvSpPr txBox="1"/>
          <p:nvPr/>
        </p:nvSpPr>
        <p:spPr>
          <a:xfrm>
            <a:off x="1097280" y="2944368"/>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I works from Monday to Friday.</a:t>
            </a:r>
            <a:endParaRPr lang="en-US" sz="2800" dirty="0"/>
          </a:p>
        </p:txBody>
      </p:sp>
      <p:sp>
        <p:nvSpPr>
          <p:cNvPr id="16" name="Shape 13"/>
          <p:cNvSpPr/>
          <p:nvPr/>
        </p:nvSpPr>
        <p:spPr>
          <a:xfrm>
            <a:off x="9326880" y="3008376"/>
            <a:ext cx="1078992" cy="420624"/>
          </a:xfrm>
          <a:prstGeom prst="roundRect">
            <a:avLst>
              <a:gd name="adj" fmla="val 50000"/>
            </a:avLst>
          </a:prstGeom>
          <a:solidFill>
            <a:srgbClr val="F3EFE6"/>
          </a:solidFill>
          <a:ln/>
        </p:spPr>
      </p:sp>
      <p:sp>
        <p:nvSpPr>
          <p:cNvPr id="17" name="Text 14"/>
          <p:cNvSpPr txBox="1"/>
          <p:nvPr/>
        </p:nvSpPr>
        <p:spPr>
          <a:xfrm>
            <a:off x="932688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8" name="Shape 15"/>
          <p:cNvSpPr/>
          <p:nvPr/>
        </p:nvSpPr>
        <p:spPr>
          <a:xfrm>
            <a:off x="10515600" y="3008376"/>
            <a:ext cx="1078992" cy="420624"/>
          </a:xfrm>
          <a:prstGeom prst="roundRect">
            <a:avLst>
              <a:gd name="adj" fmla="val 50000"/>
            </a:avLst>
          </a:prstGeom>
          <a:solidFill>
            <a:srgbClr val="F3EFE6"/>
          </a:solidFill>
          <a:ln/>
        </p:spPr>
      </p:sp>
      <p:sp>
        <p:nvSpPr>
          <p:cNvPr id="19" name="Text 16"/>
          <p:cNvSpPr txBox="1"/>
          <p:nvPr/>
        </p:nvSpPr>
        <p:spPr>
          <a:xfrm>
            <a:off x="1051560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0" name="Text 17"/>
          <p:cNvSpPr txBox="1"/>
          <p:nvPr/>
        </p:nvSpPr>
        <p:spPr>
          <a:xfrm>
            <a:off x="548640" y="3694176"/>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3</a:t>
            </a:r>
            <a:endParaRPr lang="en-US" sz="1400" dirty="0"/>
          </a:p>
        </p:txBody>
      </p:sp>
      <p:sp>
        <p:nvSpPr>
          <p:cNvPr id="21" name="Text 18"/>
          <p:cNvSpPr txBox="1"/>
          <p:nvPr/>
        </p:nvSpPr>
        <p:spPr>
          <a:xfrm>
            <a:off x="1097280" y="3694176"/>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She doesn’t work at night.</a:t>
            </a:r>
            <a:endParaRPr lang="en-US" sz="2800" dirty="0"/>
          </a:p>
        </p:txBody>
      </p:sp>
      <p:sp>
        <p:nvSpPr>
          <p:cNvPr id="22" name="Shape 19"/>
          <p:cNvSpPr/>
          <p:nvPr/>
        </p:nvSpPr>
        <p:spPr>
          <a:xfrm>
            <a:off x="9326880" y="3758184"/>
            <a:ext cx="1078992" cy="420624"/>
          </a:xfrm>
          <a:prstGeom prst="roundRect">
            <a:avLst>
              <a:gd name="adj" fmla="val 50000"/>
            </a:avLst>
          </a:prstGeom>
          <a:solidFill>
            <a:srgbClr val="F3EFE6"/>
          </a:solidFill>
          <a:ln/>
        </p:spPr>
      </p:sp>
      <p:sp>
        <p:nvSpPr>
          <p:cNvPr id="23" name="Text 20"/>
          <p:cNvSpPr txBox="1"/>
          <p:nvPr/>
        </p:nvSpPr>
        <p:spPr>
          <a:xfrm>
            <a:off x="932688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24" name="Shape 21"/>
          <p:cNvSpPr/>
          <p:nvPr/>
        </p:nvSpPr>
        <p:spPr>
          <a:xfrm>
            <a:off x="10515600" y="3758184"/>
            <a:ext cx="1078992" cy="420624"/>
          </a:xfrm>
          <a:prstGeom prst="roundRect">
            <a:avLst>
              <a:gd name="adj" fmla="val 50000"/>
            </a:avLst>
          </a:prstGeom>
          <a:solidFill>
            <a:srgbClr val="F3EFE6"/>
          </a:solidFill>
          <a:ln/>
        </p:spPr>
      </p:sp>
      <p:sp>
        <p:nvSpPr>
          <p:cNvPr id="25" name="Text 22"/>
          <p:cNvSpPr txBox="1"/>
          <p:nvPr/>
        </p:nvSpPr>
        <p:spPr>
          <a:xfrm>
            <a:off x="1051560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6" name="Text 23"/>
          <p:cNvSpPr txBox="1"/>
          <p:nvPr/>
        </p:nvSpPr>
        <p:spPr>
          <a:xfrm>
            <a:off x="548640" y="4443984"/>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4</a:t>
            </a:r>
            <a:endParaRPr lang="en-US" sz="1400" dirty="0"/>
          </a:p>
        </p:txBody>
      </p:sp>
      <p:sp>
        <p:nvSpPr>
          <p:cNvPr id="27" name="Text 24"/>
          <p:cNvSpPr txBox="1"/>
          <p:nvPr/>
        </p:nvSpPr>
        <p:spPr>
          <a:xfrm>
            <a:off x="1097280" y="4443984"/>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Does he works on Saturdays?</a:t>
            </a:r>
            <a:endParaRPr lang="en-US" sz="2800" dirty="0"/>
          </a:p>
        </p:txBody>
      </p:sp>
      <p:sp>
        <p:nvSpPr>
          <p:cNvPr id="28" name="Shape 25"/>
          <p:cNvSpPr/>
          <p:nvPr/>
        </p:nvSpPr>
        <p:spPr>
          <a:xfrm>
            <a:off x="9326880" y="4507992"/>
            <a:ext cx="1078992" cy="420624"/>
          </a:xfrm>
          <a:prstGeom prst="roundRect">
            <a:avLst>
              <a:gd name="adj" fmla="val 50000"/>
            </a:avLst>
          </a:prstGeom>
          <a:solidFill>
            <a:srgbClr val="F3EFE6"/>
          </a:solidFill>
          <a:ln/>
        </p:spPr>
      </p:sp>
      <p:sp>
        <p:nvSpPr>
          <p:cNvPr id="29" name="Text 26"/>
          <p:cNvSpPr txBox="1"/>
          <p:nvPr/>
        </p:nvSpPr>
        <p:spPr>
          <a:xfrm>
            <a:off x="932688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0" name="Shape 27"/>
          <p:cNvSpPr/>
          <p:nvPr/>
        </p:nvSpPr>
        <p:spPr>
          <a:xfrm>
            <a:off x="10515600" y="4507992"/>
            <a:ext cx="1078992" cy="420624"/>
          </a:xfrm>
          <a:prstGeom prst="roundRect">
            <a:avLst>
              <a:gd name="adj" fmla="val 50000"/>
            </a:avLst>
          </a:prstGeom>
          <a:solidFill>
            <a:srgbClr val="F3EFE6"/>
          </a:solidFill>
          <a:ln/>
        </p:spPr>
      </p:sp>
      <p:sp>
        <p:nvSpPr>
          <p:cNvPr id="31" name="Text 28"/>
          <p:cNvSpPr txBox="1"/>
          <p:nvPr/>
        </p:nvSpPr>
        <p:spPr>
          <a:xfrm>
            <a:off x="1051560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32" name="Text 29"/>
          <p:cNvSpPr txBox="1"/>
          <p:nvPr/>
        </p:nvSpPr>
        <p:spPr>
          <a:xfrm>
            <a:off x="548640" y="5193792"/>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5</a:t>
            </a:r>
            <a:endParaRPr lang="en-US" sz="1400" dirty="0"/>
          </a:p>
        </p:txBody>
      </p:sp>
      <p:sp>
        <p:nvSpPr>
          <p:cNvPr id="33" name="Text 30"/>
          <p:cNvSpPr txBox="1"/>
          <p:nvPr/>
        </p:nvSpPr>
        <p:spPr>
          <a:xfrm>
            <a:off x="1097280" y="5193792"/>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 you work at a hospital?</a:t>
            </a:r>
            <a:endParaRPr lang="en-US" sz="2800" dirty="0"/>
          </a:p>
        </p:txBody>
      </p:sp>
      <p:sp>
        <p:nvSpPr>
          <p:cNvPr id="34" name="Shape 31"/>
          <p:cNvSpPr/>
          <p:nvPr/>
        </p:nvSpPr>
        <p:spPr>
          <a:xfrm>
            <a:off x="9326880" y="5257800"/>
            <a:ext cx="1078992" cy="420624"/>
          </a:xfrm>
          <a:prstGeom prst="roundRect">
            <a:avLst>
              <a:gd name="adj" fmla="val 50000"/>
            </a:avLst>
          </a:prstGeom>
          <a:solidFill>
            <a:srgbClr val="F3EFE6"/>
          </a:solidFill>
          <a:ln/>
        </p:spPr>
      </p:sp>
      <p:sp>
        <p:nvSpPr>
          <p:cNvPr id="35" name="Text 32"/>
          <p:cNvSpPr txBox="1"/>
          <p:nvPr/>
        </p:nvSpPr>
        <p:spPr>
          <a:xfrm>
            <a:off x="932688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6" name="Shape 33"/>
          <p:cNvSpPr/>
          <p:nvPr/>
        </p:nvSpPr>
        <p:spPr>
          <a:xfrm>
            <a:off x="10515600" y="5257800"/>
            <a:ext cx="1078992" cy="420624"/>
          </a:xfrm>
          <a:prstGeom prst="roundRect">
            <a:avLst>
              <a:gd name="adj" fmla="val 50000"/>
            </a:avLst>
          </a:prstGeom>
          <a:solidFill>
            <a:srgbClr val="F3EFE6"/>
          </a:solidFill>
          <a:ln/>
        </p:spPr>
      </p:sp>
      <p:sp>
        <p:nvSpPr>
          <p:cNvPr id="37" name="Text 34"/>
          <p:cNvSpPr txBox="1"/>
          <p:nvPr/>
        </p:nvSpPr>
        <p:spPr>
          <a:xfrm>
            <a:off x="1051560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INFORMATION GAP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10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Who is it?</a:t>
            </a:r>
            <a:endParaRPr lang="en-US" sz="4000" dirty="0"/>
          </a:p>
        </p:txBody>
      </p:sp>
      <p:sp>
        <p:nvSpPr>
          <p:cNvPr id="7" name="Shape 4"/>
          <p:cNvSpPr/>
          <p:nvPr/>
        </p:nvSpPr>
        <p:spPr>
          <a:xfrm>
            <a:off x="548640" y="1691640"/>
            <a:ext cx="1280160" cy="1280160"/>
          </a:xfrm>
          <a:prstGeom prst="roundRect">
            <a:avLst>
              <a:gd name="adj" fmla="val 10000"/>
            </a:avLst>
          </a:prstGeom>
          <a:solidFill>
            <a:srgbClr val="F44904"/>
          </a:solidFill>
          <a:ln/>
        </p:spPr>
      </p:sp>
      <p:sp>
        <p:nvSpPr>
          <p:cNvPr id="8" name="Text 5"/>
          <p:cNvSpPr txBox="1"/>
          <p:nvPr/>
        </p:nvSpPr>
        <p:spPr>
          <a:xfrm>
            <a:off x="548640" y="1691640"/>
            <a:ext cx="1280160" cy="1280160"/>
          </a:xfrm>
          <a:prstGeom prst="rect">
            <a:avLst/>
          </a:prstGeom>
          <a:noFill/>
          <a:ln/>
        </p:spPr>
        <p:txBody>
          <a:bodyPr wrap="square" lIns="0" tIns="0" rIns="0" bIns="0" rtlCol="0" anchor="ctr"/>
          <a:lstStyle/>
          <a:p>
            <a:pPr algn="ctr" indent="0" marL="0">
              <a:buNone/>
            </a:pPr>
            <a:r>
              <a:rPr lang="en-US" sz="5600" dirty="0">
                <a:solidFill>
                  <a:srgbClr val="0B1440"/>
                </a:solidFill>
                <a:latin typeface="Poppins ExtraBold" pitchFamily="34" charset="0"/>
                <a:ea typeface="Poppins ExtraBold" pitchFamily="34" charset="-122"/>
                <a:cs typeface="Poppins ExtraBold" pitchFamily="34" charset="-120"/>
              </a:rPr>
              <a:t>S</a:t>
            </a:r>
            <a:endParaRPr lang="en-US" sz="5600" dirty="0"/>
          </a:p>
        </p:txBody>
      </p:sp>
      <p:sp>
        <p:nvSpPr>
          <p:cNvPr id="9" name="Text 6"/>
          <p:cNvSpPr txBox="1"/>
          <p:nvPr/>
        </p:nvSpPr>
        <p:spPr>
          <a:xfrm>
            <a:off x="2057400" y="1845259"/>
            <a:ext cx="3657600" cy="502920"/>
          </a:xfrm>
          <a:prstGeom prst="rect">
            <a:avLst/>
          </a:prstGeom>
          <a:noFill/>
          <a:ln/>
        </p:spPr>
        <p:txBody>
          <a:bodyPr wrap="square" lIns="0" tIns="0" rIns="0" bIns="0" rtlCol="0" anchor="t"/>
          <a:lstStyle/>
          <a:p>
            <a:pPr indent="0" marL="0">
              <a:buNone/>
            </a:pPr>
            <a:r>
              <a:rPr lang="en-US" sz="2800" b="1" dirty="0">
                <a:solidFill>
                  <a:srgbClr val="0B1440"/>
                </a:solidFill>
                <a:latin typeface="Poppins" pitchFamily="34" charset="0"/>
                <a:ea typeface="Poppins" pitchFamily="34" charset="-122"/>
                <a:cs typeface="Poppins" pitchFamily="34" charset="-120"/>
              </a:rPr>
              <a:t>Dr. Sarah</a:t>
            </a:r>
            <a:endParaRPr lang="en-US" sz="2800" dirty="0"/>
          </a:p>
        </p:txBody>
      </p:sp>
      <p:sp>
        <p:nvSpPr>
          <p:cNvPr id="10" name="Text 7"/>
          <p:cNvSpPr txBox="1"/>
          <p:nvPr/>
        </p:nvSpPr>
        <p:spPr>
          <a:xfrm>
            <a:off x="2057400" y="2382926"/>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3291840"/>
            <a:ext cx="45720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You don’t know her day.</a:t>
            </a:r>
            <a:endParaRPr lang="en-US" sz="2400" dirty="0"/>
          </a:p>
        </p:txBody>
      </p:sp>
      <p:sp>
        <p:nvSpPr>
          <p:cNvPr id="12" name="Text 9"/>
          <p:cNvSpPr txBox="1"/>
          <p:nvPr/>
        </p:nvSpPr>
        <p:spPr>
          <a:xfrm>
            <a:off x="548640" y="3749040"/>
            <a:ext cx="4572000" cy="45720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Ask me. Find six things.</a:t>
            </a:r>
            <a:endParaRPr lang="en-US" sz="2200" dirty="0"/>
          </a:p>
        </p:txBody>
      </p:sp>
      <p:sp>
        <p:nvSpPr>
          <p:cNvPr id="13" name="Shape 10"/>
          <p:cNvSpPr/>
          <p:nvPr/>
        </p:nvSpPr>
        <p:spPr>
          <a:xfrm>
            <a:off x="5806440" y="1691640"/>
            <a:ext cx="2743200" cy="1234440"/>
          </a:xfrm>
          <a:prstGeom prst="roundRect">
            <a:avLst>
              <a:gd name="adj" fmla="val 10370"/>
            </a:avLst>
          </a:prstGeom>
          <a:solidFill>
            <a:srgbClr val="F3EFE6"/>
          </a:solidFill>
          <a:ln/>
        </p:spPr>
      </p:sp>
      <p:sp>
        <p:nvSpPr>
          <p:cNvPr id="14" name="Text 11"/>
          <p:cNvSpPr txBox="1"/>
          <p:nvPr/>
        </p:nvSpPr>
        <p:spPr>
          <a:xfrm>
            <a:off x="603504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WHERE?</a:t>
            </a:r>
            <a:endParaRPr lang="en-US" sz="1000" dirty="0"/>
          </a:p>
        </p:txBody>
      </p:sp>
      <p:sp>
        <p:nvSpPr>
          <p:cNvPr id="15" name="Text 12"/>
          <p:cNvSpPr txBox="1"/>
          <p:nvPr/>
        </p:nvSpPr>
        <p:spPr>
          <a:xfrm>
            <a:off x="603504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6" name="Shape 13"/>
          <p:cNvSpPr/>
          <p:nvPr/>
        </p:nvSpPr>
        <p:spPr>
          <a:xfrm>
            <a:off x="8732520" y="1691640"/>
            <a:ext cx="2743200" cy="1234440"/>
          </a:xfrm>
          <a:prstGeom prst="roundRect">
            <a:avLst>
              <a:gd name="adj" fmla="val 10370"/>
            </a:avLst>
          </a:prstGeom>
          <a:solidFill>
            <a:srgbClr val="F3EFE6"/>
          </a:solidFill>
          <a:ln/>
        </p:spPr>
      </p:sp>
      <p:sp>
        <p:nvSpPr>
          <p:cNvPr id="17" name="Text 14"/>
          <p:cNvSpPr txBox="1"/>
          <p:nvPr/>
        </p:nvSpPr>
        <p:spPr>
          <a:xfrm>
            <a:off x="896112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START?</a:t>
            </a:r>
            <a:endParaRPr lang="en-US" sz="1000" dirty="0"/>
          </a:p>
        </p:txBody>
      </p:sp>
      <p:sp>
        <p:nvSpPr>
          <p:cNvPr id="18" name="Text 15"/>
          <p:cNvSpPr txBox="1"/>
          <p:nvPr/>
        </p:nvSpPr>
        <p:spPr>
          <a:xfrm>
            <a:off x="896112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9" name="Shape 16"/>
          <p:cNvSpPr/>
          <p:nvPr/>
        </p:nvSpPr>
        <p:spPr>
          <a:xfrm>
            <a:off x="5806440" y="3108960"/>
            <a:ext cx="2743200" cy="1234440"/>
          </a:xfrm>
          <a:prstGeom prst="roundRect">
            <a:avLst>
              <a:gd name="adj" fmla="val 10370"/>
            </a:avLst>
          </a:prstGeom>
          <a:solidFill>
            <a:srgbClr val="F3EFE6"/>
          </a:solidFill>
          <a:ln/>
        </p:spPr>
      </p:sp>
      <p:sp>
        <p:nvSpPr>
          <p:cNvPr id="20" name="Text 17"/>
          <p:cNvSpPr txBox="1"/>
          <p:nvPr/>
        </p:nvSpPr>
        <p:spPr>
          <a:xfrm>
            <a:off x="603504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PATIENTS A DAY?</a:t>
            </a:r>
            <a:endParaRPr lang="en-US" sz="1000" dirty="0"/>
          </a:p>
        </p:txBody>
      </p:sp>
      <p:sp>
        <p:nvSpPr>
          <p:cNvPr id="21" name="Text 18"/>
          <p:cNvSpPr txBox="1"/>
          <p:nvPr/>
        </p:nvSpPr>
        <p:spPr>
          <a:xfrm>
            <a:off x="603504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2" name="Shape 19"/>
          <p:cNvSpPr/>
          <p:nvPr/>
        </p:nvSpPr>
        <p:spPr>
          <a:xfrm>
            <a:off x="8732520" y="3108960"/>
            <a:ext cx="2743200" cy="1234440"/>
          </a:xfrm>
          <a:prstGeom prst="roundRect">
            <a:avLst>
              <a:gd name="adj" fmla="val 10370"/>
            </a:avLst>
          </a:prstGeom>
          <a:solidFill>
            <a:srgbClr val="F3EFE6"/>
          </a:solidFill>
          <a:ln/>
        </p:spPr>
      </p:sp>
      <p:sp>
        <p:nvSpPr>
          <p:cNvPr id="23" name="Text 20"/>
          <p:cNvSpPr txBox="1"/>
          <p:nvPr/>
        </p:nvSpPr>
        <p:spPr>
          <a:xfrm>
            <a:off x="896112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SUNDAYS?</a:t>
            </a:r>
            <a:endParaRPr lang="en-US" sz="1000" dirty="0"/>
          </a:p>
        </p:txBody>
      </p:sp>
      <p:sp>
        <p:nvSpPr>
          <p:cNvPr id="24" name="Text 21"/>
          <p:cNvSpPr txBox="1"/>
          <p:nvPr/>
        </p:nvSpPr>
        <p:spPr>
          <a:xfrm>
            <a:off x="896112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5" name="Shape 22"/>
          <p:cNvSpPr/>
          <p:nvPr/>
        </p:nvSpPr>
        <p:spPr>
          <a:xfrm>
            <a:off x="5806440" y="4526280"/>
            <a:ext cx="2743200" cy="1234440"/>
          </a:xfrm>
          <a:prstGeom prst="roundRect">
            <a:avLst>
              <a:gd name="adj" fmla="val 10370"/>
            </a:avLst>
          </a:prstGeom>
          <a:solidFill>
            <a:srgbClr val="F3EFE6"/>
          </a:solidFill>
          <a:ln/>
        </p:spPr>
      </p:sp>
      <p:sp>
        <p:nvSpPr>
          <p:cNvPr id="26" name="Text 23"/>
          <p:cNvSpPr txBox="1"/>
          <p:nvPr/>
        </p:nvSpPr>
        <p:spPr>
          <a:xfrm>
            <a:off x="603504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LUNCH?</a:t>
            </a:r>
            <a:endParaRPr lang="en-US" sz="1000" dirty="0"/>
          </a:p>
        </p:txBody>
      </p:sp>
      <p:sp>
        <p:nvSpPr>
          <p:cNvPr id="27" name="Text 24"/>
          <p:cNvSpPr txBox="1"/>
          <p:nvPr/>
        </p:nvSpPr>
        <p:spPr>
          <a:xfrm>
            <a:off x="603504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8" name="Shape 25"/>
          <p:cNvSpPr/>
          <p:nvPr/>
        </p:nvSpPr>
        <p:spPr>
          <a:xfrm>
            <a:off x="8732520" y="4526280"/>
            <a:ext cx="2743200" cy="1234440"/>
          </a:xfrm>
          <a:prstGeom prst="roundRect">
            <a:avLst>
              <a:gd name="adj" fmla="val 10370"/>
            </a:avLst>
          </a:prstGeom>
          <a:solidFill>
            <a:srgbClr val="F3EFE6"/>
          </a:solidFill>
          <a:ln/>
        </p:spPr>
      </p:sp>
      <p:sp>
        <p:nvSpPr>
          <p:cNvPr id="29" name="Text 26"/>
          <p:cNvSpPr txBox="1"/>
          <p:nvPr/>
        </p:nvSpPr>
        <p:spPr>
          <a:xfrm>
            <a:off x="896112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FINISH?</a:t>
            </a:r>
            <a:endParaRPr lang="en-US" sz="1000" dirty="0"/>
          </a:p>
        </p:txBody>
      </p:sp>
      <p:sp>
        <p:nvSpPr>
          <p:cNvPr id="30" name="Text 27"/>
          <p:cNvSpPr txBox="1"/>
          <p:nvPr/>
        </p:nvSpPr>
        <p:spPr>
          <a:xfrm>
            <a:off x="896112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11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Ask the questions</a:t>
            </a:r>
            <a:endParaRPr lang="en-US" sz="4000" dirty="0"/>
          </a:p>
        </p:txBody>
      </p:sp>
      <p:sp>
        <p:nvSpPr>
          <p:cNvPr id="7" name="Shape 4"/>
          <p:cNvSpPr/>
          <p:nvPr/>
        </p:nvSpPr>
        <p:spPr>
          <a:xfrm>
            <a:off x="8549640" y="731520"/>
            <a:ext cx="868680" cy="868680"/>
          </a:xfrm>
          <a:prstGeom prst="roundRect">
            <a:avLst>
              <a:gd name="adj" fmla="val 14737"/>
            </a:avLst>
          </a:prstGeom>
          <a:solidFill>
            <a:srgbClr val="F44904"/>
          </a:solidFill>
          <a:ln/>
        </p:spPr>
      </p:sp>
      <p:sp>
        <p:nvSpPr>
          <p:cNvPr id="8" name="Text 5"/>
          <p:cNvSpPr txBox="1"/>
          <p:nvPr/>
        </p:nvSpPr>
        <p:spPr>
          <a:xfrm>
            <a:off x="8549640"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9646920" y="835762"/>
            <a:ext cx="1993392"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9646920" y="1200607"/>
            <a:ext cx="1993392"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783080"/>
            <a:ext cx="7772400" cy="502920"/>
          </a:xfrm>
          <a:prstGeom prst="rect">
            <a:avLst/>
          </a:prstGeom>
          <a:noFill/>
          <a:ln/>
        </p:spPr>
        <p:txBody>
          <a:bodyPr wrap="square" lIns="0" tIns="0" rIns="0" bIns="0" rtlCol="0" anchor="ctr"/>
          <a:lstStyle/>
          <a:p>
            <a:pPr indent="0" marL="0">
              <a:buNone/>
            </a:pPr>
            <a:r>
              <a:rPr lang="en-US" sz="2500" dirty="0">
                <a:solidFill>
                  <a:srgbClr val="0B1440"/>
                </a:solidFill>
                <a:latin typeface="Poppins SemiBold" pitchFamily="34" charset="0"/>
                <a:ea typeface="Poppins SemiBold" pitchFamily="34" charset="-122"/>
                <a:cs typeface="Poppins SemiBold" pitchFamily="34" charset="-120"/>
              </a:rPr>
              <a:t>Where </a:t>
            </a: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work?</a:t>
            </a:r>
            <a:endParaRPr lang="en-US" sz="2500" dirty="0"/>
          </a:p>
        </p:txBody>
      </p:sp>
      <p:sp>
        <p:nvSpPr>
          <p:cNvPr id="12" name="Text 9"/>
          <p:cNvSpPr txBox="1"/>
          <p:nvPr/>
        </p:nvSpPr>
        <p:spPr>
          <a:xfrm>
            <a:off x="548640" y="2386584"/>
            <a:ext cx="7772400" cy="502920"/>
          </a:xfrm>
          <a:prstGeom prst="rect">
            <a:avLst/>
          </a:prstGeom>
          <a:noFill/>
          <a:ln/>
        </p:spPr>
        <p:txBody>
          <a:bodyPr wrap="square" lIns="0" tIns="0" rIns="0" bIns="0" rtlCol="0" anchor="ctr"/>
          <a:lstStyle/>
          <a:p>
            <a:pPr indent="0" marL="0">
              <a:buNone/>
            </a:pPr>
            <a:r>
              <a:rPr lang="en-US" sz="2500" dirty="0">
                <a:solidFill>
                  <a:srgbClr val="0B1440"/>
                </a:solidFill>
                <a:latin typeface="Poppins SemiBold" pitchFamily="34" charset="0"/>
                <a:ea typeface="Poppins SemiBold" pitchFamily="34" charset="-122"/>
                <a:cs typeface="Poppins SemiBold" pitchFamily="34" charset="-120"/>
              </a:rPr>
              <a:t>What time </a:t>
            </a: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start?</a:t>
            </a:r>
            <a:endParaRPr lang="en-US" sz="2500" dirty="0"/>
          </a:p>
        </p:txBody>
      </p:sp>
      <p:sp>
        <p:nvSpPr>
          <p:cNvPr id="13" name="Text 10"/>
          <p:cNvSpPr txBox="1"/>
          <p:nvPr/>
        </p:nvSpPr>
        <p:spPr>
          <a:xfrm>
            <a:off x="548640" y="2990088"/>
            <a:ext cx="7772400" cy="502920"/>
          </a:xfrm>
          <a:prstGeom prst="rect">
            <a:avLst/>
          </a:prstGeom>
          <a:noFill/>
          <a:ln/>
        </p:spPr>
        <p:txBody>
          <a:bodyPr wrap="square" lIns="0" tIns="0" rIns="0" bIns="0" rtlCol="0" anchor="ctr"/>
          <a:lstStyle/>
          <a:p>
            <a:pPr indent="0" marL="0">
              <a:buNone/>
            </a:pPr>
            <a:r>
              <a:rPr lang="en-US" sz="2500" dirty="0">
                <a:solidFill>
                  <a:srgbClr val="0B1440"/>
                </a:solidFill>
                <a:latin typeface="Poppins SemiBold" pitchFamily="34" charset="0"/>
                <a:ea typeface="Poppins SemiBold" pitchFamily="34" charset="-122"/>
                <a:cs typeface="Poppins SemiBold" pitchFamily="34" charset="-120"/>
              </a:rPr>
              <a:t>How many patients </a:t>
            </a: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see?</a:t>
            </a:r>
            <a:endParaRPr lang="en-US" sz="2500" dirty="0"/>
          </a:p>
        </p:txBody>
      </p:sp>
      <p:sp>
        <p:nvSpPr>
          <p:cNvPr id="14" name="Text 11"/>
          <p:cNvSpPr txBox="1"/>
          <p:nvPr/>
        </p:nvSpPr>
        <p:spPr>
          <a:xfrm>
            <a:off x="548640" y="3593592"/>
            <a:ext cx="7772400" cy="502920"/>
          </a:xfrm>
          <a:prstGeom prst="rect">
            <a:avLst/>
          </a:prstGeom>
          <a:noFill/>
          <a:ln/>
        </p:spPr>
        <p:txBody>
          <a:bodyPr wrap="square" lIns="0" tIns="0" rIns="0" bIns="0" rtlCol="0" anchor="ctr"/>
          <a:lstStyle/>
          <a:p>
            <a:pPr indent="0" marL="0">
              <a:buNone/>
            </a:pP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work on Sundays?</a:t>
            </a:r>
            <a:endParaRPr lang="en-US" sz="2500" dirty="0"/>
          </a:p>
        </p:txBody>
      </p:sp>
      <p:sp>
        <p:nvSpPr>
          <p:cNvPr id="15" name="Text 12"/>
          <p:cNvSpPr txBox="1"/>
          <p:nvPr/>
        </p:nvSpPr>
        <p:spPr>
          <a:xfrm>
            <a:off x="548640" y="4197096"/>
            <a:ext cx="7772400" cy="502920"/>
          </a:xfrm>
          <a:prstGeom prst="rect">
            <a:avLst/>
          </a:prstGeom>
          <a:noFill/>
          <a:ln/>
        </p:spPr>
        <p:txBody>
          <a:bodyPr wrap="square" lIns="0" tIns="0" rIns="0" bIns="0" rtlCol="0" anchor="ctr"/>
          <a:lstStyle/>
          <a:p>
            <a:pPr indent="0" marL="0">
              <a:buNone/>
            </a:pPr>
            <a:r>
              <a:rPr lang="en-US" sz="2500" dirty="0">
                <a:solidFill>
                  <a:srgbClr val="0B1440"/>
                </a:solidFill>
                <a:latin typeface="Poppins SemiBold" pitchFamily="34" charset="0"/>
                <a:ea typeface="Poppins SemiBold" pitchFamily="34" charset="-122"/>
                <a:cs typeface="Poppins SemiBold" pitchFamily="34" charset="-120"/>
              </a:rPr>
              <a:t>What time </a:t>
            </a: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have lunch?</a:t>
            </a:r>
            <a:endParaRPr lang="en-US" sz="2500" dirty="0"/>
          </a:p>
        </p:txBody>
      </p:sp>
      <p:sp>
        <p:nvSpPr>
          <p:cNvPr id="16" name="Text 13"/>
          <p:cNvSpPr txBox="1"/>
          <p:nvPr/>
        </p:nvSpPr>
        <p:spPr>
          <a:xfrm>
            <a:off x="548640" y="4800600"/>
            <a:ext cx="7772400" cy="502920"/>
          </a:xfrm>
          <a:prstGeom prst="rect">
            <a:avLst/>
          </a:prstGeom>
          <a:noFill/>
          <a:ln/>
        </p:spPr>
        <p:txBody>
          <a:bodyPr wrap="square" lIns="0" tIns="0" rIns="0" bIns="0" rtlCol="0" anchor="ctr"/>
          <a:lstStyle/>
          <a:p>
            <a:pPr indent="0" marL="0">
              <a:buNone/>
            </a:pPr>
            <a:r>
              <a:rPr lang="en-US" sz="2500" dirty="0">
                <a:solidFill>
                  <a:srgbClr val="0B1440"/>
                </a:solidFill>
                <a:latin typeface="Poppins SemiBold" pitchFamily="34" charset="0"/>
                <a:ea typeface="Poppins SemiBold" pitchFamily="34" charset="-122"/>
                <a:cs typeface="Poppins SemiBold" pitchFamily="34" charset="-120"/>
              </a:rPr>
              <a:t>What time </a:t>
            </a:r>
            <a:pPr indent="0" marL="0">
              <a:buNone/>
            </a:pPr>
            <a:r>
              <a:rPr lang="en-US" sz="25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500" dirty="0">
                <a:solidFill>
                  <a:srgbClr val="0B1440"/>
                </a:solidFill>
                <a:latin typeface="Poppins SemiBold" pitchFamily="34" charset="0"/>
                <a:ea typeface="Poppins SemiBold" pitchFamily="34" charset="-122"/>
                <a:cs typeface="Poppins SemiBold" pitchFamily="34" charset="-120"/>
              </a:rPr>
              <a:t> she finish?</a:t>
            </a:r>
            <a:endParaRPr lang="en-US" sz="2500" dirty="0"/>
          </a:p>
        </p:txBody>
      </p:sp>
      <p:sp>
        <p:nvSpPr>
          <p:cNvPr id="17" name="Shape 14"/>
          <p:cNvSpPr/>
          <p:nvPr/>
        </p:nvSpPr>
        <p:spPr>
          <a:xfrm>
            <a:off x="8549640" y="2011680"/>
            <a:ext cx="3090672" cy="2468880"/>
          </a:xfrm>
          <a:prstGeom prst="roundRect">
            <a:avLst>
              <a:gd name="adj" fmla="val 5185"/>
            </a:avLst>
          </a:prstGeom>
          <a:solidFill>
            <a:srgbClr val="F3EFE6"/>
          </a:solidFill>
          <a:ln/>
        </p:spPr>
      </p:sp>
      <p:sp>
        <p:nvSpPr>
          <p:cNvPr id="18" name="Text 15"/>
          <p:cNvSpPr txBox="1"/>
          <p:nvPr/>
        </p:nvSpPr>
        <p:spPr>
          <a:xfrm>
            <a:off x="882396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SHORT ANSWERS</a:t>
            </a:r>
            <a:endParaRPr lang="en-US" sz="1100" dirty="0"/>
          </a:p>
        </p:txBody>
      </p:sp>
      <p:sp>
        <p:nvSpPr>
          <p:cNvPr id="19" name="Text 16"/>
          <p:cNvSpPr txBox="1"/>
          <p:nvPr/>
        </p:nvSpPr>
        <p:spPr>
          <a:xfrm>
            <a:off x="8823960" y="2606040"/>
            <a:ext cx="2651760" cy="822960"/>
          </a:xfrm>
          <a:prstGeom prst="rect">
            <a:avLst/>
          </a:prstGeom>
          <a:noFill/>
          <a:ln/>
        </p:spPr>
        <p:txBody>
          <a:bodyPr wrap="square" lIns="0" tIns="0" rIns="0" bIns="0" rtlCol="0" anchor="t"/>
          <a:lstStyle/>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Yes, she does.</a:t>
            </a:r>
            <a:endParaRPr lang="en-US" sz="1900" dirty="0"/>
          </a:p>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No, she doesn’t.</a:t>
            </a:r>
            <a:endParaRPr lang="en-US" sz="1900" dirty="0"/>
          </a:p>
        </p:txBody>
      </p:sp>
      <p:sp>
        <p:nvSpPr>
          <p:cNvPr id="20" name="Text 17"/>
          <p:cNvSpPr txBox="1"/>
          <p:nvPr/>
        </p:nvSpPr>
        <p:spPr>
          <a:xfrm>
            <a:off x="8823960" y="3566160"/>
            <a:ext cx="18288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THEN</a:t>
            </a:r>
            <a:endParaRPr lang="en-US" sz="1100" dirty="0"/>
          </a:p>
        </p:txBody>
      </p:sp>
      <p:sp>
        <p:nvSpPr>
          <p:cNvPr id="21" name="Text 18"/>
          <p:cNvSpPr txBox="1"/>
          <p:nvPr/>
        </p:nvSpPr>
        <p:spPr>
          <a:xfrm>
            <a:off x="8823960" y="3840480"/>
            <a:ext cx="2651760" cy="548640"/>
          </a:xfrm>
          <a:prstGeom prst="rect">
            <a:avLst/>
          </a:prstGeom>
          <a:noFill/>
          <a:ln/>
        </p:spPr>
        <p:txBody>
          <a:bodyPr wrap="square" lIns="0" tIns="0" rIns="0" bIns="0" rtlCol="0" anchor="t"/>
          <a:lstStyle/>
          <a:p>
            <a:pPr indent="0" marL="0">
              <a:buNone/>
            </a:pPr>
            <a:r>
              <a:rPr lang="en-US" sz="1600" dirty="0">
                <a:solidFill>
                  <a:srgbClr val="0B1440"/>
                </a:solidFill>
                <a:latin typeface="Hanken Grotesk" pitchFamily="34" charset="0"/>
                <a:ea typeface="Hanken Grotesk" pitchFamily="34" charset="-122"/>
                <a:cs typeface="Hanken Grotesk" pitchFamily="34" charset="-120"/>
              </a:rPr>
              <a:t>Tell me about Dr. Sarah.</a:t>
            </a:r>
            <a:endParaRPr lang="en-US" sz="1600" dirty="0"/>
          </a:p>
        </p:txBody>
      </p:sp>
      <p:sp>
        <p:nvSpPr>
          <p:cNvPr id="22" name="Text 19"/>
          <p:cNvSpPr txBox="1"/>
          <p:nvPr/>
        </p:nvSpPr>
        <p:spPr>
          <a:xfrm>
            <a:off x="548640" y="5532120"/>
            <a:ext cx="82296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She work</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 in…  She start</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 at…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07 · SAY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12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He works.</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NOTICE</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LISTEN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REPEAT</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USE</a:t>
            </a:r>
            <a:endParaRPr lang="en-US" sz="1200" dirty="0"/>
          </a:p>
        </p:txBody>
      </p:sp>
      <p:sp>
        <p:nvSpPr>
          <p:cNvPr id="8" name="Shape 5"/>
          <p:cNvSpPr/>
          <p:nvPr/>
        </p:nvSpPr>
        <p:spPr>
          <a:xfrm>
            <a:off x="548640" y="2103120"/>
            <a:ext cx="3520440" cy="3017520"/>
          </a:xfrm>
          <a:prstGeom prst="roundRect">
            <a:avLst>
              <a:gd name="adj" fmla="val 4242"/>
            </a:avLst>
          </a:prstGeom>
          <a:solidFill>
            <a:srgbClr val="F3EFE6"/>
          </a:solidFill>
          <a:ln/>
        </p:spPr>
      </p:sp>
      <p:sp>
        <p:nvSpPr>
          <p:cNvPr id="9" name="Text 6"/>
          <p:cNvSpPr txBox="1"/>
          <p:nvPr/>
        </p:nvSpPr>
        <p:spPr>
          <a:xfrm>
            <a:off x="82296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work</a:t>
            </a:r>
            <a:endParaRPr lang="en-US" sz="2000" dirty="0"/>
          </a:p>
        </p:txBody>
      </p:sp>
      <p:sp>
        <p:nvSpPr>
          <p:cNvPr id="10" name="Text 7"/>
          <p:cNvSpPr txBox="1"/>
          <p:nvPr/>
        </p:nvSpPr>
        <p:spPr>
          <a:xfrm>
            <a:off x="82296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work</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1" name="Shape 8"/>
          <p:cNvSpPr/>
          <p:nvPr/>
        </p:nvSpPr>
        <p:spPr>
          <a:xfrm>
            <a:off x="822960" y="3566160"/>
            <a:ext cx="685800" cy="384048"/>
          </a:xfrm>
          <a:prstGeom prst="roundRect">
            <a:avLst>
              <a:gd name="adj" fmla="val 50000"/>
            </a:avLst>
          </a:prstGeom>
          <a:solidFill>
            <a:srgbClr val="0B1440"/>
          </a:solidFill>
          <a:ln/>
        </p:spPr>
      </p:sp>
      <p:sp>
        <p:nvSpPr>
          <p:cNvPr id="12" name="Text 9"/>
          <p:cNvSpPr txBox="1"/>
          <p:nvPr/>
        </p:nvSpPr>
        <p:spPr>
          <a:xfrm>
            <a:off x="82296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/s/</a:t>
            </a:r>
            <a:endParaRPr lang="en-US" sz="1200" dirty="0"/>
          </a:p>
        </p:txBody>
      </p:sp>
      <p:sp>
        <p:nvSpPr>
          <p:cNvPr id="13" name="Text 10"/>
          <p:cNvSpPr txBox="1"/>
          <p:nvPr/>
        </p:nvSpPr>
        <p:spPr>
          <a:xfrm>
            <a:off x="82296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works at night.</a:t>
            </a:r>
            <a:endParaRPr lang="en-US" sz="1800" dirty="0"/>
          </a:p>
        </p:txBody>
      </p:sp>
      <p:sp>
        <p:nvSpPr>
          <p:cNvPr id="14" name="Shape 11"/>
          <p:cNvSpPr/>
          <p:nvPr/>
        </p:nvSpPr>
        <p:spPr>
          <a:xfrm>
            <a:off x="4297680" y="2103120"/>
            <a:ext cx="3520440" cy="3017520"/>
          </a:xfrm>
          <a:prstGeom prst="roundRect">
            <a:avLst>
              <a:gd name="adj" fmla="val 4242"/>
            </a:avLst>
          </a:prstGeom>
          <a:solidFill>
            <a:srgbClr val="F3EFE6"/>
          </a:solidFill>
          <a:ln/>
        </p:spPr>
      </p:sp>
      <p:sp>
        <p:nvSpPr>
          <p:cNvPr id="15" name="Text 12"/>
          <p:cNvSpPr txBox="1"/>
          <p:nvPr/>
        </p:nvSpPr>
        <p:spPr>
          <a:xfrm>
            <a:off x="457200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live</a:t>
            </a:r>
            <a:endParaRPr lang="en-US" sz="2000" dirty="0"/>
          </a:p>
        </p:txBody>
      </p:sp>
      <p:sp>
        <p:nvSpPr>
          <p:cNvPr id="16" name="Text 13"/>
          <p:cNvSpPr txBox="1"/>
          <p:nvPr/>
        </p:nvSpPr>
        <p:spPr>
          <a:xfrm>
            <a:off x="457200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live</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7" name="Shape 14"/>
          <p:cNvSpPr/>
          <p:nvPr/>
        </p:nvSpPr>
        <p:spPr>
          <a:xfrm>
            <a:off x="4572000" y="3566160"/>
            <a:ext cx="685800" cy="384048"/>
          </a:xfrm>
          <a:prstGeom prst="roundRect">
            <a:avLst>
              <a:gd name="adj" fmla="val 50000"/>
            </a:avLst>
          </a:prstGeom>
          <a:solidFill>
            <a:srgbClr val="0B1440"/>
          </a:solidFill>
          <a:ln/>
        </p:spPr>
      </p:sp>
      <p:sp>
        <p:nvSpPr>
          <p:cNvPr id="18" name="Text 15"/>
          <p:cNvSpPr txBox="1"/>
          <p:nvPr/>
        </p:nvSpPr>
        <p:spPr>
          <a:xfrm>
            <a:off x="457200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/z/</a:t>
            </a:r>
            <a:endParaRPr lang="en-US" sz="1200" dirty="0"/>
          </a:p>
        </p:txBody>
      </p:sp>
      <p:sp>
        <p:nvSpPr>
          <p:cNvPr id="19" name="Text 16"/>
          <p:cNvSpPr txBox="1"/>
          <p:nvPr/>
        </p:nvSpPr>
        <p:spPr>
          <a:xfrm>
            <a:off x="457200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She lives in Brazil.</a:t>
            </a:r>
            <a:endParaRPr lang="en-US" sz="1800" dirty="0"/>
          </a:p>
        </p:txBody>
      </p:sp>
      <p:sp>
        <p:nvSpPr>
          <p:cNvPr id="20" name="Shape 17"/>
          <p:cNvSpPr/>
          <p:nvPr/>
        </p:nvSpPr>
        <p:spPr>
          <a:xfrm>
            <a:off x="8046720" y="2103120"/>
            <a:ext cx="3520440" cy="3017520"/>
          </a:xfrm>
          <a:prstGeom prst="roundRect">
            <a:avLst>
              <a:gd name="adj" fmla="val 4242"/>
            </a:avLst>
          </a:prstGeom>
          <a:solidFill>
            <a:srgbClr val="F3EFE6"/>
          </a:solidFill>
          <a:ln/>
        </p:spPr>
      </p:sp>
      <p:sp>
        <p:nvSpPr>
          <p:cNvPr id="21" name="Text 18"/>
          <p:cNvSpPr txBox="1"/>
          <p:nvPr/>
        </p:nvSpPr>
        <p:spPr>
          <a:xfrm>
            <a:off x="832104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watch</a:t>
            </a:r>
            <a:endParaRPr lang="en-US" sz="2000" dirty="0"/>
          </a:p>
        </p:txBody>
      </p:sp>
      <p:sp>
        <p:nvSpPr>
          <p:cNvPr id="22" name="Text 19"/>
          <p:cNvSpPr txBox="1"/>
          <p:nvPr/>
        </p:nvSpPr>
        <p:spPr>
          <a:xfrm>
            <a:off x="832104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watch</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es</a:t>
            </a:r>
            <a:endParaRPr lang="en-US" sz="4000" dirty="0"/>
          </a:p>
        </p:txBody>
      </p:sp>
      <p:sp>
        <p:nvSpPr>
          <p:cNvPr id="23" name="Shape 20"/>
          <p:cNvSpPr/>
          <p:nvPr/>
        </p:nvSpPr>
        <p:spPr>
          <a:xfrm>
            <a:off x="8321040" y="3566160"/>
            <a:ext cx="685800" cy="384048"/>
          </a:xfrm>
          <a:prstGeom prst="roundRect">
            <a:avLst>
              <a:gd name="adj" fmla="val 50000"/>
            </a:avLst>
          </a:prstGeom>
          <a:solidFill>
            <a:srgbClr val="0B1440"/>
          </a:solidFill>
          <a:ln/>
        </p:spPr>
      </p:sp>
      <p:sp>
        <p:nvSpPr>
          <p:cNvPr id="24" name="Text 21"/>
          <p:cNvSpPr txBox="1"/>
          <p:nvPr/>
        </p:nvSpPr>
        <p:spPr>
          <a:xfrm>
            <a:off x="832104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/iz/</a:t>
            </a:r>
            <a:endParaRPr lang="en-US" sz="1200" dirty="0"/>
          </a:p>
        </p:txBody>
      </p:sp>
      <p:sp>
        <p:nvSpPr>
          <p:cNvPr id="25" name="Text 22"/>
          <p:cNvSpPr txBox="1"/>
          <p:nvPr/>
        </p:nvSpPr>
        <p:spPr>
          <a:xfrm>
            <a:off x="832104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watches TV after work.</a:t>
            </a:r>
            <a:endParaRPr lang="en-US" sz="1800" dirty="0"/>
          </a:p>
        </p:txBody>
      </p:sp>
      <p:sp>
        <p:nvSpPr>
          <p:cNvPr id="26" name="Text 23"/>
          <p:cNvSpPr txBox="1"/>
          <p:nvPr/>
        </p:nvSpPr>
        <p:spPr>
          <a:xfrm>
            <a:off x="548640" y="5486400"/>
            <a:ext cx="9144000" cy="457200"/>
          </a:xfrm>
          <a:prstGeom prst="rect">
            <a:avLst/>
          </a:prstGeom>
          <a:noFill/>
          <a:ln/>
        </p:spPr>
        <p:txBody>
          <a:bodyPr wrap="square" lIns="0" tIns="0" rIns="0" bIns="0" rtlCol="0" anchor="t"/>
          <a:lstStyle/>
          <a:p>
            <a:pPr indent="0" marL="0">
              <a:buNone/>
            </a:pPr>
            <a:r>
              <a:rPr lang="en-US" sz="1200" dirty="0">
                <a:solidFill>
                  <a:srgbClr val="F44904"/>
                </a:solidFill>
                <a:latin typeface="JetBrains Mono Medium" pitchFamily="34" charset="0"/>
                <a:ea typeface="JetBrains Mono Medium" pitchFamily="34" charset="-122"/>
                <a:cs typeface="JetBrains Mono Medium" pitchFamily="34" charset="-120"/>
              </a:rPr>
              <a:t>USE  </a:t>
            </a:r>
            <a:pPr indent="0" marL="0">
              <a:buNone/>
            </a:pPr>
            <a:r>
              <a:rPr lang="en-US" sz="2200" dirty="0">
                <a:solidFill>
                  <a:srgbClr val="0B1440"/>
                </a:solidFill>
                <a:latin typeface="Poppins SemiBold" pitchFamily="34" charset="0"/>
                <a:ea typeface="Poppins SemiBold" pitchFamily="34" charset="-122"/>
                <a:cs typeface="Poppins SemiBold" pitchFamily="34" charset="-120"/>
              </a:rPr>
              <a:t>Tell me about a friend or a colleague.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Doctor vs. Doctor</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Shape 5"/>
          <p:cNvSpPr/>
          <p:nvPr/>
        </p:nvSpPr>
        <p:spPr>
          <a:xfrm>
            <a:off x="548640" y="2240280"/>
            <a:ext cx="1188720" cy="1188720"/>
          </a:xfrm>
          <a:prstGeom prst="roundRect">
            <a:avLst>
              <a:gd name="adj" fmla="val 10769"/>
            </a:avLst>
          </a:prstGeom>
          <a:solidFill>
            <a:srgbClr val="F3EFE6"/>
          </a:solidFill>
          <a:ln w="19050">
            <a:solidFill>
              <a:srgbClr val="0B1440"/>
            </a:solidFill>
            <a:prstDash val="solid"/>
          </a:ln>
        </p:spPr>
      </p:sp>
      <p:sp>
        <p:nvSpPr>
          <p:cNvPr id="9" name="Text 6"/>
          <p:cNvSpPr txBox="1"/>
          <p:nvPr/>
        </p:nvSpPr>
        <p:spPr>
          <a:xfrm>
            <a:off x="548640" y="2240280"/>
            <a:ext cx="1188720" cy="1188720"/>
          </a:xfrm>
          <a:prstGeom prst="rect">
            <a:avLst/>
          </a:prstGeom>
          <a:noFill/>
          <a:ln/>
        </p:spPr>
        <p:txBody>
          <a:bodyPr wrap="square" lIns="0" tIns="0" rIns="0" bIns="0" rtlCol="0" anchor="ctr"/>
          <a:lstStyle/>
          <a:p>
            <a:pPr algn="ctr" indent="0" marL="0">
              <a:buNone/>
            </a:pPr>
            <a:r>
              <a:rPr lang="en-US" sz="5200" dirty="0">
                <a:solidFill>
                  <a:srgbClr val="0B1440"/>
                </a:solidFill>
                <a:latin typeface="Poppins ExtraBold" pitchFamily="34" charset="0"/>
                <a:ea typeface="Poppins ExtraBold" pitchFamily="34" charset="-122"/>
                <a:cs typeface="Poppins ExtraBold" pitchFamily="34" charset="-120"/>
              </a:rPr>
              <a:t>B</a:t>
            </a:r>
            <a:endParaRPr lang="en-US" sz="5200" dirty="0"/>
          </a:p>
        </p:txBody>
      </p:sp>
      <p:sp>
        <p:nvSpPr>
          <p:cNvPr id="10" name="Text 7"/>
          <p:cNvSpPr txBox="1"/>
          <p:nvPr/>
        </p:nvSpPr>
        <p:spPr>
          <a:xfrm>
            <a:off x="1965960" y="2382926"/>
            <a:ext cx="3657600" cy="502920"/>
          </a:xfrm>
          <a:prstGeom prst="rect">
            <a:avLst/>
          </a:prstGeom>
          <a:noFill/>
          <a:ln/>
        </p:spPr>
        <p:txBody>
          <a:bodyPr wrap="square" lIns="0" tIns="0" rIns="0" bIns="0" rtlCol="0" anchor="t"/>
          <a:lstStyle/>
          <a:p>
            <a:pPr indent="0" marL="0">
              <a:buNone/>
            </a:pPr>
            <a:r>
              <a:rPr lang="en-US" sz="2600" b="1" dirty="0">
                <a:solidFill>
                  <a:srgbClr val="0B1440"/>
                </a:solidFill>
                <a:latin typeface="Poppins" pitchFamily="34" charset="0"/>
                <a:ea typeface="Poppins" pitchFamily="34" charset="-122"/>
                <a:cs typeface="Poppins" pitchFamily="34" charset="-120"/>
              </a:rPr>
              <a:t>Dr. Ben</a:t>
            </a:r>
            <a:endParaRPr lang="en-US" sz="2600" dirty="0"/>
          </a:p>
        </p:txBody>
      </p:sp>
      <p:sp>
        <p:nvSpPr>
          <p:cNvPr id="11" name="Text 8"/>
          <p:cNvSpPr txBox="1"/>
          <p:nvPr/>
        </p:nvSpPr>
        <p:spPr>
          <a:xfrm>
            <a:off x="1965960" y="2882189"/>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2" name="Text 9"/>
          <p:cNvSpPr txBox="1"/>
          <p:nvPr/>
        </p:nvSpPr>
        <p:spPr>
          <a:xfrm>
            <a:off x="548640" y="3749040"/>
            <a:ext cx="438912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Ask me about Dr. Ben.</a:t>
            </a:r>
            <a:endParaRPr lang="en-US" sz="2400" dirty="0"/>
          </a:p>
        </p:txBody>
      </p:sp>
      <p:sp>
        <p:nvSpPr>
          <p:cNvPr id="13" name="Text 10"/>
          <p:cNvSpPr txBox="1"/>
          <p:nvPr/>
        </p:nvSpPr>
        <p:spPr>
          <a:xfrm>
            <a:off x="548640" y="4206240"/>
            <a:ext cx="43891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I’m his colleague.</a:t>
            </a:r>
            <a:endParaRPr lang="en-US" sz="2000" dirty="0"/>
          </a:p>
        </p:txBody>
      </p:sp>
      <p:sp>
        <p:nvSpPr>
          <p:cNvPr id="14" name="Shape 11"/>
          <p:cNvSpPr/>
          <p:nvPr/>
        </p:nvSpPr>
        <p:spPr>
          <a:xfrm>
            <a:off x="5577840" y="2240280"/>
            <a:ext cx="6062472" cy="493776"/>
          </a:xfrm>
          <a:prstGeom prst="roundRect">
            <a:avLst>
              <a:gd name="adj" fmla="val 25926"/>
            </a:avLst>
          </a:prstGeom>
          <a:solidFill>
            <a:srgbClr val="F3EFE6"/>
          </a:solidFill>
          <a:ln/>
        </p:spPr>
      </p:sp>
      <p:sp>
        <p:nvSpPr>
          <p:cNvPr id="15" name="Text 12"/>
          <p:cNvSpPr txBox="1"/>
          <p:nvPr/>
        </p:nvSpPr>
        <p:spPr>
          <a:xfrm>
            <a:off x="5852160" y="224028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does he work?</a:t>
            </a:r>
            <a:endParaRPr lang="en-US" sz="1900" dirty="0"/>
          </a:p>
        </p:txBody>
      </p:sp>
      <p:sp>
        <p:nvSpPr>
          <p:cNvPr id="16" name="Shape 13"/>
          <p:cNvSpPr/>
          <p:nvPr/>
        </p:nvSpPr>
        <p:spPr>
          <a:xfrm>
            <a:off x="5577840" y="2843784"/>
            <a:ext cx="6062472" cy="493776"/>
          </a:xfrm>
          <a:prstGeom prst="roundRect">
            <a:avLst>
              <a:gd name="adj" fmla="val 25926"/>
            </a:avLst>
          </a:prstGeom>
          <a:solidFill>
            <a:srgbClr val="F3EFE6"/>
          </a:solidFill>
          <a:ln/>
        </p:spPr>
      </p:sp>
      <p:sp>
        <p:nvSpPr>
          <p:cNvPr id="17" name="Text 14"/>
          <p:cNvSpPr txBox="1"/>
          <p:nvPr/>
        </p:nvSpPr>
        <p:spPr>
          <a:xfrm>
            <a:off x="5852160" y="2843784"/>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start?</a:t>
            </a:r>
            <a:endParaRPr lang="en-US" sz="1900" dirty="0"/>
          </a:p>
        </p:txBody>
      </p:sp>
      <p:sp>
        <p:nvSpPr>
          <p:cNvPr id="18" name="Shape 15"/>
          <p:cNvSpPr/>
          <p:nvPr/>
        </p:nvSpPr>
        <p:spPr>
          <a:xfrm>
            <a:off x="5577840" y="3447288"/>
            <a:ext cx="6062472" cy="493776"/>
          </a:xfrm>
          <a:prstGeom prst="roundRect">
            <a:avLst>
              <a:gd name="adj" fmla="val 25926"/>
            </a:avLst>
          </a:prstGeom>
          <a:solidFill>
            <a:srgbClr val="F3EFE6"/>
          </a:solidFill>
          <a:ln/>
        </p:spPr>
      </p:sp>
      <p:sp>
        <p:nvSpPr>
          <p:cNvPr id="19" name="Text 16"/>
          <p:cNvSpPr txBox="1"/>
          <p:nvPr/>
        </p:nvSpPr>
        <p:spPr>
          <a:xfrm>
            <a:off x="5852160" y="3447288"/>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at night?</a:t>
            </a:r>
            <a:endParaRPr lang="en-US" sz="1900" dirty="0"/>
          </a:p>
        </p:txBody>
      </p:sp>
      <p:sp>
        <p:nvSpPr>
          <p:cNvPr id="20" name="Shape 17"/>
          <p:cNvSpPr/>
          <p:nvPr/>
        </p:nvSpPr>
        <p:spPr>
          <a:xfrm>
            <a:off x="5577840" y="4050792"/>
            <a:ext cx="6062472" cy="493776"/>
          </a:xfrm>
          <a:prstGeom prst="roundRect">
            <a:avLst>
              <a:gd name="adj" fmla="val 25926"/>
            </a:avLst>
          </a:prstGeom>
          <a:solidFill>
            <a:srgbClr val="F3EFE6"/>
          </a:solidFill>
          <a:ln/>
        </p:spPr>
      </p:sp>
      <p:sp>
        <p:nvSpPr>
          <p:cNvPr id="21" name="Text 18"/>
          <p:cNvSpPr txBox="1"/>
          <p:nvPr/>
        </p:nvSpPr>
        <p:spPr>
          <a:xfrm>
            <a:off x="5852160" y="4050792"/>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does he see?</a:t>
            </a:r>
            <a:endParaRPr lang="en-US" sz="1900" dirty="0"/>
          </a:p>
        </p:txBody>
      </p:sp>
      <p:sp>
        <p:nvSpPr>
          <p:cNvPr id="22" name="Shape 19"/>
          <p:cNvSpPr/>
          <p:nvPr/>
        </p:nvSpPr>
        <p:spPr>
          <a:xfrm>
            <a:off x="5577840" y="4654296"/>
            <a:ext cx="6062472" cy="493776"/>
          </a:xfrm>
          <a:prstGeom prst="roundRect">
            <a:avLst>
              <a:gd name="adj" fmla="val 25926"/>
            </a:avLst>
          </a:prstGeom>
          <a:solidFill>
            <a:srgbClr val="F3EFE6"/>
          </a:solidFill>
          <a:ln/>
        </p:spPr>
      </p:sp>
      <p:sp>
        <p:nvSpPr>
          <p:cNvPr id="23" name="Text 20"/>
          <p:cNvSpPr txBox="1"/>
          <p:nvPr/>
        </p:nvSpPr>
        <p:spPr>
          <a:xfrm>
            <a:off x="5852160" y="4654296"/>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on weekends?</a:t>
            </a:r>
            <a:endParaRPr lang="en-US" sz="1900" dirty="0"/>
          </a:p>
        </p:txBody>
      </p:sp>
      <p:sp>
        <p:nvSpPr>
          <p:cNvPr id="24" name="Shape 21"/>
          <p:cNvSpPr/>
          <p:nvPr/>
        </p:nvSpPr>
        <p:spPr>
          <a:xfrm>
            <a:off x="5577840" y="5257800"/>
            <a:ext cx="6062472" cy="493776"/>
          </a:xfrm>
          <a:prstGeom prst="roundRect">
            <a:avLst>
              <a:gd name="adj" fmla="val 25926"/>
            </a:avLst>
          </a:prstGeom>
          <a:solidFill>
            <a:srgbClr val="F3EFE6"/>
          </a:solidFill>
          <a:ln/>
        </p:spPr>
      </p:sp>
      <p:sp>
        <p:nvSpPr>
          <p:cNvPr id="25" name="Text 22"/>
          <p:cNvSpPr txBox="1"/>
          <p:nvPr/>
        </p:nvSpPr>
        <p:spPr>
          <a:xfrm>
            <a:off x="5852160" y="525780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finish?</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Your turn.</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Text 5"/>
          <p:cNvSpPr txBox="1"/>
          <p:nvPr/>
        </p:nvSpPr>
        <p:spPr>
          <a:xfrm>
            <a:off x="548640" y="2103120"/>
            <a:ext cx="41148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ask. You answer.</a:t>
            </a:r>
            <a:endParaRPr lang="en-US" sz="2400" dirty="0"/>
          </a:p>
        </p:txBody>
      </p:sp>
      <p:sp>
        <p:nvSpPr>
          <p:cNvPr id="9" name="Text 6"/>
          <p:cNvSpPr txBox="1"/>
          <p:nvPr/>
        </p:nvSpPr>
        <p:spPr>
          <a:xfrm>
            <a:off x="548640" y="2697480"/>
            <a:ext cx="4389120" cy="1371600"/>
          </a:xfrm>
          <a:prstGeom prst="rect">
            <a:avLst/>
          </a:prstGeom>
          <a:noFill/>
          <a:ln/>
        </p:spPr>
        <p:txBody>
          <a:bodyPr wrap="square" lIns="0" tIns="0" rIns="0" bIns="0" rtlCol="0" anchor="t"/>
          <a:lstStyle/>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start work at…</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see about… patients.</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don’t work on…</a:t>
            </a:r>
            <a:endParaRPr lang="en-US" sz="1900" dirty="0"/>
          </a:p>
        </p:txBody>
      </p:sp>
      <p:sp>
        <p:nvSpPr>
          <p:cNvPr id="10" name="Shape 7"/>
          <p:cNvSpPr/>
          <p:nvPr/>
        </p:nvSpPr>
        <p:spPr>
          <a:xfrm>
            <a:off x="5577840" y="2103120"/>
            <a:ext cx="6062472" cy="512064"/>
          </a:xfrm>
          <a:prstGeom prst="roundRect">
            <a:avLst>
              <a:gd name="adj" fmla="val 25000"/>
            </a:avLst>
          </a:prstGeom>
          <a:solidFill>
            <a:srgbClr val="F3EFE6"/>
          </a:solidFill>
          <a:ln/>
        </p:spPr>
      </p:sp>
      <p:sp>
        <p:nvSpPr>
          <p:cNvPr id="11" name="Text 8"/>
          <p:cNvSpPr txBox="1"/>
          <p:nvPr/>
        </p:nvSpPr>
        <p:spPr>
          <a:xfrm>
            <a:off x="5806440" y="21031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01</a:t>
            </a:r>
            <a:endParaRPr lang="en-US" sz="1000" dirty="0"/>
          </a:p>
        </p:txBody>
      </p:sp>
      <p:sp>
        <p:nvSpPr>
          <p:cNvPr id="12" name="Text 9"/>
          <p:cNvSpPr txBox="1"/>
          <p:nvPr/>
        </p:nvSpPr>
        <p:spPr>
          <a:xfrm>
            <a:off x="6309360" y="21031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 you start work?</a:t>
            </a:r>
            <a:endParaRPr lang="en-US" sz="1900" dirty="0"/>
          </a:p>
        </p:txBody>
      </p:sp>
      <p:sp>
        <p:nvSpPr>
          <p:cNvPr id="13" name="Shape 10"/>
          <p:cNvSpPr/>
          <p:nvPr/>
        </p:nvSpPr>
        <p:spPr>
          <a:xfrm>
            <a:off x="5577840" y="2743200"/>
            <a:ext cx="6062472" cy="512064"/>
          </a:xfrm>
          <a:prstGeom prst="roundRect">
            <a:avLst>
              <a:gd name="adj" fmla="val 25000"/>
            </a:avLst>
          </a:prstGeom>
          <a:solidFill>
            <a:srgbClr val="F3EFE6"/>
          </a:solidFill>
          <a:ln/>
        </p:spPr>
      </p:sp>
      <p:sp>
        <p:nvSpPr>
          <p:cNvPr id="14" name="Text 11"/>
          <p:cNvSpPr txBox="1"/>
          <p:nvPr/>
        </p:nvSpPr>
        <p:spPr>
          <a:xfrm>
            <a:off x="5806440" y="274320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02</a:t>
            </a:r>
            <a:endParaRPr lang="en-US" sz="1000" dirty="0"/>
          </a:p>
        </p:txBody>
      </p:sp>
      <p:sp>
        <p:nvSpPr>
          <p:cNvPr id="15" name="Text 12"/>
          <p:cNvSpPr txBox="1"/>
          <p:nvPr/>
        </p:nvSpPr>
        <p:spPr>
          <a:xfrm>
            <a:off x="6309360" y="274320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 you work?</a:t>
            </a:r>
            <a:endParaRPr lang="en-US" sz="1900" dirty="0"/>
          </a:p>
        </p:txBody>
      </p:sp>
      <p:sp>
        <p:nvSpPr>
          <p:cNvPr id="16" name="Shape 13"/>
          <p:cNvSpPr/>
          <p:nvPr/>
        </p:nvSpPr>
        <p:spPr>
          <a:xfrm>
            <a:off x="5577840" y="3383280"/>
            <a:ext cx="6062472" cy="512064"/>
          </a:xfrm>
          <a:prstGeom prst="roundRect">
            <a:avLst>
              <a:gd name="adj" fmla="val 25000"/>
            </a:avLst>
          </a:prstGeom>
          <a:solidFill>
            <a:srgbClr val="F3EFE6"/>
          </a:solidFill>
          <a:ln/>
        </p:spPr>
      </p:sp>
      <p:sp>
        <p:nvSpPr>
          <p:cNvPr id="17" name="Text 14"/>
          <p:cNvSpPr txBox="1"/>
          <p:nvPr/>
        </p:nvSpPr>
        <p:spPr>
          <a:xfrm>
            <a:off x="5806440" y="338328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03</a:t>
            </a:r>
            <a:endParaRPr lang="en-US" sz="1000" dirty="0"/>
          </a:p>
        </p:txBody>
      </p:sp>
      <p:sp>
        <p:nvSpPr>
          <p:cNvPr id="18" name="Text 15"/>
          <p:cNvSpPr txBox="1"/>
          <p:nvPr/>
        </p:nvSpPr>
        <p:spPr>
          <a:xfrm>
            <a:off x="6309360" y="338328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see patients every day?</a:t>
            </a:r>
            <a:endParaRPr lang="en-US" sz="1900" dirty="0"/>
          </a:p>
        </p:txBody>
      </p:sp>
      <p:sp>
        <p:nvSpPr>
          <p:cNvPr id="19" name="Shape 16"/>
          <p:cNvSpPr/>
          <p:nvPr/>
        </p:nvSpPr>
        <p:spPr>
          <a:xfrm>
            <a:off x="5577840" y="4023360"/>
            <a:ext cx="6062472" cy="512064"/>
          </a:xfrm>
          <a:prstGeom prst="roundRect">
            <a:avLst>
              <a:gd name="adj" fmla="val 25000"/>
            </a:avLst>
          </a:prstGeom>
          <a:solidFill>
            <a:srgbClr val="F3EFE6"/>
          </a:solidFill>
          <a:ln/>
        </p:spPr>
      </p:sp>
      <p:sp>
        <p:nvSpPr>
          <p:cNvPr id="20" name="Text 17"/>
          <p:cNvSpPr txBox="1"/>
          <p:nvPr/>
        </p:nvSpPr>
        <p:spPr>
          <a:xfrm>
            <a:off x="5806440" y="402336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04</a:t>
            </a:r>
            <a:endParaRPr lang="en-US" sz="1000" dirty="0"/>
          </a:p>
        </p:txBody>
      </p:sp>
      <p:sp>
        <p:nvSpPr>
          <p:cNvPr id="21" name="Text 18"/>
          <p:cNvSpPr txBox="1"/>
          <p:nvPr/>
        </p:nvSpPr>
        <p:spPr>
          <a:xfrm>
            <a:off x="6309360" y="402336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 you usually see?</a:t>
            </a:r>
            <a:endParaRPr lang="en-US" sz="1900" dirty="0"/>
          </a:p>
        </p:txBody>
      </p:sp>
      <p:sp>
        <p:nvSpPr>
          <p:cNvPr id="22" name="Shape 19"/>
          <p:cNvSpPr/>
          <p:nvPr/>
        </p:nvSpPr>
        <p:spPr>
          <a:xfrm>
            <a:off x="5577840" y="4663440"/>
            <a:ext cx="6062472" cy="512064"/>
          </a:xfrm>
          <a:prstGeom prst="roundRect">
            <a:avLst>
              <a:gd name="adj" fmla="val 25000"/>
            </a:avLst>
          </a:prstGeom>
          <a:solidFill>
            <a:srgbClr val="F3EFE6"/>
          </a:solidFill>
          <a:ln/>
        </p:spPr>
      </p:sp>
      <p:sp>
        <p:nvSpPr>
          <p:cNvPr id="23" name="Text 20"/>
          <p:cNvSpPr txBox="1"/>
          <p:nvPr/>
        </p:nvSpPr>
        <p:spPr>
          <a:xfrm>
            <a:off x="5806440" y="466344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05</a:t>
            </a:r>
            <a:endParaRPr lang="en-US" sz="1000" dirty="0"/>
          </a:p>
        </p:txBody>
      </p:sp>
      <p:sp>
        <p:nvSpPr>
          <p:cNvPr id="24" name="Text 21"/>
          <p:cNvSpPr txBox="1"/>
          <p:nvPr/>
        </p:nvSpPr>
        <p:spPr>
          <a:xfrm>
            <a:off x="6309360" y="466344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work on weekends?</a:t>
            </a:r>
            <a:endParaRPr lang="en-US" sz="1900" dirty="0"/>
          </a:p>
        </p:txBody>
      </p:sp>
      <p:sp>
        <p:nvSpPr>
          <p:cNvPr id="25" name="Shape 22"/>
          <p:cNvSpPr/>
          <p:nvPr/>
        </p:nvSpPr>
        <p:spPr>
          <a:xfrm>
            <a:off x="5577840" y="5303520"/>
            <a:ext cx="6062472" cy="512064"/>
          </a:xfrm>
          <a:prstGeom prst="roundRect">
            <a:avLst>
              <a:gd name="adj" fmla="val 25000"/>
            </a:avLst>
          </a:prstGeom>
          <a:solidFill>
            <a:srgbClr val="F3EFE6"/>
          </a:solidFill>
          <a:ln/>
        </p:spPr>
      </p:sp>
      <p:sp>
        <p:nvSpPr>
          <p:cNvPr id="26" name="Text 23"/>
          <p:cNvSpPr txBox="1"/>
          <p:nvPr/>
        </p:nvSpPr>
        <p:spPr>
          <a:xfrm>
            <a:off x="5806440" y="53035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06</a:t>
            </a:r>
            <a:endParaRPr lang="en-US" sz="1000" dirty="0"/>
          </a:p>
        </p:txBody>
      </p:sp>
      <p:sp>
        <p:nvSpPr>
          <p:cNvPr id="27" name="Text 24"/>
          <p:cNvSpPr txBox="1"/>
          <p:nvPr/>
        </p:nvSpPr>
        <p:spPr>
          <a:xfrm>
            <a:off x="6309360" y="53035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do you do after work?</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08 · ROUND 3 · NO HELP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15 / 17</a:t>
            </a:r>
            <a:endParaRPr lang="en-US" sz="1000" dirty="0"/>
          </a:p>
        </p:txBody>
      </p:sp>
      <p:sp>
        <p:nvSpPr>
          <p:cNvPr id="6" name="Text 3"/>
          <p:cNvSpPr txBox="1"/>
          <p:nvPr/>
        </p:nvSpPr>
        <p:spPr>
          <a:xfrm>
            <a:off x="548640" y="1371600"/>
            <a:ext cx="9601200" cy="2377440"/>
          </a:xfrm>
          <a:prstGeom prst="rect">
            <a:avLst/>
          </a:prstGeom>
          <a:noFill/>
          <a:ln/>
        </p:spPr>
        <p:txBody>
          <a:bodyPr wrap="square" lIns="0" tIns="0" rIns="0" bIns="0" rtlCol="0" anchor="t"/>
          <a:lstStyle/>
          <a:p>
            <a:pPr indent="0" marL="0">
              <a:lnSpc>
                <a:spcPct val="95000"/>
              </a:lnSpc>
              <a:buNone/>
            </a:pPr>
            <a:r>
              <a:rPr lang="en-US" sz="5400" dirty="0">
                <a:solidFill>
                  <a:srgbClr val="FAF7F2"/>
                </a:solidFill>
                <a:latin typeface="Poppins ExtraBold" pitchFamily="34" charset="0"/>
                <a:ea typeface="Poppins ExtraBold" pitchFamily="34" charset="-122"/>
                <a:cs typeface="Poppins ExtraBold" pitchFamily="34" charset="-120"/>
              </a:rPr>
              <a:t>Tell me about your typical working day.</a:t>
            </a:r>
            <a:endParaRPr lang="en-US" sz="54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200" dirty="0">
                <a:solidFill>
                  <a:srgbClr val="B7AFA0"/>
                </a:solidFill>
                <a:latin typeface="Poppins SemiBold" pitchFamily="34" charset="0"/>
                <a:ea typeface="Poppins SemiBold" pitchFamily="34" charset="-122"/>
                <a:cs typeface="Poppins SemiBold" pitchFamily="34" charset="-120"/>
              </a:rPr>
              <a:t>From the morning to the evening.</a:t>
            </a:r>
            <a:endParaRPr lang="en-US" sz="2200" dirty="0"/>
          </a:p>
        </p:txBody>
      </p:sp>
      <p:sp>
        <p:nvSpPr>
          <p:cNvPr id="8" name="Shape 5"/>
          <p:cNvSpPr/>
          <p:nvPr/>
        </p:nvSpPr>
        <p:spPr>
          <a:xfrm>
            <a:off x="548640" y="5577840"/>
            <a:ext cx="11091672" cy="0"/>
          </a:xfrm>
          <a:prstGeom prst="line">
            <a:avLst/>
          </a:prstGeom>
          <a:noFill/>
          <a:ln w="15875">
            <a:solidFill>
              <a:srgbClr val="5B6088"/>
            </a:solidFill>
            <a:prstDash val="solid"/>
          </a:ln>
        </p:spPr>
      </p:sp>
      <p:sp>
        <p:nvSpPr>
          <p:cNvPr id="9" name="Shape 6"/>
          <p:cNvSpPr/>
          <p:nvPr/>
        </p:nvSpPr>
        <p:spPr>
          <a:xfrm>
            <a:off x="548640" y="5431536"/>
            <a:ext cx="0" cy="292608"/>
          </a:xfrm>
          <a:prstGeom prst="line">
            <a:avLst/>
          </a:prstGeom>
          <a:noFill/>
          <a:ln w="15875">
            <a:solidFill>
              <a:srgbClr val="5B6088"/>
            </a:solidFill>
            <a:prstDash val="solid"/>
          </a:ln>
        </p:spPr>
      </p:sp>
      <p:sp>
        <p:nvSpPr>
          <p:cNvPr id="10" name="Text 7"/>
          <p:cNvSpPr txBox="1"/>
          <p:nvPr/>
        </p:nvSpPr>
        <p:spPr>
          <a:xfrm>
            <a:off x="548640" y="580644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5495544"/>
            <a:ext cx="0" cy="164592"/>
          </a:xfrm>
          <a:prstGeom prst="line">
            <a:avLst/>
          </a:prstGeom>
          <a:noFill/>
          <a:ln w="9525">
            <a:solidFill>
              <a:srgbClr val="5B6088"/>
            </a:solidFill>
            <a:prstDash val="solid"/>
          </a:ln>
        </p:spPr>
      </p:sp>
      <p:sp>
        <p:nvSpPr>
          <p:cNvPr id="12" name="Shape 9"/>
          <p:cNvSpPr/>
          <p:nvPr/>
        </p:nvSpPr>
        <p:spPr>
          <a:xfrm>
            <a:off x="1935099" y="5431536"/>
            <a:ext cx="0" cy="292608"/>
          </a:xfrm>
          <a:prstGeom prst="line">
            <a:avLst/>
          </a:prstGeom>
          <a:noFill/>
          <a:ln w="15875">
            <a:solidFill>
              <a:srgbClr val="5B6088"/>
            </a:solidFill>
            <a:prstDash val="solid"/>
          </a:ln>
        </p:spPr>
      </p:sp>
      <p:sp>
        <p:nvSpPr>
          <p:cNvPr id="13" name="Text 10"/>
          <p:cNvSpPr txBox="1"/>
          <p:nvPr/>
        </p:nvSpPr>
        <p:spPr>
          <a:xfrm>
            <a:off x="1569339"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5495544"/>
            <a:ext cx="0" cy="164592"/>
          </a:xfrm>
          <a:prstGeom prst="line">
            <a:avLst/>
          </a:prstGeom>
          <a:noFill/>
          <a:ln w="9525">
            <a:solidFill>
              <a:srgbClr val="5B6088"/>
            </a:solidFill>
            <a:prstDash val="solid"/>
          </a:ln>
        </p:spPr>
      </p:sp>
      <p:sp>
        <p:nvSpPr>
          <p:cNvPr id="15" name="Shape 12"/>
          <p:cNvSpPr/>
          <p:nvPr/>
        </p:nvSpPr>
        <p:spPr>
          <a:xfrm>
            <a:off x="3321558" y="5431536"/>
            <a:ext cx="0" cy="292608"/>
          </a:xfrm>
          <a:prstGeom prst="line">
            <a:avLst/>
          </a:prstGeom>
          <a:noFill/>
          <a:ln w="15875">
            <a:solidFill>
              <a:srgbClr val="5B6088"/>
            </a:solidFill>
            <a:prstDash val="solid"/>
          </a:ln>
        </p:spPr>
      </p:sp>
      <p:sp>
        <p:nvSpPr>
          <p:cNvPr id="16" name="Text 13"/>
          <p:cNvSpPr txBox="1"/>
          <p:nvPr/>
        </p:nvSpPr>
        <p:spPr>
          <a:xfrm>
            <a:off x="2955798"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5495544"/>
            <a:ext cx="0" cy="164592"/>
          </a:xfrm>
          <a:prstGeom prst="line">
            <a:avLst/>
          </a:prstGeom>
          <a:noFill/>
          <a:ln w="9525">
            <a:solidFill>
              <a:srgbClr val="5B6088"/>
            </a:solidFill>
            <a:prstDash val="solid"/>
          </a:ln>
        </p:spPr>
      </p:sp>
      <p:sp>
        <p:nvSpPr>
          <p:cNvPr id="18" name="Shape 15"/>
          <p:cNvSpPr/>
          <p:nvPr/>
        </p:nvSpPr>
        <p:spPr>
          <a:xfrm>
            <a:off x="4708017" y="5431536"/>
            <a:ext cx="0" cy="292608"/>
          </a:xfrm>
          <a:prstGeom prst="line">
            <a:avLst/>
          </a:prstGeom>
          <a:noFill/>
          <a:ln w="15875">
            <a:solidFill>
              <a:srgbClr val="5B6088"/>
            </a:solidFill>
            <a:prstDash val="solid"/>
          </a:ln>
        </p:spPr>
      </p:sp>
      <p:sp>
        <p:nvSpPr>
          <p:cNvPr id="19" name="Text 16"/>
          <p:cNvSpPr txBox="1"/>
          <p:nvPr/>
        </p:nvSpPr>
        <p:spPr>
          <a:xfrm>
            <a:off x="4342257"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5495544"/>
            <a:ext cx="0" cy="164592"/>
          </a:xfrm>
          <a:prstGeom prst="line">
            <a:avLst/>
          </a:prstGeom>
          <a:noFill/>
          <a:ln w="9525">
            <a:solidFill>
              <a:srgbClr val="5B6088"/>
            </a:solidFill>
            <a:prstDash val="solid"/>
          </a:ln>
        </p:spPr>
      </p:sp>
      <p:sp>
        <p:nvSpPr>
          <p:cNvPr id="21" name="Shape 18"/>
          <p:cNvSpPr/>
          <p:nvPr/>
        </p:nvSpPr>
        <p:spPr>
          <a:xfrm>
            <a:off x="6094476" y="5431536"/>
            <a:ext cx="0" cy="292608"/>
          </a:xfrm>
          <a:prstGeom prst="line">
            <a:avLst/>
          </a:prstGeom>
          <a:noFill/>
          <a:ln w="15875">
            <a:solidFill>
              <a:srgbClr val="5B6088"/>
            </a:solidFill>
            <a:prstDash val="solid"/>
          </a:ln>
        </p:spPr>
      </p:sp>
      <p:sp>
        <p:nvSpPr>
          <p:cNvPr id="22" name="Text 19"/>
          <p:cNvSpPr txBox="1"/>
          <p:nvPr/>
        </p:nvSpPr>
        <p:spPr>
          <a:xfrm>
            <a:off x="5728716"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5495544"/>
            <a:ext cx="0" cy="164592"/>
          </a:xfrm>
          <a:prstGeom prst="line">
            <a:avLst/>
          </a:prstGeom>
          <a:noFill/>
          <a:ln w="9525">
            <a:solidFill>
              <a:srgbClr val="5B6088"/>
            </a:solidFill>
            <a:prstDash val="solid"/>
          </a:ln>
        </p:spPr>
      </p:sp>
      <p:sp>
        <p:nvSpPr>
          <p:cNvPr id="24" name="Shape 21"/>
          <p:cNvSpPr/>
          <p:nvPr/>
        </p:nvSpPr>
        <p:spPr>
          <a:xfrm>
            <a:off x="7480935" y="5431536"/>
            <a:ext cx="0" cy="292608"/>
          </a:xfrm>
          <a:prstGeom prst="line">
            <a:avLst/>
          </a:prstGeom>
          <a:noFill/>
          <a:ln w="15875">
            <a:solidFill>
              <a:srgbClr val="5B6088"/>
            </a:solidFill>
            <a:prstDash val="solid"/>
          </a:ln>
        </p:spPr>
      </p:sp>
      <p:sp>
        <p:nvSpPr>
          <p:cNvPr id="25" name="Text 22"/>
          <p:cNvSpPr txBox="1"/>
          <p:nvPr/>
        </p:nvSpPr>
        <p:spPr>
          <a:xfrm>
            <a:off x="7115175"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5495544"/>
            <a:ext cx="0" cy="164592"/>
          </a:xfrm>
          <a:prstGeom prst="line">
            <a:avLst/>
          </a:prstGeom>
          <a:noFill/>
          <a:ln w="9525">
            <a:solidFill>
              <a:srgbClr val="5B6088"/>
            </a:solidFill>
            <a:prstDash val="solid"/>
          </a:ln>
        </p:spPr>
      </p:sp>
      <p:sp>
        <p:nvSpPr>
          <p:cNvPr id="27" name="Shape 24"/>
          <p:cNvSpPr/>
          <p:nvPr/>
        </p:nvSpPr>
        <p:spPr>
          <a:xfrm>
            <a:off x="8867394" y="5431536"/>
            <a:ext cx="0" cy="292608"/>
          </a:xfrm>
          <a:prstGeom prst="line">
            <a:avLst/>
          </a:prstGeom>
          <a:noFill/>
          <a:ln w="15875">
            <a:solidFill>
              <a:srgbClr val="5B6088"/>
            </a:solidFill>
            <a:prstDash val="solid"/>
          </a:ln>
        </p:spPr>
      </p:sp>
      <p:sp>
        <p:nvSpPr>
          <p:cNvPr id="28" name="Text 25"/>
          <p:cNvSpPr txBox="1"/>
          <p:nvPr/>
        </p:nvSpPr>
        <p:spPr>
          <a:xfrm>
            <a:off x="8501634"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5495544"/>
            <a:ext cx="0" cy="164592"/>
          </a:xfrm>
          <a:prstGeom prst="line">
            <a:avLst/>
          </a:prstGeom>
          <a:noFill/>
          <a:ln w="9525">
            <a:solidFill>
              <a:srgbClr val="5B6088"/>
            </a:solidFill>
            <a:prstDash val="solid"/>
          </a:ln>
        </p:spPr>
      </p:sp>
      <p:sp>
        <p:nvSpPr>
          <p:cNvPr id="30" name="Shape 27"/>
          <p:cNvSpPr/>
          <p:nvPr/>
        </p:nvSpPr>
        <p:spPr>
          <a:xfrm>
            <a:off x="10253853" y="5431536"/>
            <a:ext cx="0" cy="292608"/>
          </a:xfrm>
          <a:prstGeom prst="line">
            <a:avLst/>
          </a:prstGeom>
          <a:noFill/>
          <a:ln w="15875">
            <a:solidFill>
              <a:srgbClr val="5B6088"/>
            </a:solidFill>
            <a:prstDash val="solid"/>
          </a:ln>
        </p:spPr>
      </p:sp>
      <p:sp>
        <p:nvSpPr>
          <p:cNvPr id="31" name="Text 28"/>
          <p:cNvSpPr txBox="1"/>
          <p:nvPr/>
        </p:nvSpPr>
        <p:spPr>
          <a:xfrm>
            <a:off x="9888093"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5495544"/>
            <a:ext cx="0" cy="164592"/>
          </a:xfrm>
          <a:prstGeom prst="line">
            <a:avLst/>
          </a:prstGeom>
          <a:noFill/>
          <a:ln w="9525">
            <a:solidFill>
              <a:srgbClr val="5B6088"/>
            </a:solidFill>
            <a:prstDash val="solid"/>
          </a:ln>
        </p:spPr>
      </p:sp>
      <p:sp>
        <p:nvSpPr>
          <p:cNvPr id="33" name="Shape 30"/>
          <p:cNvSpPr/>
          <p:nvPr/>
        </p:nvSpPr>
        <p:spPr>
          <a:xfrm>
            <a:off x="11640312" y="5431536"/>
            <a:ext cx="0" cy="292608"/>
          </a:xfrm>
          <a:prstGeom prst="line">
            <a:avLst/>
          </a:prstGeom>
          <a:noFill/>
          <a:ln w="15875">
            <a:solidFill>
              <a:srgbClr val="5B6088"/>
            </a:solidFill>
            <a:prstDash val="solid"/>
          </a:ln>
        </p:spPr>
      </p:sp>
      <p:sp>
        <p:nvSpPr>
          <p:cNvPr id="34" name="Text 31"/>
          <p:cNvSpPr txBox="1"/>
          <p:nvPr/>
        </p:nvSpPr>
        <p:spPr>
          <a:xfrm>
            <a:off x="10908792" y="580644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09 · CAN YOU FIX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Can you fix it?</a:t>
            </a:r>
            <a:endParaRPr lang="en-US" sz="4000" dirty="0"/>
          </a:p>
        </p:txBody>
      </p:sp>
      <p:sp>
        <p:nvSpPr>
          <p:cNvPr id="7" name="Text 4"/>
          <p:cNvSpPr txBox="1"/>
          <p:nvPr/>
        </p:nvSpPr>
        <p:spPr>
          <a:xfrm>
            <a:off x="8439912" y="777240"/>
            <a:ext cx="3200400" cy="640080"/>
          </a:xfrm>
          <a:prstGeom prst="rect">
            <a:avLst/>
          </a:prstGeom>
          <a:noFill/>
          <a:ln/>
        </p:spPr>
        <p:txBody>
          <a:bodyPr wrap="square" lIns="0" tIns="0" rIns="0" bIns="0" rtlCol="0" anchor="t"/>
          <a:lstStyle/>
          <a:p>
            <a:pPr algn="r" indent="0" marL="0">
              <a:buNone/>
            </a:pPr>
            <a:r>
              <a:rPr lang="en-US" sz="3000" b="1" i="1" dirty="0">
                <a:solidFill>
                  <a:srgbClr val="F44904"/>
                </a:solidFill>
                <a:latin typeface="Poppins" pitchFamily="34" charset="0"/>
                <a:ea typeface="Poppins" pitchFamily="34" charset="-122"/>
                <a:cs typeface="Poppins" pitchFamily="34" charset="-120"/>
              </a:rPr>
              <a:t>Try again.</a:t>
            </a:r>
            <a:endParaRPr lang="en-US" sz="3000" dirty="0"/>
          </a:p>
        </p:txBody>
      </p:sp>
      <p:sp>
        <p:nvSpPr>
          <p:cNvPr id="8" name="Text 5"/>
          <p:cNvSpPr txBox="1"/>
          <p:nvPr/>
        </p:nvSpPr>
        <p:spPr>
          <a:xfrm>
            <a:off x="548640" y="1783080"/>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1</a:t>
            </a:r>
            <a:endParaRPr lang="en-US" sz="1300" dirty="0"/>
          </a:p>
        </p:txBody>
      </p:sp>
      <p:sp>
        <p:nvSpPr>
          <p:cNvPr id="9" name="Text 6"/>
          <p:cNvSpPr txBox="1"/>
          <p:nvPr/>
        </p:nvSpPr>
        <p:spPr>
          <a:xfrm>
            <a:off x="1097280" y="1783080"/>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don’t work on Sunday.</a:t>
            </a:r>
            <a:endParaRPr lang="en-US" sz="2600" dirty="0"/>
          </a:p>
        </p:txBody>
      </p:sp>
      <p:sp>
        <p:nvSpPr>
          <p:cNvPr id="10" name="Shape 7"/>
          <p:cNvSpPr/>
          <p:nvPr/>
        </p:nvSpPr>
        <p:spPr>
          <a:xfrm>
            <a:off x="1097280" y="2368296"/>
            <a:ext cx="6583680" cy="0"/>
          </a:xfrm>
          <a:prstGeom prst="line">
            <a:avLst/>
          </a:prstGeom>
          <a:noFill/>
          <a:ln w="12700">
            <a:solidFill>
              <a:srgbClr val="DDD6C7"/>
            </a:solidFill>
            <a:prstDash val="solid"/>
          </a:ln>
        </p:spPr>
      </p:sp>
      <p:sp>
        <p:nvSpPr>
          <p:cNvPr id="11" name="Text 8"/>
          <p:cNvSpPr txBox="1"/>
          <p:nvPr/>
        </p:nvSpPr>
        <p:spPr>
          <a:xfrm>
            <a:off x="548640" y="2441448"/>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2</a:t>
            </a:r>
            <a:endParaRPr lang="en-US" sz="1300" dirty="0"/>
          </a:p>
        </p:txBody>
      </p:sp>
      <p:sp>
        <p:nvSpPr>
          <p:cNvPr id="12" name="Text 9"/>
          <p:cNvSpPr txBox="1"/>
          <p:nvPr/>
        </p:nvSpPr>
        <p:spPr>
          <a:xfrm>
            <a:off x="1097280" y="2441448"/>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works in a clinic.</a:t>
            </a:r>
            <a:endParaRPr lang="en-US" sz="2600" dirty="0"/>
          </a:p>
        </p:txBody>
      </p:sp>
      <p:sp>
        <p:nvSpPr>
          <p:cNvPr id="13" name="Shape 10"/>
          <p:cNvSpPr/>
          <p:nvPr/>
        </p:nvSpPr>
        <p:spPr>
          <a:xfrm>
            <a:off x="1097280" y="3026664"/>
            <a:ext cx="6583680" cy="0"/>
          </a:xfrm>
          <a:prstGeom prst="line">
            <a:avLst/>
          </a:prstGeom>
          <a:noFill/>
          <a:ln w="12700">
            <a:solidFill>
              <a:srgbClr val="DDD6C7"/>
            </a:solidFill>
            <a:prstDash val="solid"/>
          </a:ln>
        </p:spPr>
      </p:sp>
      <p:sp>
        <p:nvSpPr>
          <p:cNvPr id="14" name="Text 11"/>
          <p:cNvSpPr txBox="1"/>
          <p:nvPr/>
        </p:nvSpPr>
        <p:spPr>
          <a:xfrm>
            <a:off x="548640" y="3099816"/>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3</a:t>
            </a:r>
            <a:endParaRPr lang="en-US" sz="1300" dirty="0"/>
          </a:p>
        </p:txBody>
      </p:sp>
      <p:sp>
        <p:nvSpPr>
          <p:cNvPr id="15" name="Text 12"/>
          <p:cNvSpPr txBox="1"/>
          <p:nvPr/>
        </p:nvSpPr>
        <p:spPr>
          <a:xfrm>
            <a:off x="1097280" y="3099816"/>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she works there?</a:t>
            </a:r>
            <a:endParaRPr lang="en-US" sz="2600" dirty="0"/>
          </a:p>
        </p:txBody>
      </p:sp>
      <p:sp>
        <p:nvSpPr>
          <p:cNvPr id="16" name="Shape 13"/>
          <p:cNvSpPr/>
          <p:nvPr/>
        </p:nvSpPr>
        <p:spPr>
          <a:xfrm>
            <a:off x="1097280" y="3685032"/>
            <a:ext cx="6583680" cy="0"/>
          </a:xfrm>
          <a:prstGeom prst="line">
            <a:avLst/>
          </a:prstGeom>
          <a:noFill/>
          <a:ln w="12700">
            <a:solidFill>
              <a:srgbClr val="DDD6C7"/>
            </a:solidFill>
            <a:prstDash val="solid"/>
          </a:ln>
        </p:spPr>
      </p:sp>
      <p:sp>
        <p:nvSpPr>
          <p:cNvPr id="17" name="Text 14"/>
          <p:cNvSpPr txBox="1"/>
          <p:nvPr/>
        </p:nvSpPr>
        <p:spPr>
          <a:xfrm>
            <a:off x="548640" y="3758184"/>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4</a:t>
            </a:r>
            <a:endParaRPr lang="en-US" sz="1300" dirty="0"/>
          </a:p>
        </p:txBody>
      </p:sp>
      <p:sp>
        <p:nvSpPr>
          <p:cNvPr id="18" name="Text 15"/>
          <p:cNvSpPr txBox="1"/>
          <p:nvPr/>
        </p:nvSpPr>
        <p:spPr>
          <a:xfrm>
            <a:off x="1097280" y="3758184"/>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am work at a hospital.</a:t>
            </a:r>
            <a:endParaRPr lang="en-US" sz="2600" dirty="0"/>
          </a:p>
        </p:txBody>
      </p:sp>
      <p:sp>
        <p:nvSpPr>
          <p:cNvPr id="19" name="Shape 16"/>
          <p:cNvSpPr/>
          <p:nvPr/>
        </p:nvSpPr>
        <p:spPr>
          <a:xfrm>
            <a:off x="1097280" y="4343400"/>
            <a:ext cx="6583680" cy="0"/>
          </a:xfrm>
          <a:prstGeom prst="line">
            <a:avLst/>
          </a:prstGeom>
          <a:noFill/>
          <a:ln w="12700">
            <a:solidFill>
              <a:srgbClr val="DDD6C7"/>
            </a:solidFill>
            <a:prstDash val="solid"/>
          </a:ln>
        </p:spPr>
      </p:sp>
      <p:sp>
        <p:nvSpPr>
          <p:cNvPr id="20" name="Text 17"/>
          <p:cNvSpPr txBox="1"/>
          <p:nvPr/>
        </p:nvSpPr>
        <p:spPr>
          <a:xfrm>
            <a:off x="548640" y="4416552"/>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5</a:t>
            </a:r>
            <a:endParaRPr lang="en-US" sz="1300" dirty="0"/>
          </a:p>
        </p:txBody>
      </p:sp>
      <p:sp>
        <p:nvSpPr>
          <p:cNvPr id="21" name="Text 18"/>
          <p:cNvSpPr txBox="1"/>
          <p:nvPr/>
        </p:nvSpPr>
        <p:spPr>
          <a:xfrm>
            <a:off x="1097280" y="4416552"/>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She finish at six.</a:t>
            </a:r>
            <a:endParaRPr lang="en-US" sz="2600" dirty="0"/>
          </a:p>
        </p:txBody>
      </p:sp>
      <p:sp>
        <p:nvSpPr>
          <p:cNvPr id="22" name="Shape 19"/>
          <p:cNvSpPr/>
          <p:nvPr/>
        </p:nvSpPr>
        <p:spPr>
          <a:xfrm>
            <a:off x="1097280" y="5001768"/>
            <a:ext cx="6583680" cy="0"/>
          </a:xfrm>
          <a:prstGeom prst="line">
            <a:avLst/>
          </a:prstGeom>
          <a:noFill/>
          <a:ln w="12700">
            <a:solidFill>
              <a:srgbClr val="DDD6C7"/>
            </a:solidFill>
            <a:prstDash val="solid"/>
          </a:ln>
        </p:spPr>
      </p:sp>
      <p:sp>
        <p:nvSpPr>
          <p:cNvPr id="23" name="Shape 20"/>
          <p:cNvSpPr/>
          <p:nvPr/>
        </p:nvSpPr>
        <p:spPr>
          <a:xfrm>
            <a:off x="8183880" y="1783080"/>
            <a:ext cx="3456432" cy="3246120"/>
          </a:xfrm>
          <a:prstGeom prst="roundRect">
            <a:avLst>
              <a:gd name="adj" fmla="val 3944"/>
            </a:avLst>
          </a:prstGeom>
          <a:solidFill>
            <a:srgbClr val="0B1440"/>
          </a:solidFill>
          <a:ln/>
        </p:spPr>
      </p:sp>
      <p:sp>
        <p:nvSpPr>
          <p:cNvPr id="24" name="Text 21"/>
          <p:cNvSpPr txBox="1"/>
          <p:nvPr/>
        </p:nvSpPr>
        <p:spPr>
          <a:xfrm>
            <a:off x="8458200" y="2011680"/>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I / YOU / WE / THEY</a:t>
            </a:r>
            <a:endParaRPr lang="en-US" sz="1000" dirty="0"/>
          </a:p>
        </p:txBody>
      </p:sp>
      <p:sp>
        <p:nvSpPr>
          <p:cNvPr id="25" name="Text 22"/>
          <p:cNvSpPr txBox="1"/>
          <p:nvPr/>
        </p:nvSpPr>
        <p:spPr>
          <a:xfrm>
            <a:off x="8458200" y="2286000"/>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26" name="Text 23"/>
          <p:cNvSpPr txBox="1"/>
          <p:nvPr/>
        </p:nvSpPr>
        <p:spPr>
          <a:xfrm>
            <a:off x="8458200" y="2999232"/>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HE / SHE / IT</a:t>
            </a:r>
            <a:endParaRPr lang="en-US" sz="1000" dirty="0"/>
          </a:p>
        </p:txBody>
      </p:sp>
      <p:sp>
        <p:nvSpPr>
          <p:cNvPr id="27" name="Text 24"/>
          <p:cNvSpPr txBox="1"/>
          <p:nvPr/>
        </p:nvSpPr>
        <p:spPr>
          <a:xfrm>
            <a:off x="8458200" y="3273552"/>
            <a:ext cx="3017520" cy="548640"/>
          </a:xfrm>
          <a:prstGeom prst="rect">
            <a:avLst/>
          </a:prstGeom>
          <a:noFill/>
          <a:ln/>
        </p:spPr>
        <p:txBody>
          <a:bodyPr wrap="square" lIns="0" tIns="0" rIns="0" bIns="0" rtlCol="0" anchor="t"/>
          <a:lstStyle/>
          <a:p>
            <a:pPr indent="0" marL="0">
              <a:buNone/>
            </a:pPr>
            <a:r>
              <a:rPr lang="en-US" sz="280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44904"/>
                </a:solidFill>
                <a:latin typeface="Poppins ExtraBold" pitchFamily="34" charset="0"/>
                <a:ea typeface="Poppins ExtraBold" pitchFamily="34" charset="-122"/>
                <a:cs typeface="Poppins ExtraBold" pitchFamily="34" charset="-120"/>
              </a:rPr>
              <a:t>WORKS</a:t>
            </a:r>
            <a:endParaRPr lang="en-US" sz="2800" dirty="0"/>
          </a:p>
        </p:txBody>
      </p:sp>
      <p:sp>
        <p:nvSpPr>
          <p:cNvPr id="28" name="Text 25"/>
          <p:cNvSpPr txBox="1"/>
          <p:nvPr/>
        </p:nvSpPr>
        <p:spPr>
          <a:xfrm>
            <a:off x="8458200" y="3986784"/>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DOES / DOESN’T</a:t>
            </a:r>
            <a:endParaRPr lang="en-US" sz="1000" dirty="0"/>
          </a:p>
        </p:txBody>
      </p:sp>
      <p:sp>
        <p:nvSpPr>
          <p:cNvPr id="29" name="Text 26"/>
          <p:cNvSpPr txBox="1"/>
          <p:nvPr/>
        </p:nvSpPr>
        <p:spPr>
          <a:xfrm>
            <a:off x="8458200" y="4261104"/>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30" name="Text 27"/>
          <p:cNvSpPr txBox="1"/>
          <p:nvPr/>
        </p:nvSpPr>
        <p:spPr>
          <a:xfrm>
            <a:off x="548640" y="5349240"/>
            <a:ext cx="7315200" cy="411480"/>
          </a:xfrm>
          <a:prstGeom prst="rect">
            <a:avLst/>
          </a:prstGeom>
          <a:noFill/>
          <a:ln/>
        </p:spPr>
        <p:txBody>
          <a:bodyPr wrap="square" lIns="0" tIns="0" rIns="0" bIns="0" rtlCol="0" anchor="t"/>
          <a:lstStyle/>
          <a:p>
            <a:pPr indent="0" marL="0">
              <a:buNone/>
            </a:pPr>
            <a:r>
              <a:rPr lang="en-US" sz="1800" dirty="0">
                <a:solidFill>
                  <a:srgbClr val="5B6088"/>
                </a:solidFill>
                <a:latin typeface="Hanken Grotesk" pitchFamily="34" charset="0"/>
                <a:ea typeface="Hanken Grotesk" pitchFamily="34" charset="-122"/>
                <a:cs typeface="Hanken Grotesk" pitchFamily="34" charset="-120"/>
              </a:rPr>
              <a:t>Your sentences from today.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10 · EXIT TASK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17 / 17</a:t>
            </a:r>
            <a:endParaRPr lang="en-US" sz="1000" dirty="0"/>
          </a:p>
        </p:txBody>
      </p:sp>
      <p:sp>
        <p:nvSpPr>
          <p:cNvPr id="6" name="Text 3"/>
          <p:cNvSpPr txBox="1"/>
          <p:nvPr/>
        </p:nvSpPr>
        <p:spPr>
          <a:xfrm>
            <a:off x="548640" y="1280160"/>
            <a:ext cx="9875520" cy="2468880"/>
          </a:xfrm>
          <a:prstGeom prst="rect">
            <a:avLst/>
          </a:prstGeom>
          <a:noFill/>
          <a:ln/>
        </p:spPr>
        <p:txBody>
          <a:bodyPr wrap="square" lIns="0" tIns="0" rIns="0" bIns="0" rtlCol="0" anchor="t"/>
          <a:lstStyle/>
          <a:p>
            <a:pPr indent="0" marL="0">
              <a:lnSpc>
                <a:spcPct val="95000"/>
              </a:lnSpc>
              <a:buNone/>
            </a:pPr>
            <a:r>
              <a:rPr lang="en-US" sz="5000" dirty="0">
                <a:solidFill>
                  <a:srgbClr val="FAF7F2"/>
                </a:solidFill>
                <a:latin typeface="Poppins ExtraBold" pitchFamily="34" charset="0"/>
                <a:ea typeface="Poppins ExtraBold" pitchFamily="34" charset="-122"/>
                <a:cs typeface="Poppins ExtraBold" pitchFamily="34" charset="-120"/>
              </a:rPr>
              <a:t>So, what does a typical day look like for you?</a:t>
            </a:r>
            <a:endParaRPr lang="en-US" sz="50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44904"/>
                </a:solidFill>
                <a:latin typeface="Poppins SemiBold" pitchFamily="34" charset="0"/>
                <a:ea typeface="Poppins SemiBold" pitchFamily="34" charset="-122"/>
                <a:cs typeface="Poppins SemiBold" pitchFamily="34" charset="-120"/>
              </a:rPr>
              <a:t>4–5 sentences. No help.</a:t>
            </a:r>
            <a:endParaRPr lang="en-US" sz="2400" dirty="0"/>
          </a:p>
        </p:txBody>
      </p:sp>
      <p:sp>
        <p:nvSpPr>
          <p:cNvPr id="8" name="Text 5"/>
          <p:cNvSpPr txBox="1"/>
          <p:nvPr/>
        </p:nvSpPr>
        <p:spPr>
          <a:xfrm>
            <a:off x="548640" y="5577840"/>
            <a:ext cx="7315200" cy="274320"/>
          </a:xfrm>
          <a:prstGeom prst="rect">
            <a:avLst/>
          </a:prstGeom>
          <a:noFill/>
          <a:ln/>
        </p:spPr>
        <p:txBody>
          <a:bodyPr wrap="square" lIns="0" tIns="0" rIns="0" bIns="0" rtlCol="0" anchor="t"/>
          <a:lstStyle/>
          <a:p>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NEXT TIME · HOW OFTEN DO YOU…?</a:t>
            </a:r>
            <a:endParaRPr lang="en-US" sz="1100" dirty="0"/>
          </a:p>
        </p:txBody>
      </p:sp>
      <p:pic>
        <p:nvPicPr>
          <p:cNvPr id="9" name="Image 0" descr="Today">    </p:cNvPr>
          <p:cNvPicPr>
            <a:picLocks noChangeAspect="1"/>
          </p:cNvPicPr>
          <p:nvPr/>
        </p:nvPicPr>
        <p:blipFill>
          <a:blip r:embed="rId1"/>
          <a:stretch>
            <a:fillRect/>
          </a:stretch>
        </p:blipFill>
        <p:spPr>
          <a:xfrm>
            <a:off x="10771632" y="4983480"/>
            <a:ext cx="868680" cy="10040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Today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Typical Day — Today</dc:title>
  <dc:subject>PptxGenJS Presentation</dc:subject>
  <dc:creator>Today — Escola de Inglês</dc:creator>
  <cp:lastModifiedBy>Today — Escola de Inglês</cp:lastModifiedBy>
  <cp:revision>1</cp:revision>
  <dcterms:created xsi:type="dcterms:W3CDTF">2026-09-29T15:36:24Z</dcterms:created>
  <dcterms:modified xsi:type="dcterms:W3CDTF">2026-09-29T15:36:24Z</dcterms:modified>
</cp:coreProperties>
</file>