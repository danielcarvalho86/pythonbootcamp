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(with slide 2) · Lead-in · 4 min total.
Show the cover for a few seconds while you greet the student. No explanation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 · Lead-in · 4 min · T↔S
Aim: activate the topic; start diagnosing spontaneous simple present.
Ask the big question naturally. Use the three follow-ups only if the student needs a push.
Do NOT correct. Start your error log (lesson plan, Appendix C): note 3rd-person -s, do/does, don't/doesn't, "I am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 Diagnostic speaking · 5 min · S→T
Aim: baseline — let the student speak at length about a normal weekday.
"Tell me about a normal weekday — from the morning to the evening." Let the student point along the day line.
Use the support questions only when the student stops. Listen more than you speak.
Keep writing errors in your log — especially: He work… / I am work… / He don't… / Does he works…? These feed stage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Vocabulary discovery · 7 min (slides 4–6) · T↔S
This is Dr. Sarah — our doctor for the whole lesson.
Slide 4 (about 2 min): times and pictures only. LOOK. GUESS. SAY IT. ELICIT: "What does she do at 7:00?" Accept any form; don't correct yet.
Expected: She gets up / She arrives at the clinic / She sees patients / She examines a patient / She has lunch / She sees patients / She checks medical records / She finishes work.
Feed missing words ("medical records", "examine") only if the student can't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continued (about 3 min)
Reveal the phrases. The student retells Dr. Sarah's day as a story: "At 7:00 she gets up. At 8:00 she arrives at the clinic…"
Then ask the three questions.
ANSWERS: She sees patients. · No, she doesn't. She works at a clinic. · She finishes at 6:00.
If the student says "she see / she finish", don't correct yet — note it in the error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3 · Personalisation (about 2 min) · T↔S
"Which of these things do you do? When?" The student chooses 5–6 phrases and makes true sentences: "I see patients at 9:00." "I don't work on weekends."
Encourage negatives. Note errors silently.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Language discovery · 7 min (slides 7–8) · T↔S
Slide 7 (about 4 min): ELICIT, don't explain. Ask one question at a time and wait:
1 "What's different?" (works / doesn't / does)
2 "Why do we say 'works' here?" (he / she / it)
3 "Why doesn't 'work' change here?" (after doesn't / does → base verb)
4 "What happens after 'does'?" (he + work — no -s)
CCQs: "Does he work at night — one person or more?" (one) "Is 'works' OK after does?"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4 · continued (about 3 min)
Let the student tell YOU the pattern first, then show this slide to confirm.
Point to the crossed-out WORKS: "Does he works?" — no. Does already has the -s.
Quick check: "She ___ (live) in Brazil." "___ she work at night?" "He ___ (not work) on Sundays."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 Quick accuracy challenge · 5 min · T↔S
"Right or wrong? Fix the wrong ones." The student says the correct sentence aloud — no writing needed.
KEY: 1 ✗ He works in a clinic. · 2 ✗ I work from Monday to Friday. · 3 ✓ · 4 ✗ Does he work on Saturdays? · 5 ✓
If the student is unsure, point back to slide 8 (don't re-explain).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Information gap · 7 min (slides 10–11) · S↔T
"You know Dr. Sarah's day at the clinic. There are six more things you don't know. I know. Ask me."
Answer ONLY the information requested. If the question is wrong ("How many patients she sees?"), don't answer: look puzzled, pause, elicit ("Again?") and let the student self-correct. Reformulate only if they're stuck.
TEACHER ONLY — do not show: sees 15 patients a day · doesn't work on Sundays · doesn't work at night · has appointments in the afternoon · watches TV after work · goes to bed at 11:00.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6 · continued
Use this slide if the student needs support forming the questions (the gap = does / Does).
When all six facts are found: "Now tell me about Dr. Sarah." → She sees 15 patients a day. She doesn't work on Sundays… (third-person -s in use).
Do not reveal Sarah's facts on screen — say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7 · Pronunciation micro-focus · 3 min · T↔S
NOTICE: "Listen — are the endings the same?" Say works / lives / watches.
LISTEN: model each sentence twice, natural speed.
REPEAT: student repeats; tap the final sound.
USE: "Tell me about a colleague." If needed: "Where does he/she work? What does he/she do?" → She works… He lives… He watches…
Only 3 minutes — no phonetics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Main communicative task · 10 min (slides 13–15)
Three rounds: SUPPORTED → PERSONALISED → INDEPENDENT.
ROUND 1 (about 3 min) · S→T · SUPPORTED: the student interviews you about Dr. Ben, Dr. Sarah's colleague. Answer in the 3rd person, only what is asked.
TEACHER ONLY — do not show: works at a hospital · starts at 8:00 in the evening · works at night · sees about 20 patients a night · works on weekends · doesn't work on Mondays · finishes at 6:00 in the morning.
If asked "Does he work at the clinic?" → "No, he doesn't. He works at a hospital." 
Monitor, don't interrupt.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2 (about 3–4 min) · T→S
PERSONALISED. Now you interview the student about their real routine.
Do not ask all six questions mechanically. Choose 3–4 questions and use natural follow-up questions where appropriate.
Examples: "What time do you start work?" → "Every day?" → "What do you do first?" · "Do you work on weekends?" → "How often?" · "Where do you work?" → "Do you like working there?"
Aim: QUESTION → ANSWER → FOLLOW-UP. Keep follow-ups simple — no new grammar. Keep logging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8 · ROUND 3 (about 3 min) · S→T
INDEPENDENT. No prompts. "Tell me about your typical working day." Extended freer speaking — about 2–3 minutes without help.
(Different from the exit task, which is a short 4–5 sentence final check.)
Monitor silently; choose the 3–5 most useful real errors from the whole lesson and type them into slide 16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9 · Delayed correction · 5 min · T↔S
BEFORE SHOWING: replace the example sentences with 3–5 REAL errors produced by the student during the lesson whenever possible (type over them; delete unused lines). The examples are only a backup.
Use the student's own language. Show one error at a time. Ask: "Is it right?" "Can you fix it?" — guided self-correction; if stuck, point to the pattern box.
Don't explain the grammar again unless absolutely necessary. Never correct more than one target error in the same sentence.
Finish with the pattern box (read it together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10 · Exit task · 2 min · S→T
"So, what does a typical day look like for you?" A short final check: 4–5 sentences, no help. (Round 3 was the extended speaking; this measures the main aim.)
Check against the exit checklist (lesson plan, Appendix D): simple present form · routine vocabulary · 3rd-person / questions where used · fewer of today's logged slips.
Small preview only — How often…? (always · usually · sometimes · never). Do not teach this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40"/>
        </a:solidFill>
      </p:bgPr>
    </p:bg>
    <p:spTree>
      <p:nvGrpSpPr>
        <p:cNvPr id="1" name=""/>
        <p:cNvGrpSpPr/>
        <p:nvPr/>
      </p:nvGrpSpPr>
      <p:grpSpPr>
        <a:xfrm>
          <a:off x="0" y="0"/>
          <a:ext cx="0" cy="0"/>
          <a:chOff x="0" y="0"/>
          <a:chExt cx="0" cy="0"/>
        </a:xfrm>
      </p:grpSpPr>
      <p:sp>
        <p:nvSpPr>
          <p:cNvPr id="3" name="Text 0"/>
          <p:cNvSpPr txBox="1"/>
          <p:nvPr/>
        </p:nvSpPr>
        <p:spPr>
          <a:xfrm>
            <a:off x="548640" y="548640"/>
            <a:ext cx="7315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GENERAL ENGLISH · CONVERSATION</a:t>
            </a:r>
            <a:endParaRPr lang="en-US" sz="1100" dirty="0"/>
          </a:p>
        </p:txBody>
      </p:sp>
      <p:pic>
        <p:nvPicPr>
          <p:cNvPr id="4" name="Image 0" descr="Today">    </p:cNvPr>
          <p:cNvPicPr>
            <a:picLocks noChangeAspect="1"/>
          </p:cNvPicPr>
          <p:nvPr/>
        </p:nvPicPr>
        <p:blipFill>
          <a:blip r:embed="rId1"/>
          <a:stretch>
            <a:fillRect/>
          </a:stretch>
        </p:blipFill>
        <p:spPr>
          <a:xfrm>
            <a:off x="10771632" y="457200"/>
            <a:ext cx="868680" cy="1004059"/>
          </a:xfrm>
          <a:prstGeom prst="rect">
            <a:avLst/>
          </a:prstGeom>
        </p:spPr>
      </p:pic>
      <p:sp>
        <p:nvSpPr>
          <p:cNvPr id="5" name="Text 1"/>
          <p:cNvSpPr txBox="1"/>
          <p:nvPr/>
        </p:nvSpPr>
        <p:spPr>
          <a:xfrm>
            <a:off x="548640" y="1325880"/>
            <a:ext cx="8229600" cy="2743200"/>
          </a:xfrm>
          <a:prstGeom prst="rect">
            <a:avLst/>
          </a:prstGeom>
          <a:noFill/>
          <a:ln/>
        </p:spPr>
        <p:txBody>
          <a:bodyPr wrap="square" lIns="0" tIns="0" rIns="0" bIns="0" rtlCol="0" anchor="t"/>
          <a:lstStyle/>
          <a:p>
            <a:pPr indent="0" marL="0">
              <a:lnSpc>
                <a:spcPct val="90000"/>
              </a:lnSpc>
              <a:buNone/>
            </a:pPr>
            <a:r>
              <a:rPr lang="en-US" sz="9600" dirty="0">
                <a:solidFill>
                  <a:srgbClr val="FAF7F2"/>
                </a:solidFill>
                <a:latin typeface="Poppins ExtraBold" pitchFamily="34" charset="0"/>
                <a:ea typeface="Poppins ExtraBold" pitchFamily="34" charset="-122"/>
                <a:cs typeface="Poppins ExtraBold" pitchFamily="34" charset="-120"/>
              </a:rPr>
              <a:t>A Typical</a:t>
            </a:r>
            <a:endParaRPr lang="en-US" sz="9600" dirty="0"/>
          </a:p>
          <a:p>
            <a:pPr indent="0" marL="0">
              <a:lnSpc>
                <a:spcPct val="90000"/>
              </a:lnSpc>
              <a:buNone/>
            </a:pPr>
            <a:r>
              <a:rPr lang="en-US" sz="9600" dirty="0">
                <a:solidFill>
                  <a:srgbClr val="F44904"/>
                </a:solidFill>
                <a:latin typeface="Poppins ExtraBold" pitchFamily="34" charset="0"/>
                <a:ea typeface="Poppins ExtraBold" pitchFamily="34" charset="-122"/>
                <a:cs typeface="Poppins ExtraBold" pitchFamily="34" charset="-120"/>
              </a:rPr>
              <a:t>Day.</a:t>
            </a:r>
            <a:endParaRPr lang="en-US" sz="9600" dirty="0"/>
          </a:p>
        </p:txBody>
      </p:sp>
      <p:sp>
        <p:nvSpPr>
          <p:cNvPr id="6" name="Text 2"/>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AF7F2"/>
                </a:solidFill>
                <a:latin typeface="Poppins SemiBold" pitchFamily="34" charset="0"/>
                <a:ea typeface="Poppins SemiBold" pitchFamily="34" charset="-122"/>
                <a:cs typeface="Poppins SemiBold" pitchFamily="34" charset="-120"/>
              </a:rPr>
              <a:t>Habits, routines &amp; everyday life</a:t>
            </a:r>
            <a:endParaRPr lang="en-US" sz="2400" dirty="0"/>
          </a:p>
        </p:txBody>
      </p:sp>
      <p:sp>
        <p:nvSpPr>
          <p:cNvPr id="7" name="Text 3"/>
          <p:cNvSpPr txBox="1"/>
          <p:nvPr/>
        </p:nvSpPr>
        <p:spPr>
          <a:xfrm>
            <a:off x="548640" y="4526280"/>
            <a:ext cx="7315200" cy="274320"/>
          </a:xfrm>
          <a:prstGeom prst="rect">
            <a:avLst/>
          </a:prstGeom>
          <a:noFill/>
          <a:ln/>
        </p:spPr>
        <p:txBody>
          <a:bodyPr wrap="square" lIns="0" tIns="0" rIns="0" bIns="0" rtlCol="0" anchor="t"/>
          <a:lstStyle/>
          <a:p>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A1 / A1+  ·  60 MIN  ·  1-TO-1</a:t>
            </a:r>
            <a:endParaRPr lang="en-US" sz="1100" dirty="0"/>
          </a:p>
        </p:txBody>
      </p:sp>
      <p:sp>
        <p:nvSpPr>
          <p:cNvPr id="8" name="Shape 4"/>
          <p:cNvSpPr/>
          <p:nvPr/>
        </p:nvSpPr>
        <p:spPr>
          <a:xfrm>
            <a:off x="548640" y="5669280"/>
            <a:ext cx="11091672" cy="0"/>
          </a:xfrm>
          <a:prstGeom prst="line">
            <a:avLst/>
          </a:prstGeom>
          <a:noFill/>
          <a:ln w="15875">
            <a:solidFill>
              <a:srgbClr val="5B6088"/>
            </a:solidFill>
            <a:prstDash val="solid"/>
          </a:ln>
        </p:spPr>
      </p:sp>
      <p:sp>
        <p:nvSpPr>
          <p:cNvPr id="9" name="Shape 5"/>
          <p:cNvSpPr/>
          <p:nvPr/>
        </p:nvSpPr>
        <p:spPr>
          <a:xfrm>
            <a:off x="548640" y="5522976"/>
            <a:ext cx="0" cy="292608"/>
          </a:xfrm>
          <a:prstGeom prst="line">
            <a:avLst/>
          </a:prstGeom>
          <a:noFill/>
          <a:ln w="15875">
            <a:solidFill>
              <a:srgbClr val="5B6088"/>
            </a:solidFill>
            <a:prstDash val="solid"/>
          </a:ln>
        </p:spPr>
      </p:sp>
      <p:sp>
        <p:nvSpPr>
          <p:cNvPr id="10" name="Text 6"/>
          <p:cNvSpPr txBox="1"/>
          <p:nvPr/>
        </p:nvSpPr>
        <p:spPr>
          <a:xfrm>
            <a:off x="548640" y="589788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7"/>
          <p:cNvSpPr/>
          <p:nvPr/>
        </p:nvSpPr>
        <p:spPr>
          <a:xfrm>
            <a:off x="1241870" y="5586984"/>
            <a:ext cx="0" cy="164592"/>
          </a:xfrm>
          <a:prstGeom prst="line">
            <a:avLst/>
          </a:prstGeom>
          <a:noFill/>
          <a:ln w="9525">
            <a:solidFill>
              <a:srgbClr val="5B6088"/>
            </a:solidFill>
            <a:prstDash val="solid"/>
          </a:ln>
        </p:spPr>
      </p:sp>
      <p:sp>
        <p:nvSpPr>
          <p:cNvPr id="12" name="Shape 8"/>
          <p:cNvSpPr/>
          <p:nvPr/>
        </p:nvSpPr>
        <p:spPr>
          <a:xfrm>
            <a:off x="1935099" y="5522976"/>
            <a:ext cx="0" cy="292608"/>
          </a:xfrm>
          <a:prstGeom prst="line">
            <a:avLst/>
          </a:prstGeom>
          <a:noFill/>
          <a:ln w="15875">
            <a:solidFill>
              <a:srgbClr val="5B6088"/>
            </a:solidFill>
            <a:prstDash val="solid"/>
          </a:ln>
        </p:spPr>
      </p:sp>
      <p:sp>
        <p:nvSpPr>
          <p:cNvPr id="13" name="Text 9"/>
          <p:cNvSpPr txBox="1"/>
          <p:nvPr/>
        </p:nvSpPr>
        <p:spPr>
          <a:xfrm>
            <a:off x="1569339"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0"/>
          <p:cNvSpPr/>
          <p:nvPr/>
        </p:nvSpPr>
        <p:spPr>
          <a:xfrm>
            <a:off x="2628329" y="5586984"/>
            <a:ext cx="0" cy="164592"/>
          </a:xfrm>
          <a:prstGeom prst="line">
            <a:avLst/>
          </a:prstGeom>
          <a:noFill/>
          <a:ln w="9525">
            <a:solidFill>
              <a:srgbClr val="5B6088"/>
            </a:solidFill>
            <a:prstDash val="solid"/>
          </a:ln>
        </p:spPr>
      </p:sp>
      <p:sp>
        <p:nvSpPr>
          <p:cNvPr id="15" name="Shape 11"/>
          <p:cNvSpPr/>
          <p:nvPr/>
        </p:nvSpPr>
        <p:spPr>
          <a:xfrm>
            <a:off x="3321558" y="5522976"/>
            <a:ext cx="0" cy="292608"/>
          </a:xfrm>
          <a:prstGeom prst="line">
            <a:avLst/>
          </a:prstGeom>
          <a:noFill/>
          <a:ln w="15875">
            <a:solidFill>
              <a:srgbClr val="5B6088"/>
            </a:solidFill>
            <a:prstDash val="solid"/>
          </a:ln>
        </p:spPr>
      </p:sp>
      <p:sp>
        <p:nvSpPr>
          <p:cNvPr id="16" name="Text 12"/>
          <p:cNvSpPr txBox="1"/>
          <p:nvPr/>
        </p:nvSpPr>
        <p:spPr>
          <a:xfrm>
            <a:off x="2955798"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3"/>
          <p:cNvSpPr/>
          <p:nvPr/>
        </p:nvSpPr>
        <p:spPr>
          <a:xfrm>
            <a:off x="4014788" y="5586984"/>
            <a:ext cx="0" cy="164592"/>
          </a:xfrm>
          <a:prstGeom prst="line">
            <a:avLst/>
          </a:prstGeom>
          <a:noFill/>
          <a:ln w="9525">
            <a:solidFill>
              <a:srgbClr val="5B6088"/>
            </a:solidFill>
            <a:prstDash val="solid"/>
          </a:ln>
        </p:spPr>
      </p:sp>
      <p:sp>
        <p:nvSpPr>
          <p:cNvPr id="18" name="Shape 14"/>
          <p:cNvSpPr/>
          <p:nvPr/>
        </p:nvSpPr>
        <p:spPr>
          <a:xfrm>
            <a:off x="4708017" y="5522976"/>
            <a:ext cx="0" cy="292608"/>
          </a:xfrm>
          <a:prstGeom prst="line">
            <a:avLst/>
          </a:prstGeom>
          <a:noFill/>
          <a:ln w="15875">
            <a:solidFill>
              <a:srgbClr val="5B6088"/>
            </a:solidFill>
            <a:prstDash val="solid"/>
          </a:ln>
        </p:spPr>
      </p:sp>
      <p:sp>
        <p:nvSpPr>
          <p:cNvPr id="19" name="Text 15"/>
          <p:cNvSpPr txBox="1"/>
          <p:nvPr/>
        </p:nvSpPr>
        <p:spPr>
          <a:xfrm>
            <a:off x="4342257"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6"/>
          <p:cNvSpPr/>
          <p:nvPr/>
        </p:nvSpPr>
        <p:spPr>
          <a:xfrm>
            <a:off x="5401247" y="5586984"/>
            <a:ext cx="0" cy="164592"/>
          </a:xfrm>
          <a:prstGeom prst="line">
            <a:avLst/>
          </a:prstGeom>
          <a:noFill/>
          <a:ln w="9525">
            <a:solidFill>
              <a:srgbClr val="5B6088"/>
            </a:solidFill>
            <a:prstDash val="solid"/>
          </a:ln>
        </p:spPr>
      </p:sp>
      <p:sp>
        <p:nvSpPr>
          <p:cNvPr id="21" name="Shape 17"/>
          <p:cNvSpPr/>
          <p:nvPr/>
        </p:nvSpPr>
        <p:spPr>
          <a:xfrm>
            <a:off x="6094476" y="5522976"/>
            <a:ext cx="0" cy="292608"/>
          </a:xfrm>
          <a:prstGeom prst="line">
            <a:avLst/>
          </a:prstGeom>
          <a:noFill/>
          <a:ln w="15875">
            <a:solidFill>
              <a:srgbClr val="5B6088"/>
            </a:solidFill>
            <a:prstDash val="solid"/>
          </a:ln>
        </p:spPr>
      </p:sp>
      <p:sp>
        <p:nvSpPr>
          <p:cNvPr id="22" name="Text 18"/>
          <p:cNvSpPr txBox="1"/>
          <p:nvPr/>
        </p:nvSpPr>
        <p:spPr>
          <a:xfrm>
            <a:off x="5728716"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19"/>
          <p:cNvSpPr/>
          <p:nvPr/>
        </p:nvSpPr>
        <p:spPr>
          <a:xfrm>
            <a:off x="6787706" y="5586984"/>
            <a:ext cx="0" cy="164592"/>
          </a:xfrm>
          <a:prstGeom prst="line">
            <a:avLst/>
          </a:prstGeom>
          <a:noFill/>
          <a:ln w="9525">
            <a:solidFill>
              <a:srgbClr val="5B6088"/>
            </a:solidFill>
            <a:prstDash val="solid"/>
          </a:ln>
        </p:spPr>
      </p:sp>
      <p:sp>
        <p:nvSpPr>
          <p:cNvPr id="24" name="Shape 20"/>
          <p:cNvSpPr/>
          <p:nvPr/>
        </p:nvSpPr>
        <p:spPr>
          <a:xfrm>
            <a:off x="7480935" y="5522976"/>
            <a:ext cx="0" cy="292608"/>
          </a:xfrm>
          <a:prstGeom prst="line">
            <a:avLst/>
          </a:prstGeom>
          <a:noFill/>
          <a:ln w="15875">
            <a:solidFill>
              <a:srgbClr val="5B6088"/>
            </a:solidFill>
            <a:prstDash val="solid"/>
          </a:ln>
        </p:spPr>
      </p:sp>
      <p:sp>
        <p:nvSpPr>
          <p:cNvPr id="25" name="Text 21"/>
          <p:cNvSpPr txBox="1"/>
          <p:nvPr/>
        </p:nvSpPr>
        <p:spPr>
          <a:xfrm>
            <a:off x="7115175"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2"/>
          <p:cNvSpPr/>
          <p:nvPr/>
        </p:nvSpPr>
        <p:spPr>
          <a:xfrm>
            <a:off x="8174165" y="5586984"/>
            <a:ext cx="0" cy="164592"/>
          </a:xfrm>
          <a:prstGeom prst="line">
            <a:avLst/>
          </a:prstGeom>
          <a:noFill/>
          <a:ln w="9525">
            <a:solidFill>
              <a:srgbClr val="5B6088"/>
            </a:solidFill>
            <a:prstDash val="solid"/>
          </a:ln>
        </p:spPr>
      </p:sp>
      <p:sp>
        <p:nvSpPr>
          <p:cNvPr id="27" name="Shape 23"/>
          <p:cNvSpPr/>
          <p:nvPr/>
        </p:nvSpPr>
        <p:spPr>
          <a:xfrm>
            <a:off x="8867394" y="5522976"/>
            <a:ext cx="0" cy="292608"/>
          </a:xfrm>
          <a:prstGeom prst="line">
            <a:avLst/>
          </a:prstGeom>
          <a:noFill/>
          <a:ln w="15875">
            <a:solidFill>
              <a:srgbClr val="5B6088"/>
            </a:solidFill>
            <a:prstDash val="solid"/>
          </a:ln>
        </p:spPr>
      </p:sp>
      <p:sp>
        <p:nvSpPr>
          <p:cNvPr id="28" name="Text 24"/>
          <p:cNvSpPr txBox="1"/>
          <p:nvPr/>
        </p:nvSpPr>
        <p:spPr>
          <a:xfrm>
            <a:off x="8501634"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5"/>
          <p:cNvSpPr/>
          <p:nvPr/>
        </p:nvSpPr>
        <p:spPr>
          <a:xfrm>
            <a:off x="9560624" y="5586984"/>
            <a:ext cx="0" cy="164592"/>
          </a:xfrm>
          <a:prstGeom prst="line">
            <a:avLst/>
          </a:prstGeom>
          <a:noFill/>
          <a:ln w="9525">
            <a:solidFill>
              <a:srgbClr val="5B6088"/>
            </a:solidFill>
            <a:prstDash val="solid"/>
          </a:ln>
        </p:spPr>
      </p:sp>
      <p:sp>
        <p:nvSpPr>
          <p:cNvPr id="30" name="Shape 26"/>
          <p:cNvSpPr/>
          <p:nvPr/>
        </p:nvSpPr>
        <p:spPr>
          <a:xfrm>
            <a:off x="10253853" y="5522976"/>
            <a:ext cx="0" cy="292608"/>
          </a:xfrm>
          <a:prstGeom prst="line">
            <a:avLst/>
          </a:prstGeom>
          <a:noFill/>
          <a:ln w="15875">
            <a:solidFill>
              <a:srgbClr val="5B6088"/>
            </a:solidFill>
            <a:prstDash val="solid"/>
          </a:ln>
        </p:spPr>
      </p:sp>
      <p:sp>
        <p:nvSpPr>
          <p:cNvPr id="31" name="Text 27"/>
          <p:cNvSpPr txBox="1"/>
          <p:nvPr/>
        </p:nvSpPr>
        <p:spPr>
          <a:xfrm>
            <a:off x="9888093" y="589788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8"/>
          <p:cNvSpPr/>
          <p:nvPr/>
        </p:nvSpPr>
        <p:spPr>
          <a:xfrm>
            <a:off x="10947083" y="5586984"/>
            <a:ext cx="0" cy="164592"/>
          </a:xfrm>
          <a:prstGeom prst="line">
            <a:avLst/>
          </a:prstGeom>
          <a:noFill/>
          <a:ln w="9525">
            <a:solidFill>
              <a:srgbClr val="5B6088"/>
            </a:solidFill>
            <a:prstDash val="solid"/>
          </a:ln>
        </p:spPr>
      </p:sp>
      <p:sp>
        <p:nvSpPr>
          <p:cNvPr id="33" name="Shape 29"/>
          <p:cNvSpPr/>
          <p:nvPr/>
        </p:nvSpPr>
        <p:spPr>
          <a:xfrm>
            <a:off x="11640312" y="5522976"/>
            <a:ext cx="0" cy="292608"/>
          </a:xfrm>
          <a:prstGeom prst="line">
            <a:avLst/>
          </a:prstGeom>
          <a:noFill/>
          <a:ln w="15875">
            <a:solidFill>
              <a:srgbClr val="5B6088"/>
            </a:solidFill>
            <a:prstDash val="solid"/>
          </a:ln>
        </p:spPr>
      </p:sp>
      <p:sp>
        <p:nvSpPr>
          <p:cNvPr id="34" name="Text 30"/>
          <p:cNvSpPr txBox="1"/>
          <p:nvPr/>
        </p:nvSpPr>
        <p:spPr>
          <a:xfrm>
            <a:off x="10908792" y="589788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Shape 31"/>
          <p:cNvSpPr/>
          <p:nvPr/>
        </p:nvSpPr>
        <p:spPr>
          <a:xfrm>
            <a:off x="1040702" y="5468112"/>
            <a:ext cx="402336" cy="402336"/>
          </a:xfrm>
          <a:prstGeom prst="ellipse">
            <a:avLst/>
          </a:prstGeom>
          <a:ln w="31750">
            <a:solidFill>
              <a:srgbClr val="F44904"/>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01 · LET’S TALK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02 / 17</a:t>
            </a:r>
            <a:endParaRPr lang="en-US" sz="1000" dirty="0"/>
          </a:p>
        </p:txBody>
      </p:sp>
      <p:sp>
        <p:nvSpPr>
          <p:cNvPr id="6" name="Text 3"/>
          <p:cNvSpPr txBox="1"/>
          <p:nvPr/>
        </p:nvSpPr>
        <p:spPr>
          <a:xfrm>
            <a:off x="548640" y="1188720"/>
            <a:ext cx="6766560" cy="2377440"/>
          </a:xfrm>
          <a:prstGeom prst="rect">
            <a:avLst/>
          </a:prstGeom>
          <a:noFill/>
          <a:ln/>
        </p:spPr>
        <p:txBody>
          <a:bodyPr wrap="square" lIns="0" tIns="0" rIns="0" bIns="0" rtlCol="0" anchor="t"/>
          <a:lstStyle/>
          <a:p>
            <a:pPr indent="0" marL="0">
              <a:lnSpc>
                <a:spcPct val="95000"/>
              </a:lnSpc>
              <a:buNone/>
            </a:pPr>
            <a:r>
              <a:rPr lang="en-US" sz="5200" dirty="0">
                <a:solidFill>
                  <a:srgbClr val="0B1440"/>
                </a:solidFill>
                <a:latin typeface="Poppins ExtraBold" pitchFamily="34" charset="0"/>
                <a:ea typeface="Poppins ExtraBold" pitchFamily="34" charset="-122"/>
                <a:cs typeface="Poppins ExtraBold" pitchFamily="34" charset="-120"/>
              </a:rPr>
              <a:t>What’s a typical day like for you?</a:t>
            </a:r>
            <a:endParaRPr lang="en-US" sz="5200" dirty="0"/>
          </a:p>
        </p:txBody>
      </p:sp>
      <p:sp>
        <p:nvSpPr>
          <p:cNvPr id="7" name="Shape 4"/>
          <p:cNvSpPr/>
          <p:nvPr/>
        </p:nvSpPr>
        <p:spPr>
          <a:xfrm>
            <a:off x="7726680" y="1188720"/>
            <a:ext cx="3913632" cy="1188720"/>
          </a:xfrm>
          <a:prstGeom prst="roundRect">
            <a:avLst>
              <a:gd name="adj" fmla="val 10769"/>
            </a:avLst>
          </a:prstGeom>
          <a:solidFill>
            <a:srgbClr val="F3EFE6"/>
          </a:solidFill>
          <a:ln/>
        </p:spPr>
      </p:sp>
      <p:sp>
        <p:nvSpPr>
          <p:cNvPr id="8" name="Text 5"/>
          <p:cNvSpPr txBox="1"/>
          <p:nvPr/>
        </p:nvSpPr>
        <p:spPr>
          <a:xfrm>
            <a:off x="8001000" y="13716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01</a:t>
            </a:r>
            <a:endParaRPr lang="en-US" sz="1100" dirty="0"/>
          </a:p>
        </p:txBody>
      </p:sp>
      <p:sp>
        <p:nvSpPr>
          <p:cNvPr id="9" name="Text 6"/>
          <p:cNvSpPr txBox="1"/>
          <p:nvPr/>
        </p:nvSpPr>
        <p:spPr>
          <a:xfrm>
            <a:off x="8001000" y="16276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get up?</a:t>
            </a:r>
            <a:endParaRPr lang="en-US" sz="1800" dirty="0"/>
          </a:p>
        </p:txBody>
      </p:sp>
      <p:sp>
        <p:nvSpPr>
          <p:cNvPr id="10" name="Shape 7"/>
          <p:cNvSpPr/>
          <p:nvPr/>
        </p:nvSpPr>
        <p:spPr>
          <a:xfrm>
            <a:off x="7726680" y="2560320"/>
            <a:ext cx="3913632" cy="1188720"/>
          </a:xfrm>
          <a:prstGeom prst="roundRect">
            <a:avLst>
              <a:gd name="adj" fmla="val 10769"/>
            </a:avLst>
          </a:prstGeom>
          <a:solidFill>
            <a:srgbClr val="F3EFE6"/>
          </a:solidFill>
          <a:ln/>
        </p:spPr>
      </p:sp>
      <p:sp>
        <p:nvSpPr>
          <p:cNvPr id="11" name="Text 8"/>
          <p:cNvSpPr txBox="1"/>
          <p:nvPr/>
        </p:nvSpPr>
        <p:spPr>
          <a:xfrm>
            <a:off x="8001000" y="27432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02</a:t>
            </a:r>
            <a:endParaRPr lang="en-US" sz="1100" dirty="0"/>
          </a:p>
        </p:txBody>
      </p:sp>
      <p:sp>
        <p:nvSpPr>
          <p:cNvPr id="12" name="Text 9"/>
          <p:cNvSpPr txBox="1"/>
          <p:nvPr/>
        </p:nvSpPr>
        <p:spPr>
          <a:xfrm>
            <a:off x="8001000" y="29992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do you do in the morning?</a:t>
            </a:r>
            <a:endParaRPr lang="en-US" sz="1800" dirty="0"/>
          </a:p>
        </p:txBody>
      </p:sp>
      <p:sp>
        <p:nvSpPr>
          <p:cNvPr id="13" name="Shape 10"/>
          <p:cNvSpPr/>
          <p:nvPr/>
        </p:nvSpPr>
        <p:spPr>
          <a:xfrm>
            <a:off x="7726680" y="3931920"/>
            <a:ext cx="3913632" cy="1188720"/>
          </a:xfrm>
          <a:prstGeom prst="roundRect">
            <a:avLst>
              <a:gd name="adj" fmla="val 10769"/>
            </a:avLst>
          </a:prstGeom>
          <a:solidFill>
            <a:srgbClr val="F3EFE6"/>
          </a:solidFill>
          <a:ln/>
        </p:spPr>
      </p:sp>
      <p:sp>
        <p:nvSpPr>
          <p:cNvPr id="14" name="Text 11"/>
          <p:cNvSpPr txBox="1"/>
          <p:nvPr/>
        </p:nvSpPr>
        <p:spPr>
          <a:xfrm>
            <a:off x="8001000" y="4114800"/>
            <a:ext cx="548640" cy="274320"/>
          </a:xfrm>
          <a:prstGeom prst="rect">
            <a:avLst/>
          </a:prstGeom>
          <a:noFill/>
          <a:ln/>
        </p:spPr>
        <p:txBody>
          <a:bodyPr wrap="square" lIns="0" tIns="0" rIns="0" bIns="0" rtlCol="0" anchor="t"/>
          <a:lstStyle/>
          <a:p>
            <a:pPr indent="0" marL="0">
              <a:buNone/>
            </a:pPr>
            <a:r>
              <a:rPr lang="en-US" sz="1100" dirty="0">
                <a:solidFill>
                  <a:srgbClr val="F44904"/>
                </a:solidFill>
                <a:latin typeface="JetBrains Mono Medium" pitchFamily="34" charset="0"/>
                <a:ea typeface="JetBrains Mono Medium" pitchFamily="34" charset="-122"/>
                <a:cs typeface="JetBrains Mono Medium" pitchFamily="34" charset="-120"/>
              </a:rPr>
              <a:t>03</a:t>
            </a:r>
            <a:endParaRPr lang="en-US" sz="1100" dirty="0"/>
          </a:p>
        </p:txBody>
      </p:sp>
      <p:sp>
        <p:nvSpPr>
          <p:cNvPr id="15" name="Text 12"/>
          <p:cNvSpPr txBox="1"/>
          <p:nvPr/>
        </p:nvSpPr>
        <p:spPr>
          <a:xfrm>
            <a:off x="8001000" y="4370832"/>
            <a:ext cx="3429000" cy="658368"/>
          </a:xfrm>
          <a:prstGeom prst="rect">
            <a:avLst/>
          </a:prstGeom>
          <a:noFill/>
          <a:ln/>
        </p:spPr>
        <p:txBody>
          <a:bodyPr wrap="square" lIns="0" tIns="0" rIns="0" bIns="0" rtlCol="0" anchor="ctr"/>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What time do you start work?</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02 · YOUR WEEKDAY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Tell me about your day.</a:t>
            </a:r>
            <a:endParaRPr lang="en-US" sz="4000" dirty="0"/>
          </a:p>
        </p:txBody>
      </p:sp>
      <p:sp>
        <p:nvSpPr>
          <p:cNvPr id="7" name="Text 4"/>
          <p:cNvSpPr txBox="1"/>
          <p:nvPr/>
        </p:nvSpPr>
        <p:spPr>
          <a:xfrm>
            <a:off x="548640" y="160020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 normal weekday — morning to evening.</a:t>
            </a:r>
            <a:endParaRPr lang="en-US" sz="2200" dirty="0"/>
          </a:p>
        </p:txBody>
      </p:sp>
      <p:sp>
        <p:nvSpPr>
          <p:cNvPr id="8" name="Shape 5"/>
          <p:cNvSpPr/>
          <p:nvPr/>
        </p:nvSpPr>
        <p:spPr>
          <a:xfrm>
            <a:off x="548640" y="3246120"/>
            <a:ext cx="11091672" cy="0"/>
          </a:xfrm>
          <a:prstGeom prst="line">
            <a:avLst/>
          </a:prstGeom>
          <a:noFill/>
          <a:ln w="15875">
            <a:solidFill>
              <a:srgbClr val="DDD6C7"/>
            </a:solidFill>
            <a:prstDash val="solid"/>
          </a:ln>
        </p:spPr>
      </p:sp>
      <p:sp>
        <p:nvSpPr>
          <p:cNvPr id="9" name="Shape 6"/>
          <p:cNvSpPr/>
          <p:nvPr/>
        </p:nvSpPr>
        <p:spPr>
          <a:xfrm>
            <a:off x="548640" y="3099816"/>
            <a:ext cx="0" cy="292608"/>
          </a:xfrm>
          <a:prstGeom prst="line">
            <a:avLst/>
          </a:prstGeom>
          <a:noFill/>
          <a:ln w="15875">
            <a:solidFill>
              <a:srgbClr val="B7AFA0"/>
            </a:solidFill>
            <a:prstDash val="solid"/>
          </a:ln>
        </p:spPr>
      </p:sp>
      <p:sp>
        <p:nvSpPr>
          <p:cNvPr id="10" name="Text 7"/>
          <p:cNvSpPr txBox="1"/>
          <p:nvPr/>
        </p:nvSpPr>
        <p:spPr>
          <a:xfrm>
            <a:off x="548640" y="3474720"/>
            <a:ext cx="731520" cy="228600"/>
          </a:xfrm>
          <a:prstGeom prst="rect">
            <a:avLst/>
          </a:prstGeom>
          <a:noFill/>
          <a:ln/>
        </p:spPr>
        <p:txBody>
          <a:bodyPr wrap="square" lIns="0" tIns="0" rIns="0" bIns="0" rtlCol="0" anchor="t"/>
          <a:lstStyle/>
          <a:p>
            <a:pPr algn="l"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3163824"/>
            <a:ext cx="0" cy="164592"/>
          </a:xfrm>
          <a:prstGeom prst="line">
            <a:avLst/>
          </a:prstGeom>
          <a:noFill/>
          <a:ln w="9525">
            <a:solidFill>
              <a:srgbClr val="B7AFA0"/>
            </a:solidFill>
            <a:prstDash val="solid"/>
          </a:ln>
        </p:spPr>
      </p:sp>
      <p:sp>
        <p:nvSpPr>
          <p:cNvPr id="12" name="Shape 9"/>
          <p:cNvSpPr/>
          <p:nvPr/>
        </p:nvSpPr>
        <p:spPr>
          <a:xfrm>
            <a:off x="1935099" y="3099816"/>
            <a:ext cx="0" cy="292608"/>
          </a:xfrm>
          <a:prstGeom prst="line">
            <a:avLst/>
          </a:prstGeom>
          <a:noFill/>
          <a:ln w="15875">
            <a:solidFill>
              <a:srgbClr val="B7AFA0"/>
            </a:solidFill>
            <a:prstDash val="solid"/>
          </a:ln>
        </p:spPr>
      </p:sp>
      <p:sp>
        <p:nvSpPr>
          <p:cNvPr id="13" name="Text 10"/>
          <p:cNvSpPr txBox="1"/>
          <p:nvPr/>
        </p:nvSpPr>
        <p:spPr>
          <a:xfrm>
            <a:off x="1569339"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3163824"/>
            <a:ext cx="0" cy="164592"/>
          </a:xfrm>
          <a:prstGeom prst="line">
            <a:avLst/>
          </a:prstGeom>
          <a:noFill/>
          <a:ln w="9525">
            <a:solidFill>
              <a:srgbClr val="B7AFA0"/>
            </a:solidFill>
            <a:prstDash val="solid"/>
          </a:ln>
        </p:spPr>
      </p:sp>
      <p:sp>
        <p:nvSpPr>
          <p:cNvPr id="15" name="Shape 12"/>
          <p:cNvSpPr/>
          <p:nvPr/>
        </p:nvSpPr>
        <p:spPr>
          <a:xfrm>
            <a:off x="3321558" y="3099816"/>
            <a:ext cx="0" cy="292608"/>
          </a:xfrm>
          <a:prstGeom prst="line">
            <a:avLst/>
          </a:prstGeom>
          <a:noFill/>
          <a:ln w="15875">
            <a:solidFill>
              <a:srgbClr val="B7AFA0"/>
            </a:solidFill>
            <a:prstDash val="solid"/>
          </a:ln>
        </p:spPr>
      </p:sp>
      <p:sp>
        <p:nvSpPr>
          <p:cNvPr id="16" name="Text 13"/>
          <p:cNvSpPr txBox="1"/>
          <p:nvPr/>
        </p:nvSpPr>
        <p:spPr>
          <a:xfrm>
            <a:off x="2955798"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3163824"/>
            <a:ext cx="0" cy="164592"/>
          </a:xfrm>
          <a:prstGeom prst="line">
            <a:avLst/>
          </a:prstGeom>
          <a:noFill/>
          <a:ln w="9525">
            <a:solidFill>
              <a:srgbClr val="B7AFA0"/>
            </a:solidFill>
            <a:prstDash val="solid"/>
          </a:ln>
        </p:spPr>
      </p:sp>
      <p:sp>
        <p:nvSpPr>
          <p:cNvPr id="18" name="Shape 15"/>
          <p:cNvSpPr/>
          <p:nvPr/>
        </p:nvSpPr>
        <p:spPr>
          <a:xfrm>
            <a:off x="4708017" y="3099816"/>
            <a:ext cx="0" cy="292608"/>
          </a:xfrm>
          <a:prstGeom prst="line">
            <a:avLst/>
          </a:prstGeom>
          <a:noFill/>
          <a:ln w="15875">
            <a:solidFill>
              <a:srgbClr val="B7AFA0"/>
            </a:solidFill>
            <a:prstDash val="solid"/>
          </a:ln>
        </p:spPr>
      </p:sp>
      <p:sp>
        <p:nvSpPr>
          <p:cNvPr id="19" name="Text 16"/>
          <p:cNvSpPr txBox="1"/>
          <p:nvPr/>
        </p:nvSpPr>
        <p:spPr>
          <a:xfrm>
            <a:off x="4342257"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3163824"/>
            <a:ext cx="0" cy="164592"/>
          </a:xfrm>
          <a:prstGeom prst="line">
            <a:avLst/>
          </a:prstGeom>
          <a:noFill/>
          <a:ln w="9525">
            <a:solidFill>
              <a:srgbClr val="B7AFA0"/>
            </a:solidFill>
            <a:prstDash val="solid"/>
          </a:ln>
        </p:spPr>
      </p:sp>
      <p:sp>
        <p:nvSpPr>
          <p:cNvPr id="21" name="Shape 18"/>
          <p:cNvSpPr/>
          <p:nvPr/>
        </p:nvSpPr>
        <p:spPr>
          <a:xfrm>
            <a:off x="6094476" y="3099816"/>
            <a:ext cx="0" cy="292608"/>
          </a:xfrm>
          <a:prstGeom prst="line">
            <a:avLst/>
          </a:prstGeom>
          <a:noFill/>
          <a:ln w="15875">
            <a:solidFill>
              <a:srgbClr val="B7AFA0"/>
            </a:solidFill>
            <a:prstDash val="solid"/>
          </a:ln>
        </p:spPr>
      </p:sp>
      <p:sp>
        <p:nvSpPr>
          <p:cNvPr id="22" name="Text 19"/>
          <p:cNvSpPr txBox="1"/>
          <p:nvPr/>
        </p:nvSpPr>
        <p:spPr>
          <a:xfrm>
            <a:off x="5728716"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3163824"/>
            <a:ext cx="0" cy="164592"/>
          </a:xfrm>
          <a:prstGeom prst="line">
            <a:avLst/>
          </a:prstGeom>
          <a:noFill/>
          <a:ln w="9525">
            <a:solidFill>
              <a:srgbClr val="B7AFA0"/>
            </a:solidFill>
            <a:prstDash val="solid"/>
          </a:ln>
        </p:spPr>
      </p:sp>
      <p:sp>
        <p:nvSpPr>
          <p:cNvPr id="24" name="Shape 21"/>
          <p:cNvSpPr/>
          <p:nvPr/>
        </p:nvSpPr>
        <p:spPr>
          <a:xfrm>
            <a:off x="7480935" y="3099816"/>
            <a:ext cx="0" cy="292608"/>
          </a:xfrm>
          <a:prstGeom prst="line">
            <a:avLst/>
          </a:prstGeom>
          <a:noFill/>
          <a:ln w="15875">
            <a:solidFill>
              <a:srgbClr val="B7AFA0"/>
            </a:solidFill>
            <a:prstDash val="solid"/>
          </a:ln>
        </p:spPr>
      </p:sp>
      <p:sp>
        <p:nvSpPr>
          <p:cNvPr id="25" name="Text 22"/>
          <p:cNvSpPr txBox="1"/>
          <p:nvPr/>
        </p:nvSpPr>
        <p:spPr>
          <a:xfrm>
            <a:off x="7115175"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3163824"/>
            <a:ext cx="0" cy="164592"/>
          </a:xfrm>
          <a:prstGeom prst="line">
            <a:avLst/>
          </a:prstGeom>
          <a:noFill/>
          <a:ln w="9525">
            <a:solidFill>
              <a:srgbClr val="B7AFA0"/>
            </a:solidFill>
            <a:prstDash val="solid"/>
          </a:ln>
        </p:spPr>
      </p:sp>
      <p:sp>
        <p:nvSpPr>
          <p:cNvPr id="27" name="Shape 24"/>
          <p:cNvSpPr/>
          <p:nvPr/>
        </p:nvSpPr>
        <p:spPr>
          <a:xfrm>
            <a:off x="8867394" y="3099816"/>
            <a:ext cx="0" cy="292608"/>
          </a:xfrm>
          <a:prstGeom prst="line">
            <a:avLst/>
          </a:prstGeom>
          <a:noFill/>
          <a:ln w="15875">
            <a:solidFill>
              <a:srgbClr val="B7AFA0"/>
            </a:solidFill>
            <a:prstDash val="solid"/>
          </a:ln>
        </p:spPr>
      </p:sp>
      <p:sp>
        <p:nvSpPr>
          <p:cNvPr id="28" name="Text 25"/>
          <p:cNvSpPr txBox="1"/>
          <p:nvPr/>
        </p:nvSpPr>
        <p:spPr>
          <a:xfrm>
            <a:off x="8501634"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3163824"/>
            <a:ext cx="0" cy="164592"/>
          </a:xfrm>
          <a:prstGeom prst="line">
            <a:avLst/>
          </a:prstGeom>
          <a:noFill/>
          <a:ln w="9525">
            <a:solidFill>
              <a:srgbClr val="B7AFA0"/>
            </a:solidFill>
            <a:prstDash val="solid"/>
          </a:ln>
        </p:spPr>
      </p:sp>
      <p:sp>
        <p:nvSpPr>
          <p:cNvPr id="30" name="Shape 27"/>
          <p:cNvSpPr/>
          <p:nvPr/>
        </p:nvSpPr>
        <p:spPr>
          <a:xfrm>
            <a:off x="10253853" y="3099816"/>
            <a:ext cx="0" cy="292608"/>
          </a:xfrm>
          <a:prstGeom prst="line">
            <a:avLst/>
          </a:prstGeom>
          <a:noFill/>
          <a:ln w="15875">
            <a:solidFill>
              <a:srgbClr val="B7AFA0"/>
            </a:solidFill>
            <a:prstDash val="solid"/>
          </a:ln>
        </p:spPr>
      </p:sp>
      <p:sp>
        <p:nvSpPr>
          <p:cNvPr id="31" name="Text 28"/>
          <p:cNvSpPr txBox="1"/>
          <p:nvPr/>
        </p:nvSpPr>
        <p:spPr>
          <a:xfrm>
            <a:off x="9888093" y="3474720"/>
            <a:ext cx="731520" cy="228600"/>
          </a:xfrm>
          <a:prstGeom prst="rect">
            <a:avLst/>
          </a:prstGeom>
          <a:noFill/>
          <a:ln/>
        </p:spPr>
        <p:txBody>
          <a:bodyPr wrap="square" lIns="0" tIns="0" rIns="0" bIns="0" rtlCol="0" anchor="t"/>
          <a:lstStyle/>
          <a:p>
            <a:pPr algn="ct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3163824"/>
            <a:ext cx="0" cy="164592"/>
          </a:xfrm>
          <a:prstGeom prst="line">
            <a:avLst/>
          </a:prstGeom>
          <a:noFill/>
          <a:ln w="9525">
            <a:solidFill>
              <a:srgbClr val="B7AFA0"/>
            </a:solidFill>
            <a:prstDash val="solid"/>
          </a:ln>
        </p:spPr>
      </p:sp>
      <p:sp>
        <p:nvSpPr>
          <p:cNvPr id="33" name="Shape 30"/>
          <p:cNvSpPr/>
          <p:nvPr/>
        </p:nvSpPr>
        <p:spPr>
          <a:xfrm>
            <a:off x="11640312" y="3099816"/>
            <a:ext cx="0" cy="292608"/>
          </a:xfrm>
          <a:prstGeom prst="line">
            <a:avLst/>
          </a:prstGeom>
          <a:noFill/>
          <a:ln w="15875">
            <a:solidFill>
              <a:srgbClr val="B7AFA0"/>
            </a:solidFill>
            <a:prstDash val="solid"/>
          </a:ln>
        </p:spPr>
      </p:sp>
      <p:sp>
        <p:nvSpPr>
          <p:cNvPr id="34" name="Text 31"/>
          <p:cNvSpPr txBox="1"/>
          <p:nvPr/>
        </p:nvSpPr>
        <p:spPr>
          <a:xfrm>
            <a:off x="10908792" y="3474720"/>
            <a:ext cx="731520" cy="228600"/>
          </a:xfrm>
          <a:prstGeom prst="rect">
            <a:avLst/>
          </a:prstGeom>
          <a:noFill/>
          <a:ln/>
        </p:spPr>
        <p:txBody>
          <a:bodyPr wrap="square" lIns="0" tIns="0" rIns="0" bIns="0" rtlCol="0" anchor="t"/>
          <a:lstStyle/>
          <a:p>
            <a:pPr algn="r" indent="0" marL="0">
              <a:buNone/>
            </a:pPr>
            <a:r>
              <a:rPr lang="en-US" sz="900" dirty="0">
                <a:solidFill>
                  <a:srgbClr val="5B6088"/>
                </a:solidFill>
                <a:latin typeface="JetBrains Mono Medium" pitchFamily="34" charset="0"/>
                <a:ea typeface="JetBrains Mono Medium" pitchFamily="34" charset="-122"/>
                <a:cs typeface="JetBrains Mono Medium" pitchFamily="34" charset="-120"/>
              </a:rPr>
              <a:t>22:00</a:t>
            </a:r>
            <a:endParaRPr lang="en-US" sz="900" dirty="0"/>
          </a:p>
        </p:txBody>
      </p:sp>
      <p:sp>
        <p:nvSpPr>
          <p:cNvPr id="35" name="Text 32"/>
          <p:cNvSpPr txBox="1"/>
          <p:nvPr/>
        </p:nvSpPr>
        <p:spPr>
          <a:xfrm>
            <a:off x="548640" y="2697480"/>
            <a:ext cx="1463040" cy="274320"/>
          </a:xfrm>
          <a:prstGeom prst="rect">
            <a:avLst/>
          </a:prstGeom>
          <a:noFill/>
          <a:ln/>
        </p:spPr>
        <p:txBody>
          <a:bodyPr wrap="square" lIns="0" tIns="0" rIns="0" bIns="0" rtlCol="0" anchor="t"/>
          <a:lstStyle/>
          <a:p>
            <a:pPr algn="l"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MORNING</a:t>
            </a:r>
            <a:endParaRPr lang="en-US" sz="1000" dirty="0"/>
          </a:p>
        </p:txBody>
      </p:sp>
      <p:sp>
        <p:nvSpPr>
          <p:cNvPr id="36" name="Text 33"/>
          <p:cNvSpPr txBox="1"/>
          <p:nvPr/>
        </p:nvSpPr>
        <p:spPr>
          <a:xfrm>
            <a:off x="3976497"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AFTERNOON</a:t>
            </a:r>
            <a:endParaRPr lang="en-US" sz="1000" dirty="0"/>
          </a:p>
        </p:txBody>
      </p:sp>
      <p:sp>
        <p:nvSpPr>
          <p:cNvPr id="37" name="Text 34"/>
          <p:cNvSpPr txBox="1"/>
          <p:nvPr/>
        </p:nvSpPr>
        <p:spPr>
          <a:xfrm>
            <a:off x="8135874" y="2697480"/>
            <a:ext cx="1463040" cy="274320"/>
          </a:xfrm>
          <a:prstGeom prst="rect">
            <a:avLst/>
          </a:prstGeom>
          <a:noFill/>
          <a:ln/>
        </p:spPr>
        <p:txBody>
          <a:bodyPr wrap="square" lIns="0" tIns="0" rIns="0" bIns="0" rtlCol="0" anchor="t"/>
          <a:lstStyle/>
          <a:p>
            <a:pPr algn="ctr" indent="0" marL="0">
              <a:buNone/>
            </a:pPr>
            <a:r>
              <a:rPr lang="en-US" sz="1000" spc="150" kern="0" dirty="0">
                <a:solidFill>
                  <a:srgbClr val="F44904"/>
                </a:solidFill>
                <a:latin typeface="JetBrains Mono Medium" pitchFamily="34" charset="0"/>
                <a:ea typeface="JetBrains Mono Medium" pitchFamily="34" charset="-122"/>
                <a:cs typeface="JetBrains Mono Medium" pitchFamily="34" charset="-120"/>
              </a:rPr>
              <a:t>EVENING</a:t>
            </a:r>
            <a:endParaRPr lang="en-US" sz="1000" dirty="0"/>
          </a:p>
        </p:txBody>
      </p:sp>
      <p:sp>
        <p:nvSpPr>
          <p:cNvPr id="38" name="Text 35"/>
          <p:cNvSpPr txBox="1"/>
          <p:nvPr/>
        </p:nvSpPr>
        <p:spPr>
          <a:xfrm>
            <a:off x="548640" y="4343400"/>
            <a:ext cx="3657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IF YOU NEED HELP</a:t>
            </a:r>
            <a:endParaRPr lang="en-US" sz="1100" dirty="0"/>
          </a:p>
        </p:txBody>
      </p:sp>
      <p:sp>
        <p:nvSpPr>
          <p:cNvPr id="39" name="Text 36"/>
          <p:cNvSpPr txBox="1"/>
          <p:nvPr/>
        </p:nvSpPr>
        <p:spPr>
          <a:xfrm>
            <a:off x="54864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get up?</a:t>
            </a:r>
            <a:endParaRPr lang="en-US" sz="1700" dirty="0"/>
          </a:p>
        </p:txBody>
      </p:sp>
      <p:sp>
        <p:nvSpPr>
          <p:cNvPr id="40" name="Text 37"/>
          <p:cNvSpPr txBox="1"/>
          <p:nvPr/>
        </p:nvSpPr>
        <p:spPr>
          <a:xfrm>
            <a:off x="429768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in the morning?</a:t>
            </a:r>
            <a:endParaRPr lang="en-US" sz="1700" dirty="0"/>
          </a:p>
        </p:txBody>
      </p:sp>
      <p:sp>
        <p:nvSpPr>
          <p:cNvPr id="41" name="Text 38"/>
          <p:cNvSpPr txBox="1"/>
          <p:nvPr/>
        </p:nvSpPr>
        <p:spPr>
          <a:xfrm>
            <a:off x="8046720" y="47091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Where do you work?</a:t>
            </a:r>
            <a:endParaRPr lang="en-US" sz="1700" dirty="0"/>
          </a:p>
        </p:txBody>
      </p:sp>
      <p:sp>
        <p:nvSpPr>
          <p:cNvPr id="42" name="Text 39"/>
          <p:cNvSpPr txBox="1"/>
          <p:nvPr/>
        </p:nvSpPr>
        <p:spPr>
          <a:xfrm>
            <a:off x="54864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do you do at work?</a:t>
            </a:r>
            <a:endParaRPr lang="en-US" sz="1700" dirty="0"/>
          </a:p>
        </p:txBody>
      </p:sp>
      <p:sp>
        <p:nvSpPr>
          <p:cNvPr id="43" name="Text 40"/>
          <p:cNvSpPr txBox="1"/>
          <p:nvPr/>
        </p:nvSpPr>
        <p:spPr>
          <a:xfrm>
            <a:off x="4297680" y="5166360"/>
            <a:ext cx="3566160" cy="365760"/>
          </a:xfrm>
          <a:prstGeom prst="rect">
            <a:avLst/>
          </a:prstGeom>
          <a:noFill/>
          <a:ln/>
        </p:spPr>
        <p:txBody>
          <a:bodyPr wrap="square" lIns="0" tIns="0" rIns="0" bIns="0" rtlCol="0" anchor="t"/>
          <a:lstStyle/>
          <a:p>
            <a:pPr indent="0" marL="0">
              <a:buNone/>
            </a:pPr>
            <a:r>
              <a:rPr lang="en-US" sz="1700" dirty="0">
                <a:solidFill>
                  <a:srgbClr val="5B6088"/>
                </a:solidFill>
                <a:latin typeface="Hanken Grotesk" pitchFamily="34" charset="0"/>
                <a:ea typeface="Hanken Grotesk" pitchFamily="34" charset="-122"/>
                <a:cs typeface="Hanken Grotesk" pitchFamily="34" charset="-120"/>
              </a:rPr>
              <a:t>What time do you finish?</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 Doctor’s Day</a:t>
            </a:r>
            <a:endParaRPr lang="en-US" sz="4000" dirty="0"/>
          </a:p>
        </p:txBody>
      </p:sp>
      <p:sp>
        <p:nvSpPr>
          <p:cNvPr id="7" name="Shape 4"/>
          <p:cNvSpPr/>
          <p:nvPr/>
        </p:nvSpPr>
        <p:spPr>
          <a:xfrm>
            <a:off x="7891272" y="731520"/>
            <a:ext cx="868680" cy="868680"/>
          </a:xfrm>
          <a:prstGeom prst="roundRect">
            <a:avLst>
              <a:gd name="adj" fmla="val 14737"/>
            </a:avLst>
          </a:prstGeom>
          <a:solidFill>
            <a:srgbClr val="F44904"/>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554480"/>
            <a:ext cx="64008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What does she do at 7:00?</a:t>
            </a:r>
            <a:endParaRPr lang="en-US" sz="2200" dirty="0"/>
          </a:p>
        </p:txBody>
      </p:sp>
      <p:sp>
        <p:nvSpPr>
          <p:cNvPr id="12" name="Shape 9"/>
          <p:cNvSpPr/>
          <p:nvPr/>
        </p:nvSpPr>
        <p:spPr>
          <a:xfrm>
            <a:off x="548640" y="3063240"/>
            <a:ext cx="11091672" cy="0"/>
          </a:xfrm>
          <a:prstGeom prst="line">
            <a:avLst/>
          </a:prstGeom>
          <a:noFill/>
          <a:ln w="15875">
            <a:solidFill>
              <a:srgbClr val="DDD6C7"/>
            </a:solidFill>
            <a:prstDash val="solid"/>
          </a:ln>
        </p:spPr>
      </p:sp>
      <p:sp>
        <p:nvSpPr>
          <p:cNvPr id="13" name="Shape 10"/>
          <p:cNvSpPr/>
          <p:nvPr/>
        </p:nvSpPr>
        <p:spPr>
          <a:xfrm>
            <a:off x="1115568" y="2953512"/>
            <a:ext cx="0" cy="219456"/>
          </a:xfrm>
          <a:prstGeom prst="line">
            <a:avLst/>
          </a:prstGeom>
          <a:noFill/>
          <a:ln w="15875">
            <a:solidFill>
              <a:srgbClr val="0B1440"/>
            </a:solidFill>
            <a:prstDash val="solid"/>
          </a:ln>
        </p:spPr>
      </p:sp>
      <p:sp>
        <p:nvSpPr>
          <p:cNvPr id="14" name="Text 11"/>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5"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Shape 14"/>
          <p:cNvSpPr/>
          <p:nvPr/>
        </p:nvSpPr>
        <p:spPr>
          <a:xfrm>
            <a:off x="3960658" y="2953512"/>
            <a:ext cx="0" cy="219456"/>
          </a:xfrm>
          <a:prstGeom prst="line">
            <a:avLst/>
          </a:prstGeom>
          <a:noFill/>
          <a:ln w="15875">
            <a:solidFill>
              <a:srgbClr val="0B1440"/>
            </a:solidFill>
            <a:prstDash val="solid"/>
          </a:ln>
        </p:spPr>
      </p:sp>
      <p:sp>
        <p:nvSpPr>
          <p:cNvPr id="20" name="Text 15"/>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1"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2" name="Shape 16"/>
          <p:cNvSpPr/>
          <p:nvPr/>
        </p:nvSpPr>
        <p:spPr>
          <a:xfrm>
            <a:off x="5383203" y="2953512"/>
            <a:ext cx="0" cy="219456"/>
          </a:xfrm>
          <a:prstGeom prst="line">
            <a:avLst/>
          </a:prstGeom>
          <a:noFill/>
          <a:ln w="15875">
            <a:solidFill>
              <a:srgbClr val="0B1440"/>
            </a:solidFill>
            <a:prstDash val="solid"/>
          </a:ln>
        </p:spPr>
      </p:sp>
      <p:sp>
        <p:nvSpPr>
          <p:cNvPr id="23" name="Text 17"/>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4"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5" name="Shape 18"/>
          <p:cNvSpPr/>
          <p:nvPr/>
        </p:nvSpPr>
        <p:spPr>
          <a:xfrm>
            <a:off x="6805749" y="2953512"/>
            <a:ext cx="0" cy="219456"/>
          </a:xfrm>
          <a:prstGeom prst="line">
            <a:avLst/>
          </a:prstGeom>
          <a:noFill/>
          <a:ln w="15875">
            <a:solidFill>
              <a:srgbClr val="0B1440"/>
            </a:solidFill>
            <a:prstDash val="solid"/>
          </a:ln>
        </p:spPr>
      </p:sp>
      <p:sp>
        <p:nvSpPr>
          <p:cNvPr id="26" name="Text 19"/>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27"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28" name="Shape 20"/>
          <p:cNvSpPr/>
          <p:nvPr/>
        </p:nvSpPr>
        <p:spPr>
          <a:xfrm>
            <a:off x="8228294" y="2953512"/>
            <a:ext cx="0" cy="219456"/>
          </a:xfrm>
          <a:prstGeom prst="line">
            <a:avLst/>
          </a:prstGeom>
          <a:noFill/>
          <a:ln w="15875">
            <a:solidFill>
              <a:srgbClr val="0B1440"/>
            </a:solidFill>
            <a:prstDash val="solid"/>
          </a:ln>
        </p:spPr>
      </p:sp>
      <p:sp>
        <p:nvSpPr>
          <p:cNvPr id="29" name="Text 21"/>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0"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1" name="Shape 22"/>
          <p:cNvSpPr/>
          <p:nvPr/>
        </p:nvSpPr>
        <p:spPr>
          <a:xfrm>
            <a:off x="9650839" y="2953512"/>
            <a:ext cx="0" cy="219456"/>
          </a:xfrm>
          <a:prstGeom prst="line">
            <a:avLst/>
          </a:prstGeom>
          <a:noFill/>
          <a:ln w="15875">
            <a:solidFill>
              <a:srgbClr val="0B1440"/>
            </a:solidFill>
            <a:prstDash val="solid"/>
          </a:ln>
        </p:spPr>
      </p:sp>
      <p:sp>
        <p:nvSpPr>
          <p:cNvPr id="32" name="Text 23"/>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3"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4" name="Shape 24"/>
          <p:cNvSpPr/>
          <p:nvPr/>
        </p:nvSpPr>
        <p:spPr>
          <a:xfrm>
            <a:off x="11073384" y="2953512"/>
            <a:ext cx="0" cy="219456"/>
          </a:xfrm>
          <a:prstGeom prst="line">
            <a:avLst/>
          </a:prstGeom>
          <a:noFill/>
          <a:ln w="15875">
            <a:solidFill>
              <a:srgbClr val="0B1440"/>
            </a:solidFill>
            <a:prstDash val="solid"/>
          </a:ln>
        </p:spPr>
      </p:sp>
      <p:sp>
        <p:nvSpPr>
          <p:cNvPr id="35" name="Text 25"/>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36"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37" name="Text 26"/>
          <p:cNvSpPr txBox="1"/>
          <p:nvPr/>
        </p:nvSpPr>
        <p:spPr>
          <a:xfrm>
            <a:off x="548640" y="5394960"/>
            <a:ext cx="7315200" cy="36576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Look. Guess. Say it.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A DOCTOR’S DAY</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05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does she do?</a:t>
            </a:r>
            <a:endParaRPr lang="en-US" sz="4000" dirty="0"/>
          </a:p>
        </p:txBody>
      </p:sp>
      <p:sp>
        <p:nvSpPr>
          <p:cNvPr id="7" name="Shape 4"/>
          <p:cNvSpPr/>
          <p:nvPr/>
        </p:nvSpPr>
        <p:spPr>
          <a:xfrm>
            <a:off x="7891272" y="731520"/>
            <a:ext cx="868680" cy="868680"/>
          </a:xfrm>
          <a:prstGeom prst="roundRect">
            <a:avLst>
              <a:gd name="adj" fmla="val 14737"/>
            </a:avLst>
          </a:prstGeom>
          <a:solidFill>
            <a:srgbClr val="F44904"/>
          </a:solidFill>
          <a:ln/>
        </p:spPr>
      </p:sp>
      <p:sp>
        <p:nvSpPr>
          <p:cNvPr id="8" name="Text 5"/>
          <p:cNvSpPr txBox="1"/>
          <p:nvPr/>
        </p:nvSpPr>
        <p:spPr>
          <a:xfrm>
            <a:off x="7891272"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8988552" y="835762"/>
            <a:ext cx="2651760"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8988552" y="1200607"/>
            <a:ext cx="265176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Shape 8"/>
          <p:cNvSpPr/>
          <p:nvPr/>
        </p:nvSpPr>
        <p:spPr>
          <a:xfrm>
            <a:off x="548640" y="3063240"/>
            <a:ext cx="11091672" cy="0"/>
          </a:xfrm>
          <a:prstGeom prst="line">
            <a:avLst/>
          </a:prstGeom>
          <a:noFill/>
          <a:ln w="15875">
            <a:solidFill>
              <a:srgbClr val="DDD6C7"/>
            </a:solidFill>
            <a:prstDash val="solid"/>
          </a:ln>
        </p:spPr>
      </p:sp>
      <p:sp>
        <p:nvSpPr>
          <p:cNvPr id="12" name="Shape 9"/>
          <p:cNvSpPr/>
          <p:nvPr/>
        </p:nvSpPr>
        <p:spPr>
          <a:xfrm>
            <a:off x="1115568" y="2953512"/>
            <a:ext cx="0" cy="219456"/>
          </a:xfrm>
          <a:prstGeom prst="line">
            <a:avLst/>
          </a:prstGeom>
          <a:noFill/>
          <a:ln w="15875">
            <a:solidFill>
              <a:srgbClr val="0B1440"/>
            </a:solidFill>
            <a:prstDash val="solid"/>
          </a:ln>
        </p:spPr>
      </p:sp>
      <p:sp>
        <p:nvSpPr>
          <p:cNvPr id="13" name="Text 10"/>
          <p:cNvSpPr txBox="1"/>
          <p:nvPr/>
        </p:nvSpPr>
        <p:spPr>
          <a:xfrm>
            <a:off x="56692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7:00</a:t>
            </a:r>
            <a:endParaRPr lang="en-US" sz="1400" dirty="0"/>
          </a:p>
        </p:txBody>
      </p:sp>
      <p:pic>
        <p:nvPicPr>
          <p:cNvPr id="14" name="Image 0" descr="get up">    </p:cNvPr>
          <p:cNvPicPr>
            <a:picLocks noChangeAspect="1"/>
          </p:cNvPicPr>
          <p:nvPr/>
        </p:nvPicPr>
        <p:blipFill>
          <a:blip r:embed="rId1"/>
          <a:stretch>
            <a:fillRect/>
          </a:stretch>
        </p:blipFill>
        <p:spPr>
          <a:xfrm>
            <a:off x="658368" y="3383280"/>
            <a:ext cx="914400" cy="914400"/>
          </a:xfrm>
          <a:prstGeom prst="rect">
            <a:avLst/>
          </a:prstGeom>
        </p:spPr>
      </p:pic>
      <p:sp>
        <p:nvSpPr>
          <p:cNvPr id="15" name="Text 11"/>
          <p:cNvSpPr txBox="1"/>
          <p:nvPr/>
        </p:nvSpPr>
        <p:spPr>
          <a:xfrm>
            <a:off x="51206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gets up</a:t>
            </a:r>
            <a:endParaRPr lang="en-US" sz="1500" dirty="0"/>
          </a:p>
        </p:txBody>
      </p:sp>
      <p:sp>
        <p:nvSpPr>
          <p:cNvPr id="16" name="Shape 12"/>
          <p:cNvSpPr/>
          <p:nvPr/>
        </p:nvSpPr>
        <p:spPr>
          <a:xfrm>
            <a:off x="2538113" y="2953512"/>
            <a:ext cx="0" cy="219456"/>
          </a:xfrm>
          <a:prstGeom prst="line">
            <a:avLst/>
          </a:prstGeom>
          <a:noFill/>
          <a:ln w="15875">
            <a:solidFill>
              <a:srgbClr val="0B1440"/>
            </a:solidFill>
            <a:prstDash val="solid"/>
          </a:ln>
        </p:spPr>
      </p:sp>
      <p:sp>
        <p:nvSpPr>
          <p:cNvPr id="17" name="Text 13"/>
          <p:cNvSpPr txBox="1"/>
          <p:nvPr/>
        </p:nvSpPr>
        <p:spPr>
          <a:xfrm>
            <a:off x="198947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8:00</a:t>
            </a:r>
            <a:endParaRPr lang="en-US" sz="1400" dirty="0"/>
          </a:p>
        </p:txBody>
      </p:sp>
      <p:pic>
        <p:nvPicPr>
          <p:cNvPr id="18" name="Image 1" descr="clinic">    </p:cNvPr>
          <p:cNvPicPr>
            <a:picLocks noChangeAspect="1"/>
          </p:cNvPicPr>
          <p:nvPr/>
        </p:nvPicPr>
        <p:blipFill>
          <a:blip r:embed="rId2"/>
          <a:stretch>
            <a:fillRect/>
          </a:stretch>
        </p:blipFill>
        <p:spPr>
          <a:xfrm>
            <a:off x="2080913" y="3383280"/>
            <a:ext cx="914400" cy="914400"/>
          </a:xfrm>
          <a:prstGeom prst="rect">
            <a:avLst/>
          </a:prstGeom>
        </p:spPr>
      </p:pic>
      <p:sp>
        <p:nvSpPr>
          <p:cNvPr id="19" name="Text 14"/>
          <p:cNvSpPr txBox="1"/>
          <p:nvPr/>
        </p:nvSpPr>
        <p:spPr>
          <a:xfrm>
            <a:off x="193460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arrives at the clinic</a:t>
            </a:r>
            <a:endParaRPr lang="en-US" sz="1500" dirty="0"/>
          </a:p>
        </p:txBody>
      </p:sp>
      <p:sp>
        <p:nvSpPr>
          <p:cNvPr id="20" name="Shape 15"/>
          <p:cNvSpPr/>
          <p:nvPr/>
        </p:nvSpPr>
        <p:spPr>
          <a:xfrm>
            <a:off x="3960658" y="2953512"/>
            <a:ext cx="0" cy="219456"/>
          </a:xfrm>
          <a:prstGeom prst="line">
            <a:avLst/>
          </a:prstGeom>
          <a:noFill/>
          <a:ln w="15875">
            <a:solidFill>
              <a:srgbClr val="0B1440"/>
            </a:solidFill>
            <a:prstDash val="solid"/>
          </a:ln>
        </p:spPr>
      </p:sp>
      <p:sp>
        <p:nvSpPr>
          <p:cNvPr id="21" name="Text 16"/>
          <p:cNvSpPr txBox="1"/>
          <p:nvPr/>
        </p:nvSpPr>
        <p:spPr>
          <a:xfrm>
            <a:off x="3412018"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8:30</a:t>
            </a:r>
            <a:endParaRPr lang="en-US" sz="1400" dirty="0"/>
          </a:p>
        </p:txBody>
      </p:sp>
      <p:pic>
        <p:nvPicPr>
          <p:cNvPr id="22" name="Image 2" descr="see patients">    </p:cNvPr>
          <p:cNvPicPr>
            <a:picLocks noChangeAspect="1"/>
          </p:cNvPicPr>
          <p:nvPr/>
        </p:nvPicPr>
        <p:blipFill>
          <a:blip r:embed="rId3"/>
          <a:stretch>
            <a:fillRect/>
          </a:stretch>
        </p:blipFill>
        <p:spPr>
          <a:xfrm>
            <a:off x="3503458" y="3383280"/>
            <a:ext cx="914400" cy="914400"/>
          </a:xfrm>
          <a:prstGeom prst="rect">
            <a:avLst/>
          </a:prstGeom>
        </p:spPr>
      </p:pic>
      <p:sp>
        <p:nvSpPr>
          <p:cNvPr id="23" name="Text 17"/>
          <p:cNvSpPr txBox="1"/>
          <p:nvPr/>
        </p:nvSpPr>
        <p:spPr>
          <a:xfrm>
            <a:off x="3357154"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sees patients</a:t>
            </a:r>
            <a:endParaRPr lang="en-US" sz="1500" dirty="0"/>
          </a:p>
        </p:txBody>
      </p:sp>
      <p:sp>
        <p:nvSpPr>
          <p:cNvPr id="24" name="Shape 18"/>
          <p:cNvSpPr/>
          <p:nvPr/>
        </p:nvSpPr>
        <p:spPr>
          <a:xfrm>
            <a:off x="5383203" y="2953512"/>
            <a:ext cx="0" cy="219456"/>
          </a:xfrm>
          <a:prstGeom prst="line">
            <a:avLst/>
          </a:prstGeom>
          <a:noFill/>
          <a:ln w="15875">
            <a:solidFill>
              <a:srgbClr val="0B1440"/>
            </a:solidFill>
            <a:prstDash val="solid"/>
          </a:ln>
        </p:spPr>
      </p:sp>
      <p:sp>
        <p:nvSpPr>
          <p:cNvPr id="25" name="Text 19"/>
          <p:cNvSpPr txBox="1"/>
          <p:nvPr/>
        </p:nvSpPr>
        <p:spPr>
          <a:xfrm>
            <a:off x="4834563"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10:00</a:t>
            </a:r>
            <a:endParaRPr lang="en-US" sz="1400" dirty="0"/>
          </a:p>
        </p:txBody>
      </p:sp>
      <p:pic>
        <p:nvPicPr>
          <p:cNvPr id="26" name="Image 3" descr="examine">    </p:cNvPr>
          <p:cNvPicPr>
            <a:picLocks noChangeAspect="1"/>
          </p:cNvPicPr>
          <p:nvPr/>
        </p:nvPicPr>
        <p:blipFill>
          <a:blip r:embed="rId4"/>
          <a:stretch>
            <a:fillRect/>
          </a:stretch>
        </p:blipFill>
        <p:spPr>
          <a:xfrm>
            <a:off x="4926003" y="3383280"/>
            <a:ext cx="914400" cy="914400"/>
          </a:xfrm>
          <a:prstGeom prst="rect">
            <a:avLst/>
          </a:prstGeom>
        </p:spPr>
      </p:pic>
      <p:sp>
        <p:nvSpPr>
          <p:cNvPr id="27" name="Text 20"/>
          <p:cNvSpPr txBox="1"/>
          <p:nvPr/>
        </p:nvSpPr>
        <p:spPr>
          <a:xfrm>
            <a:off x="4779699"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examines a patient</a:t>
            </a:r>
            <a:endParaRPr lang="en-US" sz="1500" dirty="0"/>
          </a:p>
        </p:txBody>
      </p:sp>
      <p:sp>
        <p:nvSpPr>
          <p:cNvPr id="28" name="Shape 21"/>
          <p:cNvSpPr/>
          <p:nvPr/>
        </p:nvSpPr>
        <p:spPr>
          <a:xfrm>
            <a:off x="6805749" y="2953512"/>
            <a:ext cx="0" cy="219456"/>
          </a:xfrm>
          <a:prstGeom prst="line">
            <a:avLst/>
          </a:prstGeom>
          <a:noFill/>
          <a:ln w="15875">
            <a:solidFill>
              <a:srgbClr val="0B1440"/>
            </a:solidFill>
            <a:prstDash val="solid"/>
          </a:ln>
        </p:spPr>
      </p:sp>
      <p:sp>
        <p:nvSpPr>
          <p:cNvPr id="29" name="Text 22"/>
          <p:cNvSpPr txBox="1"/>
          <p:nvPr/>
        </p:nvSpPr>
        <p:spPr>
          <a:xfrm>
            <a:off x="625710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12:00</a:t>
            </a:r>
            <a:endParaRPr lang="en-US" sz="1400" dirty="0"/>
          </a:p>
        </p:txBody>
      </p:sp>
      <p:pic>
        <p:nvPicPr>
          <p:cNvPr id="30" name="Image 4" descr="have lunch">    </p:cNvPr>
          <p:cNvPicPr>
            <a:picLocks noChangeAspect="1"/>
          </p:cNvPicPr>
          <p:nvPr/>
        </p:nvPicPr>
        <p:blipFill>
          <a:blip r:embed="rId5"/>
          <a:stretch>
            <a:fillRect/>
          </a:stretch>
        </p:blipFill>
        <p:spPr>
          <a:xfrm>
            <a:off x="6348549" y="3383280"/>
            <a:ext cx="914400" cy="914400"/>
          </a:xfrm>
          <a:prstGeom prst="rect">
            <a:avLst/>
          </a:prstGeom>
        </p:spPr>
      </p:pic>
      <p:sp>
        <p:nvSpPr>
          <p:cNvPr id="31" name="Text 23"/>
          <p:cNvSpPr txBox="1"/>
          <p:nvPr/>
        </p:nvSpPr>
        <p:spPr>
          <a:xfrm>
            <a:off x="620224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has lunch</a:t>
            </a:r>
            <a:endParaRPr lang="en-US" sz="1500" dirty="0"/>
          </a:p>
        </p:txBody>
      </p:sp>
      <p:sp>
        <p:nvSpPr>
          <p:cNvPr id="32" name="Shape 24"/>
          <p:cNvSpPr/>
          <p:nvPr/>
        </p:nvSpPr>
        <p:spPr>
          <a:xfrm>
            <a:off x="8228294" y="2953512"/>
            <a:ext cx="0" cy="219456"/>
          </a:xfrm>
          <a:prstGeom prst="line">
            <a:avLst/>
          </a:prstGeom>
          <a:noFill/>
          <a:ln w="15875">
            <a:solidFill>
              <a:srgbClr val="0B1440"/>
            </a:solidFill>
            <a:prstDash val="solid"/>
          </a:ln>
        </p:spPr>
      </p:sp>
      <p:sp>
        <p:nvSpPr>
          <p:cNvPr id="33" name="Text 25"/>
          <p:cNvSpPr txBox="1"/>
          <p:nvPr/>
        </p:nvSpPr>
        <p:spPr>
          <a:xfrm>
            <a:off x="767965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1:00</a:t>
            </a:r>
            <a:endParaRPr lang="en-US" sz="1400" dirty="0"/>
          </a:p>
        </p:txBody>
      </p:sp>
      <p:pic>
        <p:nvPicPr>
          <p:cNvPr id="34" name="Image 5" descr="see patients">    </p:cNvPr>
          <p:cNvPicPr>
            <a:picLocks noChangeAspect="1"/>
          </p:cNvPicPr>
          <p:nvPr/>
        </p:nvPicPr>
        <p:blipFill>
          <a:blip r:embed="rId6"/>
          <a:stretch>
            <a:fillRect/>
          </a:stretch>
        </p:blipFill>
        <p:spPr>
          <a:xfrm>
            <a:off x="7771094" y="3383280"/>
            <a:ext cx="914400" cy="914400"/>
          </a:xfrm>
          <a:prstGeom prst="rect">
            <a:avLst/>
          </a:prstGeom>
        </p:spPr>
      </p:pic>
      <p:sp>
        <p:nvSpPr>
          <p:cNvPr id="35" name="Text 26"/>
          <p:cNvSpPr txBox="1"/>
          <p:nvPr/>
        </p:nvSpPr>
        <p:spPr>
          <a:xfrm>
            <a:off x="762479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sees patients</a:t>
            </a:r>
            <a:endParaRPr lang="en-US" sz="1500" dirty="0"/>
          </a:p>
        </p:txBody>
      </p:sp>
      <p:sp>
        <p:nvSpPr>
          <p:cNvPr id="36" name="Shape 27"/>
          <p:cNvSpPr/>
          <p:nvPr/>
        </p:nvSpPr>
        <p:spPr>
          <a:xfrm>
            <a:off x="9650839" y="2953512"/>
            <a:ext cx="0" cy="219456"/>
          </a:xfrm>
          <a:prstGeom prst="line">
            <a:avLst/>
          </a:prstGeom>
          <a:noFill/>
          <a:ln w="15875">
            <a:solidFill>
              <a:srgbClr val="0B1440"/>
            </a:solidFill>
            <a:prstDash val="solid"/>
          </a:ln>
        </p:spPr>
      </p:sp>
      <p:sp>
        <p:nvSpPr>
          <p:cNvPr id="37" name="Text 28"/>
          <p:cNvSpPr txBox="1"/>
          <p:nvPr/>
        </p:nvSpPr>
        <p:spPr>
          <a:xfrm>
            <a:off x="9102199"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4:00</a:t>
            </a:r>
            <a:endParaRPr lang="en-US" sz="1400" dirty="0"/>
          </a:p>
        </p:txBody>
      </p:sp>
      <p:pic>
        <p:nvPicPr>
          <p:cNvPr id="38" name="Image 6" descr="records">    </p:cNvPr>
          <p:cNvPicPr>
            <a:picLocks noChangeAspect="1"/>
          </p:cNvPicPr>
          <p:nvPr/>
        </p:nvPicPr>
        <p:blipFill>
          <a:blip r:embed="rId7"/>
          <a:stretch>
            <a:fillRect/>
          </a:stretch>
        </p:blipFill>
        <p:spPr>
          <a:xfrm>
            <a:off x="9193639" y="3383280"/>
            <a:ext cx="914400" cy="914400"/>
          </a:xfrm>
          <a:prstGeom prst="rect">
            <a:avLst/>
          </a:prstGeom>
        </p:spPr>
      </p:pic>
      <p:sp>
        <p:nvSpPr>
          <p:cNvPr id="39" name="Text 29"/>
          <p:cNvSpPr txBox="1"/>
          <p:nvPr/>
        </p:nvSpPr>
        <p:spPr>
          <a:xfrm>
            <a:off x="9047335"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checks medical records</a:t>
            </a:r>
            <a:endParaRPr lang="en-US" sz="1500" dirty="0"/>
          </a:p>
        </p:txBody>
      </p:sp>
      <p:sp>
        <p:nvSpPr>
          <p:cNvPr id="40" name="Shape 30"/>
          <p:cNvSpPr/>
          <p:nvPr/>
        </p:nvSpPr>
        <p:spPr>
          <a:xfrm>
            <a:off x="11073384" y="2953512"/>
            <a:ext cx="0" cy="219456"/>
          </a:xfrm>
          <a:prstGeom prst="line">
            <a:avLst/>
          </a:prstGeom>
          <a:noFill/>
          <a:ln w="15875">
            <a:solidFill>
              <a:srgbClr val="0B1440"/>
            </a:solidFill>
            <a:prstDash val="solid"/>
          </a:ln>
        </p:spPr>
      </p:sp>
      <p:sp>
        <p:nvSpPr>
          <p:cNvPr id="41" name="Text 31"/>
          <p:cNvSpPr txBox="1"/>
          <p:nvPr/>
        </p:nvSpPr>
        <p:spPr>
          <a:xfrm>
            <a:off x="10524744" y="2496312"/>
            <a:ext cx="1097280" cy="320040"/>
          </a:xfrm>
          <a:prstGeom prst="rect">
            <a:avLst/>
          </a:prstGeom>
          <a:noFill/>
          <a:ln/>
        </p:spPr>
        <p:txBody>
          <a:bodyPr wrap="square" lIns="0" tIns="0" rIns="0" bIns="0" rtlCol="0" anchor="t"/>
          <a:lstStyle/>
          <a:p>
            <a:pPr algn="ctr" indent="0" marL="0">
              <a:buNone/>
            </a:pPr>
            <a:r>
              <a:rPr lang="en-US" sz="1400" dirty="0">
                <a:solidFill>
                  <a:srgbClr val="0B1440"/>
                </a:solidFill>
                <a:latin typeface="JetBrains Mono Medium" pitchFamily="34" charset="0"/>
                <a:ea typeface="JetBrains Mono Medium" pitchFamily="34" charset="-122"/>
                <a:cs typeface="JetBrains Mono Medium" pitchFamily="34" charset="-120"/>
              </a:rPr>
              <a:t>6:00</a:t>
            </a:r>
            <a:endParaRPr lang="en-US" sz="1400" dirty="0"/>
          </a:p>
        </p:txBody>
      </p:sp>
      <p:pic>
        <p:nvPicPr>
          <p:cNvPr id="42" name="Image 7" descr="finish work">    </p:cNvPr>
          <p:cNvPicPr>
            <a:picLocks noChangeAspect="1"/>
          </p:cNvPicPr>
          <p:nvPr/>
        </p:nvPicPr>
        <p:blipFill>
          <a:blip r:embed="rId8"/>
          <a:stretch>
            <a:fillRect/>
          </a:stretch>
        </p:blipFill>
        <p:spPr>
          <a:xfrm>
            <a:off x="10616184" y="3383280"/>
            <a:ext cx="914400" cy="914400"/>
          </a:xfrm>
          <a:prstGeom prst="rect">
            <a:avLst/>
          </a:prstGeom>
        </p:spPr>
      </p:pic>
      <p:sp>
        <p:nvSpPr>
          <p:cNvPr id="43" name="Text 32"/>
          <p:cNvSpPr txBox="1"/>
          <p:nvPr/>
        </p:nvSpPr>
        <p:spPr>
          <a:xfrm>
            <a:off x="10469880" y="4434840"/>
            <a:ext cx="1207008" cy="731520"/>
          </a:xfrm>
          <a:prstGeom prst="rect">
            <a:avLst/>
          </a:prstGeom>
          <a:noFill/>
          <a:ln/>
        </p:spPr>
        <p:txBody>
          <a:bodyPr wrap="square" lIns="0" tIns="0" rIns="0" bIns="0" rtlCol="0" anchor="t"/>
          <a:lstStyle/>
          <a:p>
            <a:pPr algn="ctr" indent="0" marL="0">
              <a:buNone/>
            </a:pPr>
            <a:r>
              <a:rPr lang="en-US" sz="1500" b="1" dirty="0">
                <a:solidFill>
                  <a:srgbClr val="0B1440"/>
                </a:solidFill>
                <a:latin typeface="Hanken Grotesk" pitchFamily="34" charset="0"/>
                <a:ea typeface="Hanken Grotesk" pitchFamily="34" charset="-122"/>
                <a:cs typeface="Hanken Grotesk" pitchFamily="34" charset="-120"/>
              </a:rPr>
              <a:t>finishes work</a:t>
            </a:r>
            <a:endParaRPr lang="en-US" sz="1500" dirty="0"/>
          </a:p>
        </p:txBody>
      </p:sp>
      <p:sp>
        <p:nvSpPr>
          <p:cNvPr id="44" name="Shape 33"/>
          <p:cNvSpPr/>
          <p:nvPr/>
        </p:nvSpPr>
        <p:spPr>
          <a:xfrm>
            <a:off x="548640" y="5257800"/>
            <a:ext cx="3520440" cy="777240"/>
          </a:xfrm>
          <a:prstGeom prst="roundRect">
            <a:avLst>
              <a:gd name="adj" fmla="val 16471"/>
            </a:avLst>
          </a:prstGeom>
          <a:solidFill>
            <a:srgbClr val="F3EFE6"/>
          </a:solidFill>
          <a:ln/>
        </p:spPr>
      </p:sp>
      <p:sp>
        <p:nvSpPr>
          <p:cNvPr id="45" name="Text 34"/>
          <p:cNvSpPr txBox="1"/>
          <p:nvPr/>
        </p:nvSpPr>
        <p:spPr>
          <a:xfrm>
            <a:off x="77724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What does she do at 8:30?</a:t>
            </a:r>
            <a:endParaRPr lang="en-US" sz="1600" dirty="0"/>
          </a:p>
        </p:txBody>
      </p:sp>
      <p:sp>
        <p:nvSpPr>
          <p:cNvPr id="46" name="Shape 35"/>
          <p:cNvSpPr/>
          <p:nvPr/>
        </p:nvSpPr>
        <p:spPr>
          <a:xfrm>
            <a:off x="4297680" y="5257800"/>
            <a:ext cx="3520440" cy="777240"/>
          </a:xfrm>
          <a:prstGeom prst="roundRect">
            <a:avLst>
              <a:gd name="adj" fmla="val 16471"/>
            </a:avLst>
          </a:prstGeom>
          <a:solidFill>
            <a:srgbClr val="F3EFE6"/>
          </a:solidFill>
          <a:ln/>
        </p:spPr>
      </p:sp>
      <p:sp>
        <p:nvSpPr>
          <p:cNvPr id="47" name="Text 36"/>
          <p:cNvSpPr txBox="1"/>
          <p:nvPr/>
        </p:nvSpPr>
        <p:spPr>
          <a:xfrm>
            <a:off x="452628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Does she work at a hospital?</a:t>
            </a:r>
            <a:endParaRPr lang="en-US" sz="1600" dirty="0"/>
          </a:p>
        </p:txBody>
      </p:sp>
      <p:sp>
        <p:nvSpPr>
          <p:cNvPr id="48" name="Shape 37"/>
          <p:cNvSpPr/>
          <p:nvPr/>
        </p:nvSpPr>
        <p:spPr>
          <a:xfrm>
            <a:off x="8046720" y="5257800"/>
            <a:ext cx="3520440" cy="777240"/>
          </a:xfrm>
          <a:prstGeom prst="roundRect">
            <a:avLst>
              <a:gd name="adj" fmla="val 16471"/>
            </a:avLst>
          </a:prstGeom>
          <a:solidFill>
            <a:srgbClr val="F3EFE6"/>
          </a:solidFill>
          <a:ln/>
        </p:spPr>
      </p:sp>
      <p:sp>
        <p:nvSpPr>
          <p:cNvPr id="49" name="Text 38"/>
          <p:cNvSpPr txBox="1"/>
          <p:nvPr/>
        </p:nvSpPr>
        <p:spPr>
          <a:xfrm>
            <a:off x="8275320" y="5257800"/>
            <a:ext cx="3154680" cy="777240"/>
          </a:xfrm>
          <a:prstGeom prst="rect">
            <a:avLst/>
          </a:prstGeom>
          <a:noFill/>
          <a:ln/>
        </p:spPr>
        <p:txBody>
          <a:bodyPr wrap="square" lIns="0" tIns="0" rIns="0" bIns="0" rtlCol="0" anchor="ctr"/>
          <a:lstStyle/>
          <a:p>
            <a:pPr indent="0" marL="0">
              <a:buNone/>
            </a:pPr>
            <a:r>
              <a:rPr lang="en-US" sz="1600" dirty="0">
                <a:solidFill>
                  <a:srgbClr val="0B1440"/>
                </a:solidFill>
                <a:latin typeface="Poppins SemiBold" pitchFamily="34" charset="0"/>
                <a:ea typeface="Poppins SemiBold" pitchFamily="34" charset="-122"/>
                <a:cs typeface="Poppins SemiBold" pitchFamily="34" charset="-120"/>
              </a:rPr>
              <a:t>What time does she finish?</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03 · YOU</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 do you do?</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Which of these things do you do? When?</a:t>
            </a:r>
            <a:endParaRPr lang="en-US" sz="2200" dirty="0"/>
          </a:p>
        </p:txBody>
      </p:sp>
      <p:sp>
        <p:nvSpPr>
          <p:cNvPr id="8" name="Text 5"/>
          <p:cNvSpPr txBox="1"/>
          <p:nvPr/>
        </p:nvSpPr>
        <p:spPr>
          <a:xfrm>
            <a:off x="548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EVERY DAY</a:t>
            </a:r>
            <a:endParaRPr lang="en-US" sz="1100" dirty="0"/>
          </a:p>
        </p:txBody>
      </p:sp>
      <p:sp>
        <p:nvSpPr>
          <p:cNvPr id="9" name="Text 6"/>
          <p:cNvSpPr txBox="1"/>
          <p:nvPr/>
        </p:nvSpPr>
        <p:spPr>
          <a:xfrm>
            <a:off x="626364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AT WORK</a:t>
            </a:r>
            <a:endParaRPr lang="en-US" sz="1100" dirty="0"/>
          </a:p>
        </p:txBody>
      </p:sp>
      <p:sp>
        <p:nvSpPr>
          <p:cNvPr id="10" name="Shape 7"/>
          <p:cNvSpPr/>
          <p:nvPr/>
        </p:nvSpPr>
        <p:spPr>
          <a:xfrm>
            <a:off x="548640" y="2606040"/>
            <a:ext cx="921715" cy="438912"/>
          </a:xfrm>
          <a:prstGeom prst="roundRect">
            <a:avLst>
              <a:gd name="adj" fmla="val 50000"/>
            </a:avLst>
          </a:prstGeom>
          <a:solidFill>
            <a:srgbClr val="F3EFE6"/>
          </a:solidFill>
          <a:ln/>
        </p:spPr>
      </p:sp>
      <p:sp>
        <p:nvSpPr>
          <p:cNvPr id="11" name="Text 8"/>
          <p:cNvSpPr txBox="1"/>
          <p:nvPr/>
        </p:nvSpPr>
        <p:spPr>
          <a:xfrm>
            <a:off x="548640" y="2606040"/>
            <a:ext cx="921715"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get up</a:t>
            </a:r>
            <a:endParaRPr lang="en-US" sz="1500" dirty="0"/>
          </a:p>
        </p:txBody>
      </p:sp>
      <p:sp>
        <p:nvSpPr>
          <p:cNvPr id="12" name="Shape 9"/>
          <p:cNvSpPr/>
          <p:nvPr/>
        </p:nvSpPr>
        <p:spPr>
          <a:xfrm>
            <a:off x="1598371" y="2606040"/>
            <a:ext cx="1784909" cy="438912"/>
          </a:xfrm>
          <a:prstGeom prst="roundRect">
            <a:avLst>
              <a:gd name="adj" fmla="val 50000"/>
            </a:avLst>
          </a:prstGeom>
          <a:solidFill>
            <a:srgbClr val="F3EFE6"/>
          </a:solidFill>
          <a:ln/>
        </p:spPr>
      </p:sp>
      <p:sp>
        <p:nvSpPr>
          <p:cNvPr id="13" name="Text 10"/>
          <p:cNvSpPr txBox="1"/>
          <p:nvPr/>
        </p:nvSpPr>
        <p:spPr>
          <a:xfrm>
            <a:off x="1598371" y="2606040"/>
            <a:ext cx="1784909"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breakfast</a:t>
            </a:r>
            <a:endParaRPr lang="en-US" sz="1500" dirty="0"/>
          </a:p>
        </p:txBody>
      </p:sp>
      <p:sp>
        <p:nvSpPr>
          <p:cNvPr id="14" name="Shape 11"/>
          <p:cNvSpPr/>
          <p:nvPr/>
        </p:nvSpPr>
        <p:spPr>
          <a:xfrm>
            <a:off x="3511296" y="2606040"/>
            <a:ext cx="1353312" cy="438912"/>
          </a:xfrm>
          <a:prstGeom prst="roundRect">
            <a:avLst>
              <a:gd name="adj" fmla="val 50000"/>
            </a:avLst>
          </a:prstGeom>
          <a:solidFill>
            <a:srgbClr val="F3EFE6"/>
          </a:solidFill>
          <a:ln/>
        </p:spPr>
      </p:sp>
      <p:sp>
        <p:nvSpPr>
          <p:cNvPr id="15" name="Text 12"/>
          <p:cNvSpPr txBox="1"/>
          <p:nvPr/>
        </p:nvSpPr>
        <p:spPr>
          <a:xfrm>
            <a:off x="3511296" y="2606040"/>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work</a:t>
            </a:r>
            <a:endParaRPr lang="en-US" sz="1500" dirty="0"/>
          </a:p>
        </p:txBody>
      </p:sp>
      <p:sp>
        <p:nvSpPr>
          <p:cNvPr id="16" name="Shape 13"/>
          <p:cNvSpPr/>
          <p:nvPr/>
        </p:nvSpPr>
        <p:spPr>
          <a:xfrm>
            <a:off x="548640" y="3172968"/>
            <a:ext cx="1353312" cy="438912"/>
          </a:xfrm>
          <a:prstGeom prst="roundRect">
            <a:avLst>
              <a:gd name="adj" fmla="val 50000"/>
            </a:avLst>
          </a:prstGeom>
          <a:solidFill>
            <a:srgbClr val="F3EFE6"/>
          </a:solidFill>
          <a:ln/>
        </p:spPr>
      </p:sp>
      <p:sp>
        <p:nvSpPr>
          <p:cNvPr id="17" name="Text 14"/>
          <p:cNvSpPr txBox="1"/>
          <p:nvPr/>
        </p:nvSpPr>
        <p:spPr>
          <a:xfrm>
            <a:off x="548640"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start work</a:t>
            </a:r>
            <a:endParaRPr lang="en-US" sz="1500" dirty="0"/>
          </a:p>
        </p:txBody>
      </p:sp>
      <p:sp>
        <p:nvSpPr>
          <p:cNvPr id="18" name="Shape 15"/>
          <p:cNvSpPr/>
          <p:nvPr/>
        </p:nvSpPr>
        <p:spPr>
          <a:xfrm>
            <a:off x="2029968" y="3172968"/>
            <a:ext cx="1353312" cy="438912"/>
          </a:xfrm>
          <a:prstGeom prst="roundRect">
            <a:avLst>
              <a:gd name="adj" fmla="val 50000"/>
            </a:avLst>
          </a:prstGeom>
          <a:solidFill>
            <a:srgbClr val="F3EFE6"/>
          </a:solidFill>
          <a:ln/>
        </p:spPr>
      </p:sp>
      <p:sp>
        <p:nvSpPr>
          <p:cNvPr id="19" name="Text 16"/>
          <p:cNvSpPr txBox="1"/>
          <p:nvPr/>
        </p:nvSpPr>
        <p:spPr>
          <a:xfrm>
            <a:off x="2029968" y="3172968"/>
            <a:ext cx="1353312"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lunch</a:t>
            </a:r>
            <a:endParaRPr lang="en-US" sz="1500" dirty="0"/>
          </a:p>
        </p:txBody>
      </p:sp>
      <p:sp>
        <p:nvSpPr>
          <p:cNvPr id="20" name="Shape 17"/>
          <p:cNvSpPr/>
          <p:nvPr/>
        </p:nvSpPr>
        <p:spPr>
          <a:xfrm>
            <a:off x="3511296" y="3172968"/>
            <a:ext cx="1569110" cy="438912"/>
          </a:xfrm>
          <a:prstGeom prst="roundRect">
            <a:avLst>
              <a:gd name="adj" fmla="val 50000"/>
            </a:avLst>
          </a:prstGeom>
          <a:solidFill>
            <a:srgbClr val="F3EFE6"/>
          </a:solidFill>
          <a:ln/>
        </p:spPr>
      </p:sp>
      <p:sp>
        <p:nvSpPr>
          <p:cNvPr id="21" name="Text 18"/>
          <p:cNvSpPr txBox="1"/>
          <p:nvPr/>
        </p:nvSpPr>
        <p:spPr>
          <a:xfrm>
            <a:off x="3511296"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take a break</a:t>
            </a:r>
            <a:endParaRPr lang="en-US" sz="1500" dirty="0"/>
          </a:p>
        </p:txBody>
      </p:sp>
      <p:sp>
        <p:nvSpPr>
          <p:cNvPr id="22" name="Shape 19"/>
          <p:cNvSpPr/>
          <p:nvPr/>
        </p:nvSpPr>
        <p:spPr>
          <a:xfrm>
            <a:off x="548640" y="3739896"/>
            <a:ext cx="1461211" cy="438912"/>
          </a:xfrm>
          <a:prstGeom prst="roundRect">
            <a:avLst>
              <a:gd name="adj" fmla="val 50000"/>
            </a:avLst>
          </a:prstGeom>
          <a:solidFill>
            <a:srgbClr val="F3EFE6"/>
          </a:solidFill>
          <a:ln/>
        </p:spPr>
      </p:sp>
      <p:sp>
        <p:nvSpPr>
          <p:cNvPr id="23" name="Text 20"/>
          <p:cNvSpPr txBox="1"/>
          <p:nvPr/>
        </p:nvSpPr>
        <p:spPr>
          <a:xfrm>
            <a:off x="548640" y="3739896"/>
            <a:ext cx="1461211"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finish work</a:t>
            </a:r>
            <a:endParaRPr lang="en-US" sz="1500" dirty="0"/>
          </a:p>
        </p:txBody>
      </p:sp>
      <p:sp>
        <p:nvSpPr>
          <p:cNvPr id="24" name="Shape 21"/>
          <p:cNvSpPr/>
          <p:nvPr/>
        </p:nvSpPr>
        <p:spPr>
          <a:xfrm>
            <a:off x="2137867" y="3739896"/>
            <a:ext cx="1029614" cy="438912"/>
          </a:xfrm>
          <a:prstGeom prst="roundRect">
            <a:avLst>
              <a:gd name="adj" fmla="val 50000"/>
            </a:avLst>
          </a:prstGeom>
          <a:solidFill>
            <a:srgbClr val="F3EFE6"/>
          </a:solidFill>
          <a:ln/>
        </p:spPr>
      </p:sp>
      <p:sp>
        <p:nvSpPr>
          <p:cNvPr id="25" name="Text 22"/>
          <p:cNvSpPr txBox="1"/>
          <p:nvPr/>
        </p:nvSpPr>
        <p:spPr>
          <a:xfrm>
            <a:off x="2137867" y="3739896"/>
            <a:ext cx="10296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home</a:t>
            </a:r>
            <a:endParaRPr lang="en-US" sz="1500" dirty="0"/>
          </a:p>
        </p:txBody>
      </p:sp>
      <p:sp>
        <p:nvSpPr>
          <p:cNvPr id="26" name="Shape 23"/>
          <p:cNvSpPr/>
          <p:nvPr/>
        </p:nvSpPr>
        <p:spPr>
          <a:xfrm>
            <a:off x="3295498" y="3739896"/>
            <a:ext cx="1137514" cy="438912"/>
          </a:xfrm>
          <a:prstGeom prst="roundRect">
            <a:avLst>
              <a:gd name="adj" fmla="val 50000"/>
            </a:avLst>
          </a:prstGeom>
          <a:solidFill>
            <a:srgbClr val="F3EFE6"/>
          </a:solidFill>
          <a:ln/>
        </p:spPr>
      </p:sp>
      <p:sp>
        <p:nvSpPr>
          <p:cNvPr id="27" name="Text 24"/>
          <p:cNvSpPr txBox="1"/>
          <p:nvPr/>
        </p:nvSpPr>
        <p:spPr>
          <a:xfrm>
            <a:off x="3295498" y="3739896"/>
            <a:ext cx="1137514"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watch TV</a:t>
            </a:r>
            <a:endParaRPr lang="en-US" sz="1500" dirty="0"/>
          </a:p>
        </p:txBody>
      </p:sp>
      <p:sp>
        <p:nvSpPr>
          <p:cNvPr id="28" name="Shape 25"/>
          <p:cNvSpPr/>
          <p:nvPr/>
        </p:nvSpPr>
        <p:spPr>
          <a:xfrm>
            <a:off x="4561027" y="3739896"/>
            <a:ext cx="1245413" cy="438912"/>
          </a:xfrm>
          <a:prstGeom prst="roundRect">
            <a:avLst>
              <a:gd name="adj" fmla="val 50000"/>
            </a:avLst>
          </a:prstGeom>
          <a:solidFill>
            <a:srgbClr val="F3EFE6"/>
          </a:solidFill>
          <a:ln/>
        </p:spPr>
      </p:sp>
      <p:sp>
        <p:nvSpPr>
          <p:cNvPr id="29" name="Text 26"/>
          <p:cNvSpPr txBox="1"/>
          <p:nvPr/>
        </p:nvSpPr>
        <p:spPr>
          <a:xfrm>
            <a:off x="4561027" y="3739896"/>
            <a:ext cx="124541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go to bed</a:t>
            </a:r>
            <a:endParaRPr lang="en-US" sz="1500" dirty="0"/>
          </a:p>
        </p:txBody>
      </p:sp>
      <p:sp>
        <p:nvSpPr>
          <p:cNvPr id="30" name="Shape 27"/>
          <p:cNvSpPr/>
          <p:nvPr/>
        </p:nvSpPr>
        <p:spPr>
          <a:xfrm>
            <a:off x="6263640" y="2606040"/>
            <a:ext cx="2216506" cy="438912"/>
          </a:xfrm>
          <a:prstGeom prst="roundRect">
            <a:avLst>
              <a:gd name="adj" fmla="val 50000"/>
            </a:avLst>
          </a:prstGeom>
          <a:solidFill>
            <a:srgbClr val="F3EFE6"/>
          </a:solidFill>
          <a:ln/>
        </p:spPr>
      </p:sp>
      <p:sp>
        <p:nvSpPr>
          <p:cNvPr id="31" name="Text 28"/>
          <p:cNvSpPr txBox="1"/>
          <p:nvPr/>
        </p:nvSpPr>
        <p:spPr>
          <a:xfrm>
            <a:off x="6263640" y="2606040"/>
            <a:ext cx="22165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hospital</a:t>
            </a:r>
            <a:endParaRPr lang="en-US" sz="1500" dirty="0"/>
          </a:p>
        </p:txBody>
      </p:sp>
      <p:sp>
        <p:nvSpPr>
          <p:cNvPr id="32" name="Shape 29"/>
          <p:cNvSpPr/>
          <p:nvPr/>
        </p:nvSpPr>
        <p:spPr>
          <a:xfrm>
            <a:off x="8608162" y="2606040"/>
            <a:ext cx="2000707" cy="438912"/>
          </a:xfrm>
          <a:prstGeom prst="roundRect">
            <a:avLst>
              <a:gd name="adj" fmla="val 50000"/>
            </a:avLst>
          </a:prstGeom>
          <a:solidFill>
            <a:srgbClr val="F3EFE6"/>
          </a:solidFill>
          <a:ln/>
        </p:spPr>
      </p:sp>
      <p:sp>
        <p:nvSpPr>
          <p:cNvPr id="33" name="Text 30"/>
          <p:cNvSpPr txBox="1"/>
          <p:nvPr/>
        </p:nvSpPr>
        <p:spPr>
          <a:xfrm>
            <a:off x="8608162" y="2606040"/>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at a clinic</a:t>
            </a:r>
            <a:endParaRPr lang="en-US" sz="1500" dirty="0"/>
          </a:p>
        </p:txBody>
      </p:sp>
      <p:sp>
        <p:nvSpPr>
          <p:cNvPr id="34" name="Shape 31"/>
          <p:cNvSpPr/>
          <p:nvPr/>
        </p:nvSpPr>
        <p:spPr>
          <a:xfrm>
            <a:off x="6263640" y="3172968"/>
            <a:ext cx="1569110" cy="438912"/>
          </a:xfrm>
          <a:prstGeom prst="roundRect">
            <a:avLst>
              <a:gd name="adj" fmla="val 50000"/>
            </a:avLst>
          </a:prstGeom>
          <a:solidFill>
            <a:srgbClr val="F3EFE6"/>
          </a:solidFill>
          <a:ln/>
        </p:spPr>
      </p:sp>
      <p:sp>
        <p:nvSpPr>
          <p:cNvPr id="35" name="Text 32"/>
          <p:cNvSpPr txBox="1"/>
          <p:nvPr/>
        </p:nvSpPr>
        <p:spPr>
          <a:xfrm>
            <a:off x="6263640" y="3172968"/>
            <a:ext cx="1569110"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see patients</a:t>
            </a:r>
            <a:endParaRPr lang="en-US" sz="1500" dirty="0"/>
          </a:p>
        </p:txBody>
      </p:sp>
      <p:sp>
        <p:nvSpPr>
          <p:cNvPr id="36" name="Shape 33"/>
          <p:cNvSpPr/>
          <p:nvPr/>
        </p:nvSpPr>
        <p:spPr>
          <a:xfrm>
            <a:off x="7960766" y="3172968"/>
            <a:ext cx="2108606" cy="438912"/>
          </a:xfrm>
          <a:prstGeom prst="roundRect">
            <a:avLst>
              <a:gd name="adj" fmla="val 50000"/>
            </a:avLst>
          </a:prstGeom>
          <a:solidFill>
            <a:srgbClr val="F3EFE6"/>
          </a:solidFill>
          <a:ln/>
        </p:spPr>
      </p:sp>
      <p:sp>
        <p:nvSpPr>
          <p:cNvPr id="37" name="Text 34"/>
          <p:cNvSpPr txBox="1"/>
          <p:nvPr/>
        </p:nvSpPr>
        <p:spPr>
          <a:xfrm>
            <a:off x="7960766" y="3172968"/>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examine a patient</a:t>
            </a:r>
            <a:endParaRPr lang="en-US" sz="1500" dirty="0"/>
          </a:p>
        </p:txBody>
      </p:sp>
      <p:sp>
        <p:nvSpPr>
          <p:cNvPr id="38" name="Shape 35"/>
          <p:cNvSpPr/>
          <p:nvPr/>
        </p:nvSpPr>
        <p:spPr>
          <a:xfrm>
            <a:off x="6263640" y="3739896"/>
            <a:ext cx="1892808" cy="438912"/>
          </a:xfrm>
          <a:prstGeom prst="roundRect">
            <a:avLst>
              <a:gd name="adj" fmla="val 50000"/>
            </a:avLst>
          </a:prstGeom>
          <a:solidFill>
            <a:srgbClr val="F3EFE6"/>
          </a:solidFill>
          <a:ln/>
        </p:spPr>
      </p:sp>
      <p:sp>
        <p:nvSpPr>
          <p:cNvPr id="39" name="Text 36"/>
          <p:cNvSpPr txBox="1"/>
          <p:nvPr/>
        </p:nvSpPr>
        <p:spPr>
          <a:xfrm>
            <a:off x="6263640" y="3739896"/>
            <a:ext cx="1892808"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a patient</a:t>
            </a:r>
            <a:endParaRPr lang="en-US" sz="1500" dirty="0"/>
          </a:p>
        </p:txBody>
      </p:sp>
      <p:sp>
        <p:nvSpPr>
          <p:cNvPr id="40" name="Shape 37"/>
          <p:cNvSpPr/>
          <p:nvPr/>
        </p:nvSpPr>
        <p:spPr>
          <a:xfrm>
            <a:off x="8284464" y="3739896"/>
            <a:ext cx="2108606" cy="438912"/>
          </a:xfrm>
          <a:prstGeom prst="roundRect">
            <a:avLst>
              <a:gd name="adj" fmla="val 50000"/>
            </a:avLst>
          </a:prstGeom>
          <a:solidFill>
            <a:srgbClr val="F3EFE6"/>
          </a:solidFill>
          <a:ln/>
        </p:spPr>
      </p:sp>
      <p:sp>
        <p:nvSpPr>
          <p:cNvPr id="41" name="Text 38"/>
          <p:cNvSpPr txBox="1"/>
          <p:nvPr/>
        </p:nvSpPr>
        <p:spPr>
          <a:xfrm>
            <a:off x="8284464" y="3739896"/>
            <a:ext cx="2108606"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have appointments</a:t>
            </a:r>
            <a:endParaRPr lang="en-US" sz="1500" dirty="0"/>
          </a:p>
        </p:txBody>
      </p:sp>
      <p:sp>
        <p:nvSpPr>
          <p:cNvPr id="42" name="Shape 39"/>
          <p:cNvSpPr/>
          <p:nvPr/>
        </p:nvSpPr>
        <p:spPr>
          <a:xfrm>
            <a:off x="6263640" y="4306824"/>
            <a:ext cx="2540203" cy="438912"/>
          </a:xfrm>
          <a:prstGeom prst="roundRect">
            <a:avLst>
              <a:gd name="adj" fmla="val 50000"/>
            </a:avLst>
          </a:prstGeom>
          <a:solidFill>
            <a:srgbClr val="F3EFE6"/>
          </a:solidFill>
          <a:ln/>
        </p:spPr>
      </p:sp>
      <p:sp>
        <p:nvSpPr>
          <p:cNvPr id="43" name="Text 40"/>
          <p:cNvSpPr txBox="1"/>
          <p:nvPr/>
        </p:nvSpPr>
        <p:spPr>
          <a:xfrm>
            <a:off x="6263640" y="4306824"/>
            <a:ext cx="2540203"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check medical records</a:t>
            </a:r>
            <a:endParaRPr lang="en-US" sz="1500" dirty="0"/>
          </a:p>
        </p:txBody>
      </p:sp>
      <p:sp>
        <p:nvSpPr>
          <p:cNvPr id="44" name="Shape 41"/>
          <p:cNvSpPr/>
          <p:nvPr/>
        </p:nvSpPr>
        <p:spPr>
          <a:xfrm>
            <a:off x="8931859" y="4306824"/>
            <a:ext cx="2000707" cy="438912"/>
          </a:xfrm>
          <a:prstGeom prst="roundRect">
            <a:avLst>
              <a:gd name="adj" fmla="val 50000"/>
            </a:avLst>
          </a:prstGeom>
          <a:solidFill>
            <a:srgbClr val="F3EFE6"/>
          </a:solidFill>
          <a:ln/>
        </p:spPr>
      </p:sp>
      <p:sp>
        <p:nvSpPr>
          <p:cNvPr id="45" name="Text 42"/>
          <p:cNvSpPr txBox="1"/>
          <p:nvPr/>
        </p:nvSpPr>
        <p:spPr>
          <a:xfrm>
            <a:off x="8931859" y="4306824"/>
            <a:ext cx="2000707" cy="438912"/>
          </a:xfrm>
          <a:prstGeom prst="rect">
            <a:avLst/>
          </a:prstGeom>
          <a:noFill/>
          <a:ln/>
        </p:spPr>
        <p:txBody>
          <a:bodyPr wrap="square" lIns="0" tIns="0" rIns="0" bIns="0" rtlCol="0" anchor="ctr"/>
          <a:lstStyle/>
          <a:p>
            <a:pPr algn="ctr" indent="0" marL="0">
              <a:buNone/>
            </a:pPr>
            <a:r>
              <a:rPr lang="en-US" sz="1500" dirty="0">
                <a:solidFill>
                  <a:srgbClr val="0B1440"/>
                </a:solidFill>
                <a:latin typeface="Hanken Grotesk Medium" pitchFamily="34" charset="0"/>
                <a:ea typeface="Hanken Grotesk Medium" pitchFamily="34" charset="-122"/>
                <a:cs typeface="Hanken Grotesk Medium" pitchFamily="34" charset="-120"/>
              </a:rPr>
              <a:t>work on weekends</a:t>
            </a:r>
            <a:endParaRPr lang="en-US" sz="1500" dirty="0"/>
          </a:p>
        </p:txBody>
      </p:sp>
      <p:sp>
        <p:nvSpPr>
          <p:cNvPr id="46" name="Shape 43"/>
          <p:cNvSpPr/>
          <p:nvPr/>
        </p:nvSpPr>
        <p:spPr>
          <a:xfrm>
            <a:off x="548640" y="5257800"/>
            <a:ext cx="11091672" cy="0"/>
          </a:xfrm>
          <a:prstGeom prst="line">
            <a:avLst/>
          </a:prstGeom>
          <a:noFill/>
          <a:ln w="12700">
            <a:solidFill>
              <a:srgbClr val="DDD6C7"/>
            </a:solidFill>
            <a:prstDash val="solid"/>
          </a:ln>
        </p:spPr>
      </p:sp>
      <p:sp>
        <p:nvSpPr>
          <p:cNvPr id="47" name="Text 44"/>
          <p:cNvSpPr txBox="1"/>
          <p:nvPr/>
        </p:nvSpPr>
        <p:spPr>
          <a:xfrm>
            <a:off x="548640" y="5440680"/>
            <a:ext cx="10972800" cy="50292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see patients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 at 9:00.     I don’t </a:t>
            </a:r>
            <a:pPr indent="0" marL="0">
              <a:buNone/>
            </a:pPr>
            <a:r>
              <a:rPr lang="en-US" sz="2400" dirty="0">
                <a:solidFill>
                  <a:srgbClr val="F44904"/>
                </a:solidFill>
                <a:latin typeface="Poppins SemiBold" pitchFamily="34" charset="0"/>
                <a:ea typeface="Poppins SemiBold" pitchFamily="34" charset="-122"/>
                <a:cs typeface="Poppins SemiBold" pitchFamily="34" charset="-120"/>
              </a:rPr>
              <a:t>work on weekends</a:t>
            </a:r>
            <a:pPr indent="0" marL="0">
              <a:buNone/>
            </a:pPr>
            <a:r>
              <a:rPr lang="en-US" sz="2400" dirty="0">
                <a:solidFill>
                  <a:srgbClr val="0B1440"/>
                </a:solidFill>
                <a:latin typeface="Poppins SemiBold" pitchFamily="34" charset="0"/>
                <a:ea typeface="Poppins SemiBold" pitchFamily="34" charset="-122"/>
                <a:cs typeface="Poppins SemiBold" pitchFamily="34" charset="-120"/>
              </a:rPr>
              <a: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LOOK AGAIN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07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What’s different?</a:t>
            </a:r>
            <a:endParaRPr lang="en-US" sz="4000" dirty="0"/>
          </a:p>
        </p:txBody>
      </p:sp>
      <p:sp>
        <p:nvSpPr>
          <p:cNvPr id="7" name="Text 4"/>
          <p:cNvSpPr txBox="1"/>
          <p:nvPr/>
        </p:nvSpPr>
        <p:spPr>
          <a:xfrm>
            <a:off x="548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I / YOU</a:t>
            </a:r>
            <a:endParaRPr lang="en-US" sz="1100" dirty="0"/>
          </a:p>
        </p:txBody>
      </p:sp>
      <p:sp>
        <p:nvSpPr>
          <p:cNvPr id="8" name="Text 5"/>
          <p:cNvSpPr txBox="1"/>
          <p:nvPr/>
        </p:nvSpPr>
        <p:spPr>
          <a:xfrm>
            <a:off x="6263640" y="169164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HE / SHE</a:t>
            </a:r>
            <a:endParaRPr lang="en-US" sz="1100" dirty="0"/>
          </a:p>
        </p:txBody>
      </p:sp>
      <p:sp>
        <p:nvSpPr>
          <p:cNvPr id="9" name="Shape 6"/>
          <p:cNvSpPr/>
          <p:nvPr/>
        </p:nvSpPr>
        <p:spPr>
          <a:xfrm>
            <a:off x="548640" y="2103120"/>
            <a:ext cx="5440680" cy="868680"/>
          </a:xfrm>
          <a:prstGeom prst="roundRect">
            <a:avLst>
              <a:gd name="adj" fmla="val 14737"/>
            </a:avLst>
          </a:prstGeom>
          <a:solidFill>
            <a:srgbClr val="F3EFE6"/>
          </a:solidFill>
          <a:ln/>
        </p:spPr>
      </p:sp>
      <p:sp>
        <p:nvSpPr>
          <p:cNvPr id="10" name="Shape 7"/>
          <p:cNvSpPr/>
          <p:nvPr/>
        </p:nvSpPr>
        <p:spPr>
          <a:xfrm>
            <a:off x="6263640" y="2103120"/>
            <a:ext cx="5376672" cy="868680"/>
          </a:xfrm>
          <a:prstGeom prst="roundRect">
            <a:avLst>
              <a:gd name="adj" fmla="val 14737"/>
            </a:avLst>
          </a:prstGeom>
          <a:solidFill>
            <a:srgbClr val="F3EFE6"/>
          </a:solidFill>
          <a:ln/>
        </p:spPr>
      </p:sp>
      <p:sp>
        <p:nvSpPr>
          <p:cNvPr id="11" name="Text 8"/>
          <p:cNvSpPr txBox="1"/>
          <p:nvPr/>
        </p:nvSpPr>
        <p:spPr>
          <a:xfrm>
            <a:off x="822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 at a clinic.</a:t>
            </a:r>
            <a:endParaRPr lang="en-US" sz="2600" dirty="0"/>
          </a:p>
        </p:txBody>
      </p:sp>
      <p:sp>
        <p:nvSpPr>
          <p:cNvPr id="12" name="Text 9"/>
          <p:cNvSpPr txBox="1"/>
          <p:nvPr/>
        </p:nvSpPr>
        <p:spPr>
          <a:xfrm>
            <a:off x="6537960" y="210312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works at a clinic.</a:t>
            </a:r>
            <a:endParaRPr lang="en-US" sz="2600" dirty="0"/>
          </a:p>
        </p:txBody>
      </p:sp>
      <p:sp>
        <p:nvSpPr>
          <p:cNvPr id="13" name="Shape 10"/>
          <p:cNvSpPr/>
          <p:nvPr/>
        </p:nvSpPr>
        <p:spPr>
          <a:xfrm>
            <a:off x="548640" y="3200400"/>
            <a:ext cx="5440680" cy="868680"/>
          </a:xfrm>
          <a:prstGeom prst="roundRect">
            <a:avLst>
              <a:gd name="adj" fmla="val 14737"/>
            </a:avLst>
          </a:prstGeom>
          <a:solidFill>
            <a:srgbClr val="F3EFE6"/>
          </a:solidFill>
          <a:ln/>
        </p:spPr>
      </p:sp>
      <p:sp>
        <p:nvSpPr>
          <p:cNvPr id="14" name="Shape 11"/>
          <p:cNvSpPr/>
          <p:nvPr/>
        </p:nvSpPr>
        <p:spPr>
          <a:xfrm>
            <a:off x="6263640" y="3200400"/>
            <a:ext cx="5376672" cy="868680"/>
          </a:xfrm>
          <a:prstGeom prst="roundRect">
            <a:avLst>
              <a:gd name="adj" fmla="val 14737"/>
            </a:avLst>
          </a:prstGeom>
          <a:solidFill>
            <a:srgbClr val="F3EFE6"/>
          </a:solidFill>
          <a:ln/>
        </p:spPr>
      </p:sp>
      <p:sp>
        <p:nvSpPr>
          <p:cNvPr id="15" name="Text 12"/>
          <p:cNvSpPr txBox="1"/>
          <p:nvPr/>
        </p:nvSpPr>
        <p:spPr>
          <a:xfrm>
            <a:off x="822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don’t work on Sundays.</a:t>
            </a:r>
            <a:endParaRPr lang="en-US" sz="2600" dirty="0"/>
          </a:p>
        </p:txBody>
      </p:sp>
      <p:sp>
        <p:nvSpPr>
          <p:cNvPr id="16" name="Text 13"/>
          <p:cNvSpPr txBox="1"/>
          <p:nvPr/>
        </p:nvSpPr>
        <p:spPr>
          <a:xfrm>
            <a:off x="6537960" y="320040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doesn’t work on Sundays.</a:t>
            </a:r>
            <a:endParaRPr lang="en-US" sz="2600" dirty="0"/>
          </a:p>
        </p:txBody>
      </p:sp>
      <p:sp>
        <p:nvSpPr>
          <p:cNvPr id="17" name="Shape 14"/>
          <p:cNvSpPr/>
          <p:nvPr/>
        </p:nvSpPr>
        <p:spPr>
          <a:xfrm>
            <a:off x="548640" y="4297680"/>
            <a:ext cx="5440680" cy="868680"/>
          </a:xfrm>
          <a:prstGeom prst="roundRect">
            <a:avLst>
              <a:gd name="adj" fmla="val 14737"/>
            </a:avLst>
          </a:prstGeom>
          <a:solidFill>
            <a:srgbClr val="F3EFE6"/>
          </a:solidFill>
          <a:ln/>
        </p:spPr>
      </p:sp>
      <p:sp>
        <p:nvSpPr>
          <p:cNvPr id="18" name="Shape 15"/>
          <p:cNvSpPr/>
          <p:nvPr/>
        </p:nvSpPr>
        <p:spPr>
          <a:xfrm>
            <a:off x="6263640" y="4297680"/>
            <a:ext cx="5376672" cy="868680"/>
          </a:xfrm>
          <a:prstGeom prst="roundRect">
            <a:avLst>
              <a:gd name="adj" fmla="val 14737"/>
            </a:avLst>
          </a:prstGeom>
          <a:solidFill>
            <a:srgbClr val="F3EFE6"/>
          </a:solidFill>
          <a:ln/>
        </p:spPr>
      </p:sp>
      <p:sp>
        <p:nvSpPr>
          <p:cNvPr id="19" name="Text 16"/>
          <p:cNvSpPr txBox="1"/>
          <p:nvPr/>
        </p:nvSpPr>
        <p:spPr>
          <a:xfrm>
            <a:off x="822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 you work at night?</a:t>
            </a:r>
            <a:endParaRPr lang="en-US" sz="2600" dirty="0"/>
          </a:p>
        </p:txBody>
      </p:sp>
      <p:sp>
        <p:nvSpPr>
          <p:cNvPr id="20" name="Text 17"/>
          <p:cNvSpPr txBox="1"/>
          <p:nvPr/>
        </p:nvSpPr>
        <p:spPr>
          <a:xfrm>
            <a:off x="6537960" y="4297680"/>
            <a:ext cx="5029200" cy="86868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he work at night?</a:t>
            </a:r>
            <a:endParaRPr lang="en-US" sz="2600" dirty="0"/>
          </a:p>
        </p:txBody>
      </p:sp>
      <p:sp>
        <p:nvSpPr>
          <p:cNvPr id="21" name="Text 18"/>
          <p:cNvSpPr txBox="1"/>
          <p:nvPr/>
        </p:nvSpPr>
        <p:spPr>
          <a:xfrm>
            <a:off x="548640" y="5532120"/>
            <a:ext cx="7315200" cy="502920"/>
          </a:xfrm>
          <a:prstGeom prst="rect">
            <a:avLst/>
          </a:prstGeom>
          <a:noFill/>
          <a:ln/>
        </p:spPr>
        <p:txBody>
          <a:bodyPr wrap="square" lIns="0" tIns="0" rIns="0" bIns="0" rtlCol="0" anchor="t"/>
          <a:lstStyle/>
          <a:p>
            <a:pPr indent="0" marL="0">
              <a:buNone/>
            </a:pPr>
            <a:r>
              <a:rPr lang="en-US" sz="2400" b="1" i="1" dirty="0">
                <a:solidFill>
                  <a:srgbClr val="F44904"/>
                </a:solidFill>
                <a:latin typeface="Poppins" pitchFamily="34" charset="0"/>
                <a:ea typeface="Poppins" pitchFamily="34" charset="-122"/>
                <a:cs typeface="Poppins" pitchFamily="34" charset="-120"/>
              </a:rPr>
              <a:t>What changes? Why?</a:t>
            </a: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04 · THE PATTERN</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08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The pattern</a:t>
            </a:r>
            <a:endParaRPr lang="en-US" sz="4000" dirty="0"/>
          </a:p>
        </p:txBody>
      </p:sp>
      <p:sp>
        <p:nvSpPr>
          <p:cNvPr id="7" name="Text 4"/>
          <p:cNvSpPr txBox="1"/>
          <p:nvPr/>
        </p:nvSpPr>
        <p:spPr>
          <a:xfrm>
            <a:off x="548640" y="187452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HE / SHE / IT + -S</a:t>
            </a:r>
            <a:endParaRPr lang="en-US" sz="1100" dirty="0"/>
          </a:p>
        </p:txBody>
      </p:sp>
      <p:sp>
        <p:nvSpPr>
          <p:cNvPr id="8" name="Text 5"/>
          <p:cNvSpPr txBox="1"/>
          <p:nvPr/>
        </p:nvSpPr>
        <p:spPr>
          <a:xfrm>
            <a:off x="4480560" y="169164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work</a:t>
            </a:r>
            <a:pPr indent="0" marL="0">
              <a:buNone/>
            </a:pPr>
            <a:r>
              <a:rPr lang="en-US" sz="3400" b="1" dirty="0">
                <a:solidFill>
                  <a:srgbClr val="F44904"/>
                </a:solidFill>
                <a:latin typeface="Poppins" pitchFamily="34" charset="0"/>
                <a:ea typeface="Poppins" pitchFamily="34" charset="-122"/>
                <a:cs typeface="Poppins" pitchFamily="34" charset="-120"/>
              </a:rPr>
              <a:t>s</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9" name="Shape 6"/>
          <p:cNvSpPr/>
          <p:nvPr/>
        </p:nvSpPr>
        <p:spPr>
          <a:xfrm>
            <a:off x="548640" y="2468880"/>
            <a:ext cx="11091672" cy="0"/>
          </a:xfrm>
          <a:prstGeom prst="line">
            <a:avLst/>
          </a:prstGeom>
          <a:noFill/>
          <a:ln w="12700">
            <a:solidFill>
              <a:srgbClr val="DDD6C7"/>
            </a:solidFill>
            <a:prstDash val="solid"/>
          </a:ln>
        </p:spPr>
      </p:sp>
      <p:sp>
        <p:nvSpPr>
          <p:cNvPr id="10" name="Text 7"/>
          <p:cNvSpPr txBox="1"/>
          <p:nvPr/>
        </p:nvSpPr>
        <p:spPr>
          <a:xfrm>
            <a:off x="548640" y="274320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DOESN’T + BASE VERB</a:t>
            </a:r>
            <a:endParaRPr lang="en-US" sz="1100" dirty="0"/>
          </a:p>
        </p:txBody>
      </p:sp>
      <p:sp>
        <p:nvSpPr>
          <p:cNvPr id="11" name="Text 8"/>
          <p:cNvSpPr txBox="1"/>
          <p:nvPr/>
        </p:nvSpPr>
        <p:spPr>
          <a:xfrm>
            <a:off x="4480560" y="2560320"/>
            <a:ext cx="6400800" cy="685800"/>
          </a:xfrm>
          <a:prstGeom prst="rect">
            <a:avLst/>
          </a:prstGeom>
          <a:noFill/>
          <a:ln/>
        </p:spPr>
        <p:txBody>
          <a:bodyPr wrap="square" lIns="0" tIns="0" rIns="0" bIns="0" rtlCol="0" anchor="ctr"/>
          <a:lstStyle/>
          <a:p>
            <a:pPr indent="0" marL="0">
              <a:buNone/>
            </a:pPr>
            <a:r>
              <a:rPr lang="en-US" sz="3400" b="1" dirty="0">
                <a:solidFill>
                  <a:srgbClr val="0B1440"/>
                </a:solidFill>
                <a:latin typeface="Poppins" pitchFamily="34" charset="0"/>
                <a:ea typeface="Poppins" pitchFamily="34" charset="-122"/>
                <a:cs typeface="Poppins" pitchFamily="34" charset="-120"/>
              </a:rPr>
              <a:t>He </a:t>
            </a:r>
            <a:pPr indent="0" marL="0">
              <a:buNone/>
            </a:pPr>
            <a:r>
              <a:rPr lang="en-US" sz="3400" b="1" dirty="0">
                <a:solidFill>
                  <a:srgbClr val="F44904"/>
                </a:solidFill>
                <a:latin typeface="Poppins" pitchFamily="34" charset="0"/>
                <a:ea typeface="Poppins" pitchFamily="34" charset="-122"/>
                <a:cs typeface="Poppins" pitchFamily="34" charset="-120"/>
              </a:rPr>
              <a:t>doesn’t 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2" name="Shape 9"/>
          <p:cNvSpPr/>
          <p:nvPr/>
        </p:nvSpPr>
        <p:spPr>
          <a:xfrm>
            <a:off x="548640" y="3337560"/>
            <a:ext cx="11091672" cy="0"/>
          </a:xfrm>
          <a:prstGeom prst="line">
            <a:avLst/>
          </a:prstGeom>
          <a:noFill/>
          <a:ln w="12700">
            <a:solidFill>
              <a:srgbClr val="DDD6C7"/>
            </a:solidFill>
            <a:prstDash val="solid"/>
          </a:ln>
        </p:spPr>
      </p:sp>
      <p:sp>
        <p:nvSpPr>
          <p:cNvPr id="13" name="Text 10"/>
          <p:cNvSpPr txBox="1"/>
          <p:nvPr/>
        </p:nvSpPr>
        <p:spPr>
          <a:xfrm>
            <a:off x="548640" y="3611880"/>
            <a:ext cx="3840480" cy="274320"/>
          </a:xfrm>
          <a:prstGeom prst="rect">
            <a:avLst/>
          </a:prstGeom>
          <a:noFill/>
          <a:ln/>
        </p:spPr>
        <p:txBody>
          <a:bodyPr wrap="square" lIns="0" tIns="0" rIns="0" bIns="0" rtlCol="0" anchor="t"/>
          <a:lstStyle/>
          <a:p>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DOES + HE + BASE VERB</a:t>
            </a:r>
            <a:endParaRPr lang="en-US" sz="1100" dirty="0"/>
          </a:p>
        </p:txBody>
      </p:sp>
      <p:sp>
        <p:nvSpPr>
          <p:cNvPr id="14" name="Text 11"/>
          <p:cNvSpPr txBox="1"/>
          <p:nvPr/>
        </p:nvSpPr>
        <p:spPr>
          <a:xfrm>
            <a:off x="4480560" y="3429000"/>
            <a:ext cx="6400800" cy="685800"/>
          </a:xfrm>
          <a:prstGeom prst="rect">
            <a:avLst/>
          </a:prstGeom>
          <a:noFill/>
          <a:ln/>
        </p:spPr>
        <p:txBody>
          <a:bodyPr wrap="square" lIns="0" tIns="0" rIns="0" bIns="0" rtlCol="0" anchor="ctr"/>
          <a:lstStyle/>
          <a:p>
            <a:pPr indent="0" marL="0">
              <a:buNone/>
            </a:pPr>
            <a:r>
              <a:rPr lang="en-US" sz="3400" b="1" dirty="0">
                <a:solidFill>
                  <a:srgbClr val="F44904"/>
                </a:solidFill>
                <a:latin typeface="Poppins" pitchFamily="34" charset="0"/>
                <a:ea typeface="Poppins" pitchFamily="34" charset="-122"/>
                <a:cs typeface="Poppins" pitchFamily="34" charset="-120"/>
              </a:rPr>
              <a:t>Does</a:t>
            </a:r>
            <a:pPr indent="0" marL="0">
              <a:buNone/>
            </a:pPr>
            <a:r>
              <a:rPr lang="en-US" sz="3400" b="1" dirty="0">
                <a:solidFill>
                  <a:srgbClr val="0B1440"/>
                </a:solidFill>
                <a:latin typeface="Poppins" pitchFamily="34" charset="0"/>
                <a:ea typeface="Poppins" pitchFamily="34" charset="-122"/>
                <a:cs typeface="Poppins" pitchFamily="34" charset="-120"/>
              </a:rPr>
              <a:t> he </a:t>
            </a:r>
            <a:pPr indent="0" marL="0">
              <a:buNone/>
            </a:pPr>
            <a:r>
              <a:rPr lang="en-US" sz="3400" b="1" dirty="0">
                <a:solidFill>
                  <a:srgbClr val="F44904"/>
                </a:solidFill>
                <a:latin typeface="Poppins" pitchFamily="34" charset="0"/>
                <a:ea typeface="Poppins" pitchFamily="34" charset="-122"/>
                <a:cs typeface="Poppins" pitchFamily="34" charset="-120"/>
              </a:rPr>
              <a:t>work</a:t>
            </a:r>
            <a:pPr indent="0" marL="0">
              <a:buNone/>
            </a:pPr>
            <a:r>
              <a:rPr lang="en-US" sz="3400" b="1" dirty="0">
                <a:solidFill>
                  <a:srgbClr val="0B1440"/>
                </a:solidFill>
                <a:latin typeface="Poppins" pitchFamily="34" charset="0"/>
                <a:ea typeface="Poppins" pitchFamily="34" charset="-122"/>
                <a:cs typeface="Poppins" pitchFamily="34" charset="-120"/>
              </a:rPr>
              <a:t>?</a:t>
            </a:r>
            <a:endParaRPr lang="en-US" sz="3400" dirty="0"/>
          </a:p>
        </p:txBody>
      </p:sp>
      <p:sp>
        <p:nvSpPr>
          <p:cNvPr id="15" name="Shape 12"/>
          <p:cNvSpPr/>
          <p:nvPr/>
        </p:nvSpPr>
        <p:spPr>
          <a:xfrm>
            <a:off x="548640" y="4480560"/>
            <a:ext cx="11091672" cy="1508760"/>
          </a:xfrm>
          <a:prstGeom prst="roundRect">
            <a:avLst>
              <a:gd name="adj" fmla="val 8485"/>
            </a:avLst>
          </a:prstGeom>
          <a:solidFill>
            <a:srgbClr val="0B1440"/>
          </a:solidFill>
          <a:ln/>
        </p:spPr>
      </p:sp>
      <p:sp>
        <p:nvSpPr>
          <p:cNvPr id="16" name="Shape 13"/>
          <p:cNvSpPr/>
          <p:nvPr/>
        </p:nvSpPr>
        <p:spPr>
          <a:xfrm>
            <a:off x="868680" y="4800600"/>
            <a:ext cx="1993392" cy="868680"/>
          </a:xfrm>
          <a:prstGeom prst="roundRect">
            <a:avLst>
              <a:gd name="adj" fmla="val 12632"/>
            </a:avLst>
          </a:prstGeom>
          <a:solidFill>
            <a:srgbClr val="141E52"/>
          </a:solidFill>
          <a:ln w="19050">
            <a:solidFill>
              <a:srgbClr val="F44904"/>
            </a:solidFill>
            <a:prstDash val="solid"/>
          </a:ln>
        </p:spPr>
      </p:sp>
      <p:sp>
        <p:nvSpPr>
          <p:cNvPr id="17" name="Text 14"/>
          <p:cNvSpPr txBox="1"/>
          <p:nvPr/>
        </p:nvSpPr>
        <p:spPr>
          <a:xfrm>
            <a:off x="868680" y="4800600"/>
            <a:ext cx="1993392" cy="868680"/>
          </a:xfrm>
          <a:prstGeom prst="rect">
            <a:avLst/>
          </a:prstGeom>
          <a:noFill/>
          <a:ln/>
        </p:spPr>
        <p:txBody>
          <a:bodyPr wrap="square" lIns="0" tIns="0" rIns="0" bIns="0" rtlCol="0" anchor="ctr"/>
          <a:lstStyle/>
          <a:p>
            <a:pPr algn="ctr" indent="0" marL="0">
              <a:buNone/>
            </a:pPr>
            <a:r>
              <a:rPr lang="en-US" sz="3000" dirty="0">
                <a:solidFill>
                  <a:srgbClr val="F44904"/>
                </a:solidFill>
                <a:latin typeface="Poppins ExtraBold" pitchFamily="34" charset="0"/>
                <a:ea typeface="Poppins ExtraBold" pitchFamily="34" charset="-122"/>
                <a:cs typeface="Poppins ExtraBold" pitchFamily="34" charset="-120"/>
              </a:rPr>
              <a:t>DOES</a:t>
            </a:r>
            <a:endParaRPr lang="en-US" sz="3000" dirty="0"/>
          </a:p>
        </p:txBody>
      </p:sp>
      <p:sp>
        <p:nvSpPr>
          <p:cNvPr id="18" name="Text 15"/>
          <p:cNvSpPr txBox="1"/>
          <p:nvPr/>
        </p:nvSpPr>
        <p:spPr>
          <a:xfrm>
            <a:off x="2953512"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19" name="Shape 16"/>
          <p:cNvSpPr/>
          <p:nvPr/>
        </p:nvSpPr>
        <p:spPr>
          <a:xfrm>
            <a:off x="3456432" y="4800600"/>
            <a:ext cx="1225296" cy="868680"/>
          </a:xfrm>
          <a:prstGeom prst="roundRect">
            <a:avLst>
              <a:gd name="adj" fmla="val 12632"/>
            </a:avLst>
          </a:prstGeom>
          <a:solidFill>
            <a:srgbClr val="141E52"/>
          </a:solidFill>
          <a:ln w="19050">
            <a:solidFill>
              <a:srgbClr val="5B6088"/>
            </a:solidFill>
            <a:prstDash val="solid"/>
          </a:ln>
        </p:spPr>
      </p:sp>
      <p:sp>
        <p:nvSpPr>
          <p:cNvPr id="20" name="Text 17"/>
          <p:cNvSpPr txBox="1"/>
          <p:nvPr/>
        </p:nvSpPr>
        <p:spPr>
          <a:xfrm>
            <a:off x="3456432" y="4800600"/>
            <a:ext cx="1225296"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HE</a:t>
            </a:r>
            <a:endParaRPr lang="en-US" sz="3000" dirty="0"/>
          </a:p>
        </p:txBody>
      </p:sp>
      <p:sp>
        <p:nvSpPr>
          <p:cNvPr id="21" name="Text 18"/>
          <p:cNvSpPr txBox="1"/>
          <p:nvPr/>
        </p:nvSpPr>
        <p:spPr>
          <a:xfrm>
            <a:off x="4773168" y="4617720"/>
            <a:ext cx="457200" cy="1188720"/>
          </a:xfrm>
          <a:prstGeom prst="rect">
            <a:avLst/>
          </a:prstGeom>
          <a:noFill/>
          <a:ln/>
        </p:spPr>
        <p:txBody>
          <a:bodyPr wrap="square" lIns="0" tIns="0" rIns="0" bIns="0" rtlCol="0" anchor="ctr"/>
          <a:lstStyle/>
          <a:p>
            <a:pPr algn="ctr" indent="0" marL="0">
              <a:buNone/>
            </a:pPr>
            <a:r>
              <a:rPr lang="en-US" sz="3000" b="1" dirty="0">
                <a:solidFill>
                  <a:srgbClr val="B7AFA0"/>
                </a:solidFill>
                <a:latin typeface="Poppins" pitchFamily="34" charset="0"/>
                <a:ea typeface="Poppins" pitchFamily="34" charset="-122"/>
                <a:cs typeface="Poppins" pitchFamily="34" charset="-120"/>
              </a:rPr>
              <a:t>+</a:t>
            </a:r>
            <a:endParaRPr lang="en-US" sz="3000" dirty="0"/>
          </a:p>
        </p:txBody>
      </p:sp>
      <p:sp>
        <p:nvSpPr>
          <p:cNvPr id="22" name="Shape 19"/>
          <p:cNvSpPr/>
          <p:nvPr/>
        </p:nvSpPr>
        <p:spPr>
          <a:xfrm>
            <a:off x="5276088" y="4800600"/>
            <a:ext cx="1993392" cy="868680"/>
          </a:xfrm>
          <a:prstGeom prst="roundRect">
            <a:avLst>
              <a:gd name="adj" fmla="val 12632"/>
            </a:avLst>
          </a:prstGeom>
          <a:solidFill>
            <a:srgbClr val="141E52"/>
          </a:solidFill>
          <a:ln w="19050">
            <a:solidFill>
              <a:srgbClr val="5B6088"/>
            </a:solidFill>
            <a:prstDash val="solid"/>
          </a:ln>
        </p:spPr>
      </p:sp>
      <p:sp>
        <p:nvSpPr>
          <p:cNvPr id="23" name="Text 20"/>
          <p:cNvSpPr txBox="1"/>
          <p:nvPr/>
        </p:nvSpPr>
        <p:spPr>
          <a:xfrm>
            <a:off x="5276088" y="4800600"/>
            <a:ext cx="1993392" cy="868680"/>
          </a:xfrm>
          <a:prstGeom prst="rect">
            <a:avLst/>
          </a:prstGeom>
          <a:noFill/>
          <a:ln/>
        </p:spPr>
        <p:txBody>
          <a:bodyPr wrap="square" lIns="0" tIns="0" rIns="0" bIns="0" rtlCol="0" anchor="ctr"/>
          <a:lstStyle/>
          <a:p>
            <a:pPr algn="ctr" indent="0" marL="0">
              <a:buNone/>
            </a:pPr>
            <a:r>
              <a:rPr lang="en-US" sz="3000" dirty="0">
                <a:solidFill>
                  <a:srgbClr val="FAF7F2"/>
                </a:solidFill>
                <a:latin typeface="Poppins ExtraBold" pitchFamily="34" charset="0"/>
                <a:ea typeface="Poppins ExtraBold" pitchFamily="34" charset="-122"/>
                <a:cs typeface="Poppins ExtraBold" pitchFamily="34" charset="-120"/>
              </a:rPr>
              <a:t>WORK</a:t>
            </a:r>
            <a:endParaRPr lang="en-US" sz="3000" dirty="0"/>
          </a:p>
        </p:txBody>
      </p:sp>
      <p:sp>
        <p:nvSpPr>
          <p:cNvPr id="24" name="Text 21"/>
          <p:cNvSpPr txBox="1"/>
          <p:nvPr/>
        </p:nvSpPr>
        <p:spPr>
          <a:xfrm>
            <a:off x="7818120" y="4800600"/>
            <a:ext cx="3657600" cy="868680"/>
          </a:xfrm>
          <a:prstGeom prst="rect">
            <a:avLst/>
          </a:prstGeom>
          <a:noFill/>
          <a:ln/>
        </p:spPr>
        <p:txBody>
          <a:bodyPr wrap="square" lIns="0" tIns="0" rIns="0" bIns="0" rtlCol="0" anchor="ctr"/>
          <a:lstStyle/>
          <a:p>
            <a:pPr indent="0" marL="0">
              <a:buNone/>
            </a:pPr>
            <a:r>
              <a:rPr lang="en-US" sz="1200" b="1" dirty="0">
                <a:solidFill>
                  <a:srgbClr val="B7AFA0"/>
                </a:solidFill>
                <a:latin typeface="JetBrains Mono Medium" pitchFamily="34" charset="0"/>
                <a:ea typeface="JetBrains Mono Medium" pitchFamily="34" charset="-122"/>
                <a:cs typeface="JetBrains Mono Medium" pitchFamily="34" charset="-120"/>
              </a:rPr>
              <a:t>NOT  </a:t>
            </a:r>
            <a:pPr indent="0" marL="0">
              <a:buNone/>
            </a:pPr>
            <a:r>
              <a:rPr lang="en-US" sz="2600" b="1" strike="sngStrike" dirty="0">
                <a:solidFill>
                  <a:srgbClr val="B7AFA0"/>
                </a:solidFill>
                <a:latin typeface="Poppins" pitchFamily="34" charset="0"/>
                <a:ea typeface="Poppins" pitchFamily="34" charset="-122"/>
                <a:cs typeface="Poppins" pitchFamily="34" charset="-120"/>
              </a:rPr>
              <a:t>Does he works?</a:t>
            </a:r>
            <a:endParaRPr lang="en-US" sz="2600" dirty="0"/>
          </a:p>
        </p:txBody>
      </p:sp>
      <p:sp>
        <p:nvSpPr>
          <p:cNvPr id="25" name="Text 22"/>
          <p:cNvSpPr txBox="1"/>
          <p:nvPr/>
        </p:nvSpPr>
        <p:spPr>
          <a:xfrm>
            <a:off x="7818120" y="5440680"/>
            <a:ext cx="3657600" cy="365760"/>
          </a:xfrm>
          <a:prstGeom prst="rect">
            <a:avLst/>
          </a:prstGeom>
          <a:noFill/>
          <a:ln/>
        </p:spPr>
        <p:txBody>
          <a:bodyPr wrap="square" lIns="0" tIns="0" rIns="0" bIns="0" rtlCol="0" anchor="t"/>
          <a:lstStyle/>
          <a:p>
            <a:pPr indent="0" marL="0">
              <a:buNone/>
            </a:pPr>
            <a:r>
              <a:rPr lang="en-US" sz="1500" dirty="0">
                <a:solidFill>
                  <a:srgbClr val="B7AFA0"/>
                </a:solidFill>
                <a:latin typeface="Hanken Grotesk" pitchFamily="34" charset="0"/>
                <a:ea typeface="Hanken Grotesk" pitchFamily="34" charset="-122"/>
                <a:cs typeface="Hanken Grotesk" pitchFamily="34" charset="-120"/>
              </a:rPr>
              <a:t>Yes, he does.  /  No, he doesn’t.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05 · CHALLENGE</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09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Right or wrong?</a:t>
            </a:r>
            <a:endParaRPr lang="en-US" sz="4000" dirty="0"/>
          </a:p>
        </p:txBody>
      </p:sp>
      <p:sp>
        <p:nvSpPr>
          <p:cNvPr id="7" name="Text 4"/>
          <p:cNvSpPr txBox="1"/>
          <p:nvPr/>
        </p:nvSpPr>
        <p:spPr>
          <a:xfrm>
            <a:off x="548640" y="1554480"/>
            <a:ext cx="7315200" cy="41148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Fix the wrong ones.</a:t>
            </a:r>
            <a:endParaRPr lang="en-US" sz="2200" dirty="0"/>
          </a:p>
        </p:txBody>
      </p:sp>
      <p:sp>
        <p:nvSpPr>
          <p:cNvPr id="8" name="Text 5"/>
          <p:cNvSpPr txBox="1"/>
          <p:nvPr/>
        </p:nvSpPr>
        <p:spPr>
          <a:xfrm>
            <a:off x="548640" y="2194560"/>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1</a:t>
            </a:r>
            <a:endParaRPr lang="en-US" sz="1400" dirty="0"/>
          </a:p>
        </p:txBody>
      </p:sp>
      <p:sp>
        <p:nvSpPr>
          <p:cNvPr id="9" name="Text 6"/>
          <p:cNvSpPr txBox="1"/>
          <p:nvPr/>
        </p:nvSpPr>
        <p:spPr>
          <a:xfrm>
            <a:off x="1097280" y="2194560"/>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He work in a clinic.</a:t>
            </a:r>
            <a:endParaRPr lang="en-US" sz="2800" dirty="0"/>
          </a:p>
        </p:txBody>
      </p:sp>
      <p:sp>
        <p:nvSpPr>
          <p:cNvPr id="10" name="Shape 7"/>
          <p:cNvSpPr/>
          <p:nvPr/>
        </p:nvSpPr>
        <p:spPr>
          <a:xfrm>
            <a:off x="9326880" y="2258568"/>
            <a:ext cx="1078992" cy="420624"/>
          </a:xfrm>
          <a:prstGeom prst="roundRect">
            <a:avLst>
              <a:gd name="adj" fmla="val 50000"/>
            </a:avLst>
          </a:prstGeom>
          <a:solidFill>
            <a:srgbClr val="F3EFE6"/>
          </a:solidFill>
          <a:ln/>
        </p:spPr>
      </p:sp>
      <p:sp>
        <p:nvSpPr>
          <p:cNvPr id="11" name="Text 8"/>
          <p:cNvSpPr txBox="1"/>
          <p:nvPr/>
        </p:nvSpPr>
        <p:spPr>
          <a:xfrm>
            <a:off x="932688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2" name="Shape 9"/>
          <p:cNvSpPr/>
          <p:nvPr/>
        </p:nvSpPr>
        <p:spPr>
          <a:xfrm>
            <a:off x="10515600" y="2258568"/>
            <a:ext cx="1078992" cy="420624"/>
          </a:xfrm>
          <a:prstGeom prst="roundRect">
            <a:avLst>
              <a:gd name="adj" fmla="val 50000"/>
            </a:avLst>
          </a:prstGeom>
          <a:solidFill>
            <a:srgbClr val="F3EFE6"/>
          </a:solidFill>
          <a:ln/>
        </p:spPr>
      </p:sp>
      <p:sp>
        <p:nvSpPr>
          <p:cNvPr id="13" name="Text 10"/>
          <p:cNvSpPr txBox="1"/>
          <p:nvPr/>
        </p:nvSpPr>
        <p:spPr>
          <a:xfrm>
            <a:off x="10515600" y="2258568"/>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14" name="Text 11"/>
          <p:cNvSpPr txBox="1"/>
          <p:nvPr/>
        </p:nvSpPr>
        <p:spPr>
          <a:xfrm>
            <a:off x="548640" y="2944368"/>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2</a:t>
            </a:r>
            <a:endParaRPr lang="en-US" sz="1400" dirty="0"/>
          </a:p>
        </p:txBody>
      </p:sp>
      <p:sp>
        <p:nvSpPr>
          <p:cNvPr id="15" name="Text 12"/>
          <p:cNvSpPr txBox="1"/>
          <p:nvPr/>
        </p:nvSpPr>
        <p:spPr>
          <a:xfrm>
            <a:off x="1097280" y="2944368"/>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I works from Monday to Friday.</a:t>
            </a:r>
            <a:endParaRPr lang="en-US" sz="2800" dirty="0"/>
          </a:p>
        </p:txBody>
      </p:sp>
      <p:sp>
        <p:nvSpPr>
          <p:cNvPr id="16" name="Shape 13"/>
          <p:cNvSpPr/>
          <p:nvPr/>
        </p:nvSpPr>
        <p:spPr>
          <a:xfrm>
            <a:off x="9326880" y="3008376"/>
            <a:ext cx="1078992" cy="420624"/>
          </a:xfrm>
          <a:prstGeom prst="roundRect">
            <a:avLst>
              <a:gd name="adj" fmla="val 50000"/>
            </a:avLst>
          </a:prstGeom>
          <a:solidFill>
            <a:srgbClr val="F3EFE6"/>
          </a:solidFill>
          <a:ln/>
        </p:spPr>
      </p:sp>
      <p:sp>
        <p:nvSpPr>
          <p:cNvPr id="17" name="Text 14"/>
          <p:cNvSpPr txBox="1"/>
          <p:nvPr/>
        </p:nvSpPr>
        <p:spPr>
          <a:xfrm>
            <a:off x="932688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18" name="Shape 15"/>
          <p:cNvSpPr/>
          <p:nvPr/>
        </p:nvSpPr>
        <p:spPr>
          <a:xfrm>
            <a:off x="10515600" y="3008376"/>
            <a:ext cx="1078992" cy="420624"/>
          </a:xfrm>
          <a:prstGeom prst="roundRect">
            <a:avLst>
              <a:gd name="adj" fmla="val 50000"/>
            </a:avLst>
          </a:prstGeom>
          <a:solidFill>
            <a:srgbClr val="F3EFE6"/>
          </a:solidFill>
          <a:ln/>
        </p:spPr>
      </p:sp>
      <p:sp>
        <p:nvSpPr>
          <p:cNvPr id="19" name="Text 16"/>
          <p:cNvSpPr txBox="1"/>
          <p:nvPr/>
        </p:nvSpPr>
        <p:spPr>
          <a:xfrm>
            <a:off x="10515600" y="3008376"/>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0" name="Text 17"/>
          <p:cNvSpPr txBox="1"/>
          <p:nvPr/>
        </p:nvSpPr>
        <p:spPr>
          <a:xfrm>
            <a:off x="548640" y="3694176"/>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3</a:t>
            </a:r>
            <a:endParaRPr lang="en-US" sz="1400" dirty="0"/>
          </a:p>
        </p:txBody>
      </p:sp>
      <p:sp>
        <p:nvSpPr>
          <p:cNvPr id="21" name="Text 18"/>
          <p:cNvSpPr txBox="1"/>
          <p:nvPr/>
        </p:nvSpPr>
        <p:spPr>
          <a:xfrm>
            <a:off x="1097280" y="3694176"/>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She doesn’t work at night.</a:t>
            </a:r>
            <a:endParaRPr lang="en-US" sz="2800" dirty="0"/>
          </a:p>
        </p:txBody>
      </p:sp>
      <p:sp>
        <p:nvSpPr>
          <p:cNvPr id="22" name="Shape 19"/>
          <p:cNvSpPr/>
          <p:nvPr/>
        </p:nvSpPr>
        <p:spPr>
          <a:xfrm>
            <a:off x="9326880" y="3758184"/>
            <a:ext cx="1078992" cy="420624"/>
          </a:xfrm>
          <a:prstGeom prst="roundRect">
            <a:avLst>
              <a:gd name="adj" fmla="val 50000"/>
            </a:avLst>
          </a:prstGeom>
          <a:solidFill>
            <a:srgbClr val="F3EFE6"/>
          </a:solidFill>
          <a:ln/>
        </p:spPr>
      </p:sp>
      <p:sp>
        <p:nvSpPr>
          <p:cNvPr id="23" name="Text 20"/>
          <p:cNvSpPr txBox="1"/>
          <p:nvPr/>
        </p:nvSpPr>
        <p:spPr>
          <a:xfrm>
            <a:off x="932688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24" name="Shape 21"/>
          <p:cNvSpPr/>
          <p:nvPr/>
        </p:nvSpPr>
        <p:spPr>
          <a:xfrm>
            <a:off x="10515600" y="3758184"/>
            <a:ext cx="1078992" cy="420624"/>
          </a:xfrm>
          <a:prstGeom prst="roundRect">
            <a:avLst>
              <a:gd name="adj" fmla="val 50000"/>
            </a:avLst>
          </a:prstGeom>
          <a:solidFill>
            <a:srgbClr val="F3EFE6"/>
          </a:solidFill>
          <a:ln/>
        </p:spPr>
      </p:sp>
      <p:sp>
        <p:nvSpPr>
          <p:cNvPr id="25" name="Text 22"/>
          <p:cNvSpPr txBox="1"/>
          <p:nvPr/>
        </p:nvSpPr>
        <p:spPr>
          <a:xfrm>
            <a:off x="10515600" y="3758184"/>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26" name="Text 23"/>
          <p:cNvSpPr txBox="1"/>
          <p:nvPr/>
        </p:nvSpPr>
        <p:spPr>
          <a:xfrm>
            <a:off x="548640" y="4443984"/>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4</a:t>
            </a:r>
            <a:endParaRPr lang="en-US" sz="1400" dirty="0"/>
          </a:p>
        </p:txBody>
      </p:sp>
      <p:sp>
        <p:nvSpPr>
          <p:cNvPr id="27" name="Text 24"/>
          <p:cNvSpPr txBox="1"/>
          <p:nvPr/>
        </p:nvSpPr>
        <p:spPr>
          <a:xfrm>
            <a:off x="1097280" y="4443984"/>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Does he works on Saturdays?</a:t>
            </a:r>
            <a:endParaRPr lang="en-US" sz="2800" dirty="0"/>
          </a:p>
        </p:txBody>
      </p:sp>
      <p:sp>
        <p:nvSpPr>
          <p:cNvPr id="28" name="Shape 25"/>
          <p:cNvSpPr/>
          <p:nvPr/>
        </p:nvSpPr>
        <p:spPr>
          <a:xfrm>
            <a:off x="9326880" y="4507992"/>
            <a:ext cx="1078992" cy="420624"/>
          </a:xfrm>
          <a:prstGeom prst="roundRect">
            <a:avLst>
              <a:gd name="adj" fmla="val 50000"/>
            </a:avLst>
          </a:prstGeom>
          <a:solidFill>
            <a:srgbClr val="F3EFE6"/>
          </a:solidFill>
          <a:ln/>
        </p:spPr>
      </p:sp>
      <p:sp>
        <p:nvSpPr>
          <p:cNvPr id="29" name="Text 26"/>
          <p:cNvSpPr txBox="1"/>
          <p:nvPr/>
        </p:nvSpPr>
        <p:spPr>
          <a:xfrm>
            <a:off x="932688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0" name="Shape 27"/>
          <p:cNvSpPr/>
          <p:nvPr/>
        </p:nvSpPr>
        <p:spPr>
          <a:xfrm>
            <a:off x="10515600" y="4507992"/>
            <a:ext cx="1078992" cy="420624"/>
          </a:xfrm>
          <a:prstGeom prst="roundRect">
            <a:avLst>
              <a:gd name="adj" fmla="val 50000"/>
            </a:avLst>
          </a:prstGeom>
          <a:solidFill>
            <a:srgbClr val="F3EFE6"/>
          </a:solidFill>
          <a:ln/>
        </p:spPr>
      </p:sp>
      <p:sp>
        <p:nvSpPr>
          <p:cNvPr id="31" name="Text 28"/>
          <p:cNvSpPr txBox="1"/>
          <p:nvPr/>
        </p:nvSpPr>
        <p:spPr>
          <a:xfrm>
            <a:off x="10515600" y="4507992"/>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
        <p:nvSpPr>
          <p:cNvPr id="32" name="Text 29"/>
          <p:cNvSpPr txBox="1"/>
          <p:nvPr/>
        </p:nvSpPr>
        <p:spPr>
          <a:xfrm>
            <a:off x="548640" y="5193792"/>
            <a:ext cx="457200" cy="548640"/>
          </a:xfrm>
          <a:prstGeom prst="rect">
            <a:avLst/>
          </a:prstGeom>
          <a:noFill/>
          <a:ln/>
        </p:spPr>
        <p:txBody>
          <a:bodyPr wrap="square" lIns="0" tIns="0" rIns="0" bIns="0" rtlCol="0" anchor="ctr"/>
          <a:lstStyle/>
          <a:p>
            <a:pPr indent="0" marL="0">
              <a:buNone/>
            </a:pPr>
            <a:r>
              <a:rPr lang="en-US" sz="1400" dirty="0">
                <a:solidFill>
                  <a:srgbClr val="F44904"/>
                </a:solidFill>
                <a:latin typeface="JetBrains Mono Medium" pitchFamily="34" charset="0"/>
                <a:ea typeface="JetBrains Mono Medium" pitchFamily="34" charset="-122"/>
                <a:cs typeface="JetBrains Mono Medium" pitchFamily="34" charset="-120"/>
              </a:rPr>
              <a:t>5</a:t>
            </a:r>
            <a:endParaRPr lang="en-US" sz="1400" dirty="0"/>
          </a:p>
        </p:txBody>
      </p:sp>
      <p:sp>
        <p:nvSpPr>
          <p:cNvPr id="33" name="Text 30"/>
          <p:cNvSpPr txBox="1"/>
          <p:nvPr/>
        </p:nvSpPr>
        <p:spPr>
          <a:xfrm>
            <a:off x="1097280" y="5193792"/>
            <a:ext cx="7772400" cy="548640"/>
          </a:xfrm>
          <a:prstGeom prst="rect">
            <a:avLst/>
          </a:prstGeom>
          <a:noFill/>
          <a:ln/>
        </p:spPr>
        <p:txBody>
          <a:bodyPr wrap="square" lIns="0" tIns="0" rIns="0" bIns="0" rtlCol="0" anchor="ctr"/>
          <a:lstStyle/>
          <a:p>
            <a:pPr indent="0" marL="0">
              <a:buNone/>
            </a:pPr>
            <a:r>
              <a:rPr lang="en-US" sz="2800" dirty="0">
                <a:solidFill>
                  <a:srgbClr val="0B1440"/>
                </a:solidFill>
                <a:latin typeface="Poppins SemiBold" pitchFamily="34" charset="0"/>
                <a:ea typeface="Poppins SemiBold" pitchFamily="34" charset="-122"/>
                <a:cs typeface="Poppins SemiBold" pitchFamily="34" charset="-120"/>
              </a:rPr>
              <a:t>Do you work at a hospital?</a:t>
            </a:r>
            <a:endParaRPr lang="en-US" sz="2800" dirty="0"/>
          </a:p>
        </p:txBody>
      </p:sp>
      <p:sp>
        <p:nvSpPr>
          <p:cNvPr id="34" name="Shape 31"/>
          <p:cNvSpPr/>
          <p:nvPr/>
        </p:nvSpPr>
        <p:spPr>
          <a:xfrm>
            <a:off x="9326880" y="5257800"/>
            <a:ext cx="1078992" cy="420624"/>
          </a:xfrm>
          <a:prstGeom prst="roundRect">
            <a:avLst>
              <a:gd name="adj" fmla="val 50000"/>
            </a:avLst>
          </a:prstGeom>
          <a:solidFill>
            <a:srgbClr val="F3EFE6"/>
          </a:solidFill>
          <a:ln/>
        </p:spPr>
      </p:sp>
      <p:sp>
        <p:nvSpPr>
          <p:cNvPr id="35" name="Text 32"/>
          <p:cNvSpPr txBox="1"/>
          <p:nvPr/>
        </p:nvSpPr>
        <p:spPr>
          <a:xfrm>
            <a:off x="932688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RIGHT</a:t>
            </a:r>
            <a:endParaRPr lang="en-US" sz="1100" dirty="0"/>
          </a:p>
        </p:txBody>
      </p:sp>
      <p:sp>
        <p:nvSpPr>
          <p:cNvPr id="36" name="Shape 33"/>
          <p:cNvSpPr/>
          <p:nvPr/>
        </p:nvSpPr>
        <p:spPr>
          <a:xfrm>
            <a:off x="10515600" y="5257800"/>
            <a:ext cx="1078992" cy="420624"/>
          </a:xfrm>
          <a:prstGeom prst="roundRect">
            <a:avLst>
              <a:gd name="adj" fmla="val 50000"/>
            </a:avLst>
          </a:prstGeom>
          <a:solidFill>
            <a:srgbClr val="F3EFE6"/>
          </a:solidFill>
          <a:ln/>
        </p:spPr>
      </p:sp>
      <p:sp>
        <p:nvSpPr>
          <p:cNvPr id="37" name="Text 34"/>
          <p:cNvSpPr txBox="1"/>
          <p:nvPr/>
        </p:nvSpPr>
        <p:spPr>
          <a:xfrm>
            <a:off x="10515600" y="5257800"/>
            <a:ext cx="1078992" cy="420624"/>
          </a:xfrm>
          <a:prstGeom prst="rect">
            <a:avLst/>
          </a:prstGeom>
          <a:noFill/>
          <a:ln/>
        </p:spPr>
        <p:txBody>
          <a:bodyPr wrap="square" lIns="0" tIns="0" rIns="0" bIns="0" rtlCol="0" anchor="ctr"/>
          <a:lstStyle/>
          <a:p>
            <a:pPr algn="ctr" indent="0" marL="0">
              <a:buNone/>
            </a:pPr>
            <a:r>
              <a:rPr lang="en-US" sz="1100" spc="100" kern="0" dirty="0">
                <a:solidFill>
                  <a:srgbClr val="5B6088"/>
                </a:solidFill>
                <a:latin typeface="JetBrains Mono Medium" pitchFamily="34" charset="0"/>
                <a:ea typeface="JetBrains Mono Medium" pitchFamily="34" charset="-122"/>
                <a:cs typeface="JetBrains Mono Medium" pitchFamily="34" charset="-120"/>
              </a:rPr>
              <a:t>WRONG</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INFORMATION GAP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10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Who is it?</a:t>
            </a:r>
            <a:endParaRPr lang="en-US" sz="4000" dirty="0"/>
          </a:p>
        </p:txBody>
      </p:sp>
      <p:sp>
        <p:nvSpPr>
          <p:cNvPr id="7" name="Shape 4"/>
          <p:cNvSpPr/>
          <p:nvPr/>
        </p:nvSpPr>
        <p:spPr>
          <a:xfrm>
            <a:off x="548640" y="1691640"/>
            <a:ext cx="1280160" cy="1280160"/>
          </a:xfrm>
          <a:prstGeom prst="roundRect">
            <a:avLst>
              <a:gd name="adj" fmla="val 10000"/>
            </a:avLst>
          </a:prstGeom>
          <a:solidFill>
            <a:srgbClr val="F44904"/>
          </a:solidFill>
          <a:ln/>
        </p:spPr>
      </p:sp>
      <p:sp>
        <p:nvSpPr>
          <p:cNvPr id="8" name="Text 5"/>
          <p:cNvSpPr txBox="1"/>
          <p:nvPr/>
        </p:nvSpPr>
        <p:spPr>
          <a:xfrm>
            <a:off x="548640" y="1691640"/>
            <a:ext cx="1280160" cy="1280160"/>
          </a:xfrm>
          <a:prstGeom prst="rect">
            <a:avLst/>
          </a:prstGeom>
          <a:noFill/>
          <a:ln/>
        </p:spPr>
        <p:txBody>
          <a:bodyPr wrap="square" lIns="0" tIns="0" rIns="0" bIns="0" rtlCol="0" anchor="ctr"/>
          <a:lstStyle/>
          <a:p>
            <a:pPr algn="ctr" indent="0" marL="0">
              <a:buNone/>
            </a:pPr>
            <a:r>
              <a:rPr lang="en-US" sz="5600" dirty="0">
                <a:solidFill>
                  <a:srgbClr val="0B1440"/>
                </a:solidFill>
                <a:latin typeface="Poppins ExtraBold" pitchFamily="34" charset="0"/>
                <a:ea typeface="Poppins ExtraBold" pitchFamily="34" charset="-122"/>
                <a:cs typeface="Poppins ExtraBold" pitchFamily="34" charset="-120"/>
              </a:rPr>
              <a:t>S</a:t>
            </a:r>
            <a:endParaRPr lang="en-US" sz="5600" dirty="0"/>
          </a:p>
        </p:txBody>
      </p:sp>
      <p:sp>
        <p:nvSpPr>
          <p:cNvPr id="9" name="Text 6"/>
          <p:cNvSpPr txBox="1"/>
          <p:nvPr/>
        </p:nvSpPr>
        <p:spPr>
          <a:xfrm>
            <a:off x="2057400" y="1845259"/>
            <a:ext cx="3657600" cy="502920"/>
          </a:xfrm>
          <a:prstGeom prst="rect">
            <a:avLst/>
          </a:prstGeom>
          <a:noFill/>
          <a:ln/>
        </p:spPr>
        <p:txBody>
          <a:bodyPr wrap="square" lIns="0" tIns="0" rIns="0" bIns="0" rtlCol="0" anchor="t"/>
          <a:lstStyle/>
          <a:p>
            <a:pPr indent="0" marL="0">
              <a:buNone/>
            </a:pPr>
            <a:r>
              <a:rPr lang="en-US" sz="2800" b="1" dirty="0">
                <a:solidFill>
                  <a:srgbClr val="0B1440"/>
                </a:solidFill>
                <a:latin typeface="Poppins" pitchFamily="34" charset="0"/>
                <a:ea typeface="Poppins" pitchFamily="34" charset="-122"/>
                <a:cs typeface="Poppins" pitchFamily="34" charset="-120"/>
              </a:rPr>
              <a:t>Dr. Sarah</a:t>
            </a:r>
            <a:endParaRPr lang="en-US" sz="2800" dirty="0"/>
          </a:p>
        </p:txBody>
      </p:sp>
      <p:sp>
        <p:nvSpPr>
          <p:cNvPr id="10" name="Text 7"/>
          <p:cNvSpPr txBox="1"/>
          <p:nvPr/>
        </p:nvSpPr>
        <p:spPr>
          <a:xfrm>
            <a:off x="2057400" y="2382926"/>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3291840"/>
            <a:ext cx="45720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Six things you don’t know.</a:t>
            </a:r>
            <a:endParaRPr lang="en-US" sz="2400" dirty="0"/>
          </a:p>
        </p:txBody>
      </p:sp>
      <p:sp>
        <p:nvSpPr>
          <p:cNvPr id="12" name="Text 9"/>
          <p:cNvSpPr txBox="1"/>
          <p:nvPr/>
        </p:nvSpPr>
        <p:spPr>
          <a:xfrm>
            <a:off x="548640" y="3749040"/>
            <a:ext cx="4572000" cy="457200"/>
          </a:xfrm>
          <a:prstGeom prst="rect">
            <a:avLst/>
          </a:prstGeom>
          <a:noFill/>
          <a:ln/>
        </p:spPr>
        <p:txBody>
          <a:bodyPr wrap="square" lIns="0" tIns="0" rIns="0" bIns="0" rtlCol="0" anchor="t"/>
          <a:lstStyle/>
          <a:p>
            <a:pPr indent="0" marL="0">
              <a:buNone/>
            </a:pPr>
            <a:r>
              <a:rPr lang="en-US" sz="2200" dirty="0">
                <a:solidFill>
                  <a:srgbClr val="5B6088"/>
                </a:solidFill>
                <a:latin typeface="Hanken Grotesk" pitchFamily="34" charset="0"/>
                <a:ea typeface="Hanken Grotesk" pitchFamily="34" charset="-122"/>
                <a:cs typeface="Hanken Grotesk" pitchFamily="34" charset="-120"/>
              </a:rPr>
              <a:t>Ask me. Find them.</a:t>
            </a:r>
            <a:endParaRPr lang="en-US" sz="2200" dirty="0"/>
          </a:p>
        </p:txBody>
      </p:sp>
      <p:sp>
        <p:nvSpPr>
          <p:cNvPr id="13" name="Shape 10"/>
          <p:cNvSpPr/>
          <p:nvPr/>
        </p:nvSpPr>
        <p:spPr>
          <a:xfrm>
            <a:off x="5806440" y="1691640"/>
            <a:ext cx="2743200" cy="1234440"/>
          </a:xfrm>
          <a:prstGeom prst="roundRect">
            <a:avLst>
              <a:gd name="adj" fmla="val 10370"/>
            </a:avLst>
          </a:prstGeom>
          <a:solidFill>
            <a:srgbClr val="F3EFE6"/>
          </a:solidFill>
          <a:ln/>
        </p:spPr>
      </p:sp>
      <p:sp>
        <p:nvSpPr>
          <p:cNvPr id="14" name="Text 11"/>
          <p:cNvSpPr txBox="1"/>
          <p:nvPr/>
        </p:nvSpPr>
        <p:spPr>
          <a:xfrm>
            <a:off x="603504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PATIENTS A DAY?</a:t>
            </a:r>
            <a:endParaRPr lang="en-US" sz="1000" dirty="0"/>
          </a:p>
        </p:txBody>
      </p:sp>
      <p:sp>
        <p:nvSpPr>
          <p:cNvPr id="15" name="Text 12"/>
          <p:cNvSpPr txBox="1"/>
          <p:nvPr/>
        </p:nvSpPr>
        <p:spPr>
          <a:xfrm>
            <a:off x="603504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6" name="Shape 13"/>
          <p:cNvSpPr/>
          <p:nvPr/>
        </p:nvSpPr>
        <p:spPr>
          <a:xfrm>
            <a:off x="8732520" y="1691640"/>
            <a:ext cx="2743200" cy="1234440"/>
          </a:xfrm>
          <a:prstGeom prst="roundRect">
            <a:avLst>
              <a:gd name="adj" fmla="val 10370"/>
            </a:avLst>
          </a:prstGeom>
          <a:solidFill>
            <a:srgbClr val="F3EFE6"/>
          </a:solidFill>
          <a:ln/>
        </p:spPr>
      </p:sp>
      <p:sp>
        <p:nvSpPr>
          <p:cNvPr id="17" name="Text 14"/>
          <p:cNvSpPr txBox="1"/>
          <p:nvPr/>
        </p:nvSpPr>
        <p:spPr>
          <a:xfrm>
            <a:off x="8961120" y="189280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SUNDAYS?</a:t>
            </a:r>
            <a:endParaRPr lang="en-US" sz="1000" dirty="0"/>
          </a:p>
        </p:txBody>
      </p:sp>
      <p:sp>
        <p:nvSpPr>
          <p:cNvPr id="18" name="Text 15"/>
          <p:cNvSpPr txBox="1"/>
          <p:nvPr/>
        </p:nvSpPr>
        <p:spPr>
          <a:xfrm>
            <a:off x="8961120" y="219456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19" name="Shape 16"/>
          <p:cNvSpPr/>
          <p:nvPr/>
        </p:nvSpPr>
        <p:spPr>
          <a:xfrm>
            <a:off x="5806440" y="3108960"/>
            <a:ext cx="2743200" cy="1234440"/>
          </a:xfrm>
          <a:prstGeom prst="roundRect">
            <a:avLst>
              <a:gd name="adj" fmla="val 10370"/>
            </a:avLst>
          </a:prstGeom>
          <a:solidFill>
            <a:srgbClr val="F3EFE6"/>
          </a:solidFill>
          <a:ln/>
        </p:spPr>
      </p:sp>
      <p:sp>
        <p:nvSpPr>
          <p:cNvPr id="20" name="Text 17"/>
          <p:cNvSpPr txBox="1"/>
          <p:nvPr/>
        </p:nvSpPr>
        <p:spPr>
          <a:xfrm>
            <a:off x="603504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AT NIGHT?</a:t>
            </a:r>
            <a:endParaRPr lang="en-US" sz="1000" dirty="0"/>
          </a:p>
        </p:txBody>
      </p:sp>
      <p:sp>
        <p:nvSpPr>
          <p:cNvPr id="21" name="Text 18"/>
          <p:cNvSpPr txBox="1"/>
          <p:nvPr/>
        </p:nvSpPr>
        <p:spPr>
          <a:xfrm>
            <a:off x="603504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2" name="Shape 19"/>
          <p:cNvSpPr/>
          <p:nvPr/>
        </p:nvSpPr>
        <p:spPr>
          <a:xfrm>
            <a:off x="8732520" y="3108960"/>
            <a:ext cx="2743200" cy="1234440"/>
          </a:xfrm>
          <a:prstGeom prst="roundRect">
            <a:avLst>
              <a:gd name="adj" fmla="val 10370"/>
            </a:avLst>
          </a:prstGeom>
          <a:solidFill>
            <a:srgbClr val="F3EFE6"/>
          </a:solidFill>
          <a:ln/>
        </p:spPr>
      </p:sp>
      <p:sp>
        <p:nvSpPr>
          <p:cNvPr id="23" name="Text 20"/>
          <p:cNvSpPr txBox="1"/>
          <p:nvPr/>
        </p:nvSpPr>
        <p:spPr>
          <a:xfrm>
            <a:off x="8961120" y="331012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APPOINTMENTS?</a:t>
            </a:r>
            <a:endParaRPr lang="en-US" sz="1000" dirty="0"/>
          </a:p>
        </p:txBody>
      </p:sp>
      <p:sp>
        <p:nvSpPr>
          <p:cNvPr id="24" name="Text 21"/>
          <p:cNvSpPr txBox="1"/>
          <p:nvPr/>
        </p:nvSpPr>
        <p:spPr>
          <a:xfrm>
            <a:off x="8961120" y="361188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5" name="Shape 22"/>
          <p:cNvSpPr/>
          <p:nvPr/>
        </p:nvSpPr>
        <p:spPr>
          <a:xfrm>
            <a:off x="5806440" y="4526280"/>
            <a:ext cx="2743200" cy="1234440"/>
          </a:xfrm>
          <a:prstGeom prst="roundRect">
            <a:avLst>
              <a:gd name="adj" fmla="val 10370"/>
            </a:avLst>
          </a:prstGeom>
          <a:solidFill>
            <a:srgbClr val="F3EFE6"/>
          </a:solidFill>
          <a:ln/>
        </p:spPr>
      </p:sp>
      <p:sp>
        <p:nvSpPr>
          <p:cNvPr id="26" name="Text 23"/>
          <p:cNvSpPr txBox="1"/>
          <p:nvPr/>
        </p:nvSpPr>
        <p:spPr>
          <a:xfrm>
            <a:off x="603504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AFTER WORK?</a:t>
            </a:r>
            <a:endParaRPr lang="en-US" sz="1000" dirty="0"/>
          </a:p>
        </p:txBody>
      </p:sp>
      <p:sp>
        <p:nvSpPr>
          <p:cNvPr id="27" name="Text 24"/>
          <p:cNvSpPr txBox="1"/>
          <p:nvPr/>
        </p:nvSpPr>
        <p:spPr>
          <a:xfrm>
            <a:off x="603504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
        <p:nvSpPr>
          <p:cNvPr id="28" name="Shape 25"/>
          <p:cNvSpPr/>
          <p:nvPr/>
        </p:nvSpPr>
        <p:spPr>
          <a:xfrm>
            <a:off x="8732520" y="4526280"/>
            <a:ext cx="2743200" cy="1234440"/>
          </a:xfrm>
          <a:prstGeom prst="roundRect">
            <a:avLst>
              <a:gd name="adj" fmla="val 10370"/>
            </a:avLst>
          </a:prstGeom>
          <a:solidFill>
            <a:srgbClr val="F3EFE6"/>
          </a:solidFill>
          <a:ln/>
        </p:spPr>
      </p:sp>
      <p:sp>
        <p:nvSpPr>
          <p:cNvPr id="29" name="Text 26"/>
          <p:cNvSpPr txBox="1"/>
          <p:nvPr/>
        </p:nvSpPr>
        <p:spPr>
          <a:xfrm>
            <a:off x="8961120" y="4727448"/>
            <a:ext cx="2377440" cy="274320"/>
          </a:xfrm>
          <a:prstGeom prst="rect">
            <a:avLst/>
          </a:prstGeom>
          <a:noFill/>
          <a:ln/>
        </p:spPr>
        <p:txBody>
          <a:bodyPr wrap="square" lIns="0" tIns="0" rIns="0" bIns="0" rtlCol="0" anchor="t"/>
          <a:lstStyle/>
          <a:p>
            <a:pPr indent="0" marL="0">
              <a:buNone/>
            </a:pPr>
            <a:r>
              <a:rPr lang="en-US" sz="1000" spc="120" kern="0" dirty="0">
                <a:solidFill>
                  <a:srgbClr val="5B6088"/>
                </a:solidFill>
                <a:latin typeface="JetBrains Mono Medium" pitchFamily="34" charset="0"/>
                <a:ea typeface="JetBrains Mono Medium" pitchFamily="34" charset="-122"/>
                <a:cs typeface="JetBrains Mono Medium" pitchFamily="34" charset="-120"/>
              </a:rPr>
              <a:t>BED?</a:t>
            </a:r>
            <a:endParaRPr lang="en-US" sz="1000" dirty="0"/>
          </a:p>
        </p:txBody>
      </p:sp>
      <p:sp>
        <p:nvSpPr>
          <p:cNvPr id="30" name="Text 27"/>
          <p:cNvSpPr txBox="1"/>
          <p:nvPr/>
        </p:nvSpPr>
        <p:spPr>
          <a:xfrm>
            <a:off x="8961120" y="5029200"/>
            <a:ext cx="2377440" cy="548640"/>
          </a:xfrm>
          <a:prstGeom prst="rect">
            <a:avLst/>
          </a:prstGeom>
          <a:noFill/>
          <a:ln/>
        </p:spPr>
        <p:txBody>
          <a:bodyPr wrap="square" lIns="0" tIns="0" rIns="0" bIns="0" rtlCol="0" anchor="t"/>
          <a:lstStyle/>
          <a:p>
            <a:pPr indent="0" marL="0">
              <a:buNone/>
            </a:pPr>
            <a:r>
              <a:rPr lang="en-US" sz="3000" dirty="0">
                <a:solidFill>
                  <a:srgbClr val="F44904"/>
                </a:solidFill>
                <a:latin typeface="Poppins ExtraBold" pitchFamily="34" charset="0"/>
                <a:ea typeface="Poppins ExtraBold" pitchFamily="34" charset="-122"/>
                <a:cs typeface="Poppins ExtraBold" pitchFamily="34" charset="-120"/>
              </a:rPr>
              <a:t>?</a:t>
            </a:r>
            <a:endParaRPr lang="en-US" sz="3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06 · 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11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Ask the questions</a:t>
            </a:r>
            <a:endParaRPr lang="en-US" sz="4000" dirty="0"/>
          </a:p>
        </p:txBody>
      </p:sp>
      <p:sp>
        <p:nvSpPr>
          <p:cNvPr id="7" name="Shape 4"/>
          <p:cNvSpPr/>
          <p:nvPr/>
        </p:nvSpPr>
        <p:spPr>
          <a:xfrm>
            <a:off x="8549640" y="731520"/>
            <a:ext cx="868680" cy="868680"/>
          </a:xfrm>
          <a:prstGeom prst="roundRect">
            <a:avLst>
              <a:gd name="adj" fmla="val 14737"/>
            </a:avLst>
          </a:prstGeom>
          <a:solidFill>
            <a:srgbClr val="F44904"/>
          </a:solidFill>
          <a:ln/>
        </p:spPr>
      </p:sp>
      <p:sp>
        <p:nvSpPr>
          <p:cNvPr id="8" name="Text 5"/>
          <p:cNvSpPr txBox="1"/>
          <p:nvPr/>
        </p:nvSpPr>
        <p:spPr>
          <a:xfrm>
            <a:off x="8549640" y="731520"/>
            <a:ext cx="868680" cy="868680"/>
          </a:xfrm>
          <a:prstGeom prst="rect">
            <a:avLst/>
          </a:prstGeom>
          <a:noFill/>
          <a:ln/>
        </p:spPr>
        <p:txBody>
          <a:bodyPr wrap="square" lIns="0" tIns="0" rIns="0" bIns="0" rtlCol="0" anchor="ctr"/>
          <a:lstStyle/>
          <a:p>
            <a:pPr algn="ctr" indent="0" marL="0">
              <a:buNone/>
            </a:pPr>
            <a:r>
              <a:rPr lang="en-US" sz="3800" dirty="0">
                <a:solidFill>
                  <a:srgbClr val="0B1440"/>
                </a:solidFill>
                <a:latin typeface="Poppins ExtraBold" pitchFamily="34" charset="0"/>
                <a:ea typeface="Poppins ExtraBold" pitchFamily="34" charset="-122"/>
                <a:cs typeface="Poppins ExtraBold" pitchFamily="34" charset="-120"/>
              </a:rPr>
              <a:t>S</a:t>
            </a:r>
            <a:endParaRPr lang="en-US" sz="3800" dirty="0"/>
          </a:p>
        </p:txBody>
      </p:sp>
      <p:sp>
        <p:nvSpPr>
          <p:cNvPr id="9" name="Text 6"/>
          <p:cNvSpPr txBox="1"/>
          <p:nvPr/>
        </p:nvSpPr>
        <p:spPr>
          <a:xfrm>
            <a:off x="9646920" y="835762"/>
            <a:ext cx="1993392" cy="502920"/>
          </a:xfrm>
          <a:prstGeom prst="rect">
            <a:avLst/>
          </a:prstGeom>
          <a:noFill/>
          <a:ln/>
        </p:spPr>
        <p:txBody>
          <a:bodyPr wrap="square" lIns="0" tIns="0" rIns="0" bIns="0" rtlCol="0" anchor="t"/>
          <a:lstStyle/>
          <a:p>
            <a:pPr indent="0" marL="0">
              <a:buNone/>
            </a:pPr>
            <a:r>
              <a:rPr lang="en-US" sz="1900" b="1" dirty="0">
                <a:solidFill>
                  <a:srgbClr val="0B1440"/>
                </a:solidFill>
                <a:latin typeface="Poppins" pitchFamily="34" charset="0"/>
                <a:ea typeface="Poppins" pitchFamily="34" charset="-122"/>
                <a:cs typeface="Poppins" pitchFamily="34" charset="-120"/>
              </a:rPr>
              <a:t>Dr. Sarah</a:t>
            </a:r>
            <a:endParaRPr lang="en-US" sz="1900" dirty="0"/>
          </a:p>
        </p:txBody>
      </p:sp>
      <p:sp>
        <p:nvSpPr>
          <p:cNvPr id="10" name="Text 7"/>
          <p:cNvSpPr txBox="1"/>
          <p:nvPr/>
        </p:nvSpPr>
        <p:spPr>
          <a:xfrm>
            <a:off x="9646920" y="1200607"/>
            <a:ext cx="1993392"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DOCTOR</a:t>
            </a:r>
            <a:endParaRPr lang="en-US" sz="1000" dirty="0"/>
          </a:p>
        </p:txBody>
      </p:sp>
      <p:sp>
        <p:nvSpPr>
          <p:cNvPr id="11" name="Text 8"/>
          <p:cNvSpPr txBox="1"/>
          <p:nvPr/>
        </p:nvSpPr>
        <p:spPr>
          <a:xfrm>
            <a:off x="548640" y="1783080"/>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How many patients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see a day?</a:t>
            </a:r>
            <a:endParaRPr lang="en-US" sz="2300" dirty="0"/>
          </a:p>
        </p:txBody>
      </p:sp>
      <p:sp>
        <p:nvSpPr>
          <p:cNvPr id="12" name="Text 9"/>
          <p:cNvSpPr txBox="1"/>
          <p:nvPr/>
        </p:nvSpPr>
        <p:spPr>
          <a:xfrm>
            <a:off x="548640" y="2386584"/>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work on Sundays?</a:t>
            </a:r>
            <a:endParaRPr lang="en-US" sz="2300" dirty="0"/>
          </a:p>
        </p:txBody>
      </p:sp>
      <p:sp>
        <p:nvSpPr>
          <p:cNvPr id="13" name="Text 10"/>
          <p:cNvSpPr txBox="1"/>
          <p:nvPr/>
        </p:nvSpPr>
        <p:spPr>
          <a:xfrm>
            <a:off x="548640" y="2990088"/>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work at night?</a:t>
            </a:r>
            <a:endParaRPr lang="en-US" sz="2300" dirty="0"/>
          </a:p>
        </p:txBody>
      </p:sp>
      <p:sp>
        <p:nvSpPr>
          <p:cNvPr id="14" name="Text 11"/>
          <p:cNvSpPr txBox="1"/>
          <p:nvPr/>
        </p:nvSpPr>
        <p:spPr>
          <a:xfrm>
            <a:off x="548640" y="3593592"/>
            <a:ext cx="7818120" cy="502920"/>
          </a:xfrm>
          <a:prstGeom prst="rect">
            <a:avLst/>
          </a:prstGeom>
          <a:noFill/>
          <a:ln/>
        </p:spPr>
        <p:txBody>
          <a:bodyPr wrap="square" lIns="0" tIns="0" rIns="0" bIns="0" rtlCol="0" anchor="ctr"/>
          <a:lstStyle/>
          <a:p>
            <a:pPr indent="0" marL="0">
              <a:buNone/>
            </a:pP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have appointments in the afternoon?</a:t>
            </a:r>
            <a:endParaRPr lang="en-US" sz="2300" dirty="0"/>
          </a:p>
        </p:txBody>
      </p:sp>
      <p:sp>
        <p:nvSpPr>
          <p:cNvPr id="15" name="Text 12"/>
          <p:cNvSpPr txBox="1"/>
          <p:nvPr/>
        </p:nvSpPr>
        <p:spPr>
          <a:xfrm>
            <a:off x="548640" y="4197096"/>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What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do after work?</a:t>
            </a:r>
            <a:endParaRPr lang="en-US" sz="2300" dirty="0"/>
          </a:p>
        </p:txBody>
      </p:sp>
      <p:sp>
        <p:nvSpPr>
          <p:cNvPr id="16" name="Text 13"/>
          <p:cNvSpPr txBox="1"/>
          <p:nvPr/>
        </p:nvSpPr>
        <p:spPr>
          <a:xfrm>
            <a:off x="548640" y="4800600"/>
            <a:ext cx="7818120" cy="502920"/>
          </a:xfrm>
          <a:prstGeom prst="rect">
            <a:avLst/>
          </a:prstGeom>
          <a:noFill/>
          <a:ln/>
        </p:spPr>
        <p:txBody>
          <a:bodyPr wrap="square" lIns="0" tIns="0" rIns="0" bIns="0" rtlCol="0" anchor="ctr"/>
          <a:lstStyle/>
          <a:p>
            <a:pPr indent="0" marL="0">
              <a:buNone/>
            </a:pPr>
            <a:r>
              <a:rPr lang="en-US" sz="2300" dirty="0">
                <a:solidFill>
                  <a:srgbClr val="0B1440"/>
                </a:solidFill>
                <a:latin typeface="Poppins SemiBold" pitchFamily="34" charset="0"/>
                <a:ea typeface="Poppins SemiBold" pitchFamily="34" charset="-122"/>
                <a:cs typeface="Poppins SemiBold" pitchFamily="34" charset="-120"/>
              </a:rPr>
              <a:t>What time </a:t>
            </a:r>
            <a:pPr indent="0" marL="0">
              <a:buNone/>
            </a:pPr>
            <a:r>
              <a:rPr lang="en-US" sz="2300" dirty="0">
                <a:solidFill>
                  <a:srgbClr val="F44904"/>
                </a:solidFill>
                <a:latin typeface="Poppins SemiBold" pitchFamily="34" charset="0"/>
                <a:ea typeface="Poppins SemiBold" pitchFamily="34" charset="-122"/>
                <a:cs typeface="Poppins SemiBold" pitchFamily="34" charset="-120"/>
              </a:rPr>
              <a:t>_____</a:t>
            </a:r>
            <a:pPr indent="0" marL="0">
              <a:buNone/>
            </a:pPr>
            <a:r>
              <a:rPr lang="en-US" sz="2300" dirty="0">
                <a:solidFill>
                  <a:srgbClr val="0B1440"/>
                </a:solidFill>
                <a:latin typeface="Poppins SemiBold" pitchFamily="34" charset="0"/>
                <a:ea typeface="Poppins SemiBold" pitchFamily="34" charset="-122"/>
                <a:cs typeface="Poppins SemiBold" pitchFamily="34" charset="-120"/>
              </a:rPr>
              <a:t> she go to bed?</a:t>
            </a:r>
            <a:endParaRPr lang="en-US" sz="2300" dirty="0"/>
          </a:p>
        </p:txBody>
      </p:sp>
      <p:sp>
        <p:nvSpPr>
          <p:cNvPr id="17" name="Shape 14"/>
          <p:cNvSpPr/>
          <p:nvPr/>
        </p:nvSpPr>
        <p:spPr>
          <a:xfrm>
            <a:off x="8549640" y="2011680"/>
            <a:ext cx="3090672" cy="2468880"/>
          </a:xfrm>
          <a:prstGeom prst="roundRect">
            <a:avLst>
              <a:gd name="adj" fmla="val 5185"/>
            </a:avLst>
          </a:prstGeom>
          <a:solidFill>
            <a:srgbClr val="F3EFE6"/>
          </a:solidFill>
          <a:ln/>
        </p:spPr>
      </p:sp>
      <p:sp>
        <p:nvSpPr>
          <p:cNvPr id="18" name="Text 15"/>
          <p:cNvSpPr txBox="1"/>
          <p:nvPr/>
        </p:nvSpPr>
        <p:spPr>
          <a:xfrm>
            <a:off x="8823960" y="2240280"/>
            <a:ext cx="27432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SHORT ANSWERS</a:t>
            </a:r>
            <a:endParaRPr lang="en-US" sz="1100" dirty="0"/>
          </a:p>
        </p:txBody>
      </p:sp>
      <p:sp>
        <p:nvSpPr>
          <p:cNvPr id="19" name="Text 16"/>
          <p:cNvSpPr txBox="1"/>
          <p:nvPr/>
        </p:nvSpPr>
        <p:spPr>
          <a:xfrm>
            <a:off x="8823960" y="2606040"/>
            <a:ext cx="2651760" cy="822960"/>
          </a:xfrm>
          <a:prstGeom prst="rect">
            <a:avLst/>
          </a:prstGeom>
          <a:noFill/>
          <a:ln/>
        </p:spPr>
        <p:txBody>
          <a:bodyPr wrap="square" lIns="0" tIns="0" rIns="0" bIns="0" rtlCol="0" anchor="t"/>
          <a:lstStyle/>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Yes, she does.</a:t>
            </a:r>
            <a:endParaRPr lang="en-US" sz="1900" dirty="0"/>
          </a:p>
          <a:p>
            <a:pPr indent="0" marL="0">
              <a:lnSpc>
                <a:spcPct val="120000"/>
              </a:lnSpc>
              <a:buNone/>
            </a:pPr>
            <a:r>
              <a:rPr lang="en-US" sz="1900" dirty="0">
                <a:solidFill>
                  <a:srgbClr val="0B1440"/>
                </a:solidFill>
                <a:latin typeface="Poppins SemiBold" pitchFamily="34" charset="0"/>
                <a:ea typeface="Poppins SemiBold" pitchFamily="34" charset="-122"/>
                <a:cs typeface="Poppins SemiBold" pitchFamily="34" charset="-120"/>
              </a:rPr>
              <a:t>No, she doesn’t.</a:t>
            </a:r>
            <a:endParaRPr lang="en-US" sz="1900" dirty="0"/>
          </a:p>
        </p:txBody>
      </p:sp>
      <p:sp>
        <p:nvSpPr>
          <p:cNvPr id="20" name="Text 17"/>
          <p:cNvSpPr txBox="1"/>
          <p:nvPr/>
        </p:nvSpPr>
        <p:spPr>
          <a:xfrm>
            <a:off x="8823960" y="3566160"/>
            <a:ext cx="18288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THEN</a:t>
            </a:r>
            <a:endParaRPr lang="en-US" sz="1100" dirty="0"/>
          </a:p>
        </p:txBody>
      </p:sp>
      <p:sp>
        <p:nvSpPr>
          <p:cNvPr id="21" name="Text 18"/>
          <p:cNvSpPr txBox="1"/>
          <p:nvPr/>
        </p:nvSpPr>
        <p:spPr>
          <a:xfrm>
            <a:off x="8823960" y="3840480"/>
            <a:ext cx="2651760" cy="548640"/>
          </a:xfrm>
          <a:prstGeom prst="rect">
            <a:avLst/>
          </a:prstGeom>
          <a:noFill/>
          <a:ln/>
        </p:spPr>
        <p:txBody>
          <a:bodyPr wrap="square" lIns="0" tIns="0" rIns="0" bIns="0" rtlCol="0" anchor="t"/>
          <a:lstStyle/>
          <a:p>
            <a:pPr indent="0" marL="0">
              <a:buNone/>
            </a:pPr>
            <a:r>
              <a:rPr lang="en-US" sz="1600" dirty="0">
                <a:solidFill>
                  <a:srgbClr val="0B1440"/>
                </a:solidFill>
                <a:latin typeface="Hanken Grotesk" pitchFamily="34" charset="0"/>
                <a:ea typeface="Hanken Grotesk" pitchFamily="34" charset="-122"/>
                <a:cs typeface="Hanken Grotesk" pitchFamily="34" charset="-120"/>
              </a:rPr>
              <a:t>Tell me about Dr. Sarah.</a:t>
            </a:r>
            <a:endParaRPr lang="en-US" sz="1600" dirty="0"/>
          </a:p>
        </p:txBody>
      </p:sp>
      <p:sp>
        <p:nvSpPr>
          <p:cNvPr id="22" name="Text 19"/>
          <p:cNvSpPr txBox="1"/>
          <p:nvPr/>
        </p:nvSpPr>
        <p:spPr>
          <a:xfrm>
            <a:off x="548640" y="5532120"/>
            <a:ext cx="8229600" cy="457200"/>
          </a:xfrm>
          <a:prstGeom prst="rect">
            <a:avLst/>
          </a:prstGeom>
          <a:noFill/>
          <a:ln/>
        </p:spPr>
        <p:txBody>
          <a:bodyPr wrap="square" lIns="0" tIns="0" rIns="0" bIns="0" rtlCol="0" anchor="t"/>
          <a:lstStyle/>
          <a:p>
            <a:pPr indent="0" marL="0">
              <a:buNone/>
            </a:pPr>
            <a:r>
              <a:rPr lang="en-US" sz="2200" dirty="0">
                <a:solidFill>
                  <a:srgbClr val="5B6088"/>
                </a:solidFill>
                <a:latin typeface="Poppins SemiBold" pitchFamily="34" charset="0"/>
                <a:ea typeface="Poppins SemiBold" pitchFamily="34" charset="-122"/>
                <a:cs typeface="Poppins SemiBold" pitchFamily="34" charset="-120"/>
              </a:rPr>
              <a:t>She see</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  She doesn’t…  She go</a:t>
            </a:r>
            <a:pPr indent="0" marL="0">
              <a:buNone/>
            </a:pPr>
            <a:r>
              <a:rPr lang="en-US" sz="2200" dirty="0">
                <a:solidFill>
                  <a:srgbClr val="F44904"/>
                </a:solidFill>
                <a:latin typeface="Poppins SemiBold" pitchFamily="34" charset="0"/>
                <a:ea typeface="Poppins SemiBold" pitchFamily="34" charset="-122"/>
                <a:cs typeface="Poppins SemiBold" pitchFamily="34" charset="-120"/>
              </a:rPr>
              <a:t>es</a:t>
            </a:r>
            <a:pPr indent="0" marL="0">
              <a:buNone/>
            </a:pPr>
            <a:r>
              <a:rPr lang="en-US" sz="2200" dirty="0">
                <a:solidFill>
                  <a:srgbClr val="5B6088"/>
                </a:solidFill>
                <a:latin typeface="Poppins SemiBold" pitchFamily="34" charset="0"/>
                <a:ea typeface="Poppins SemiBold" pitchFamily="34" charset="-122"/>
                <a:cs typeface="Poppins SemiBold" pitchFamily="34" charset="-120"/>
              </a:rPr>
              <a:t>…</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07 · SAY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12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He works.</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NOTICE</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LISTEN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REPEAT</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USE</a:t>
            </a:r>
            <a:endParaRPr lang="en-US" sz="1200" dirty="0"/>
          </a:p>
        </p:txBody>
      </p:sp>
      <p:sp>
        <p:nvSpPr>
          <p:cNvPr id="8" name="Shape 5"/>
          <p:cNvSpPr/>
          <p:nvPr/>
        </p:nvSpPr>
        <p:spPr>
          <a:xfrm>
            <a:off x="548640" y="2103120"/>
            <a:ext cx="3520440" cy="3017520"/>
          </a:xfrm>
          <a:prstGeom prst="roundRect">
            <a:avLst>
              <a:gd name="adj" fmla="val 4242"/>
            </a:avLst>
          </a:prstGeom>
          <a:solidFill>
            <a:srgbClr val="F3EFE6"/>
          </a:solidFill>
          <a:ln/>
        </p:spPr>
      </p:sp>
      <p:sp>
        <p:nvSpPr>
          <p:cNvPr id="9" name="Text 6"/>
          <p:cNvSpPr txBox="1"/>
          <p:nvPr/>
        </p:nvSpPr>
        <p:spPr>
          <a:xfrm>
            <a:off x="82296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work</a:t>
            </a:r>
            <a:endParaRPr lang="en-US" sz="2000" dirty="0"/>
          </a:p>
        </p:txBody>
      </p:sp>
      <p:sp>
        <p:nvSpPr>
          <p:cNvPr id="10" name="Text 7"/>
          <p:cNvSpPr txBox="1"/>
          <p:nvPr/>
        </p:nvSpPr>
        <p:spPr>
          <a:xfrm>
            <a:off x="82296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work</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1" name="Shape 8"/>
          <p:cNvSpPr/>
          <p:nvPr/>
        </p:nvSpPr>
        <p:spPr>
          <a:xfrm>
            <a:off x="822960" y="3566160"/>
            <a:ext cx="685800" cy="384048"/>
          </a:xfrm>
          <a:prstGeom prst="roundRect">
            <a:avLst>
              <a:gd name="adj" fmla="val 50000"/>
            </a:avLst>
          </a:prstGeom>
          <a:solidFill>
            <a:srgbClr val="0B1440"/>
          </a:solidFill>
          <a:ln/>
        </p:spPr>
      </p:sp>
      <p:sp>
        <p:nvSpPr>
          <p:cNvPr id="12" name="Text 9"/>
          <p:cNvSpPr txBox="1"/>
          <p:nvPr/>
        </p:nvSpPr>
        <p:spPr>
          <a:xfrm>
            <a:off x="82296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/s/</a:t>
            </a:r>
            <a:endParaRPr lang="en-US" sz="1200" dirty="0"/>
          </a:p>
        </p:txBody>
      </p:sp>
      <p:sp>
        <p:nvSpPr>
          <p:cNvPr id="13" name="Text 10"/>
          <p:cNvSpPr txBox="1"/>
          <p:nvPr/>
        </p:nvSpPr>
        <p:spPr>
          <a:xfrm>
            <a:off x="82296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works at night.</a:t>
            </a:r>
            <a:endParaRPr lang="en-US" sz="1800" dirty="0"/>
          </a:p>
        </p:txBody>
      </p:sp>
      <p:sp>
        <p:nvSpPr>
          <p:cNvPr id="14" name="Shape 11"/>
          <p:cNvSpPr/>
          <p:nvPr/>
        </p:nvSpPr>
        <p:spPr>
          <a:xfrm>
            <a:off x="4297680" y="2103120"/>
            <a:ext cx="3520440" cy="3017520"/>
          </a:xfrm>
          <a:prstGeom prst="roundRect">
            <a:avLst>
              <a:gd name="adj" fmla="val 4242"/>
            </a:avLst>
          </a:prstGeom>
          <a:solidFill>
            <a:srgbClr val="F3EFE6"/>
          </a:solidFill>
          <a:ln/>
        </p:spPr>
      </p:sp>
      <p:sp>
        <p:nvSpPr>
          <p:cNvPr id="15" name="Text 12"/>
          <p:cNvSpPr txBox="1"/>
          <p:nvPr/>
        </p:nvSpPr>
        <p:spPr>
          <a:xfrm>
            <a:off x="457200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live</a:t>
            </a:r>
            <a:endParaRPr lang="en-US" sz="2000" dirty="0"/>
          </a:p>
        </p:txBody>
      </p:sp>
      <p:sp>
        <p:nvSpPr>
          <p:cNvPr id="16" name="Text 13"/>
          <p:cNvSpPr txBox="1"/>
          <p:nvPr/>
        </p:nvSpPr>
        <p:spPr>
          <a:xfrm>
            <a:off x="457200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live</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s</a:t>
            </a:r>
            <a:endParaRPr lang="en-US" sz="4000" dirty="0"/>
          </a:p>
        </p:txBody>
      </p:sp>
      <p:sp>
        <p:nvSpPr>
          <p:cNvPr id="17" name="Shape 14"/>
          <p:cNvSpPr/>
          <p:nvPr/>
        </p:nvSpPr>
        <p:spPr>
          <a:xfrm>
            <a:off x="4572000" y="3566160"/>
            <a:ext cx="685800" cy="384048"/>
          </a:xfrm>
          <a:prstGeom prst="roundRect">
            <a:avLst>
              <a:gd name="adj" fmla="val 50000"/>
            </a:avLst>
          </a:prstGeom>
          <a:solidFill>
            <a:srgbClr val="0B1440"/>
          </a:solidFill>
          <a:ln/>
        </p:spPr>
      </p:sp>
      <p:sp>
        <p:nvSpPr>
          <p:cNvPr id="18" name="Text 15"/>
          <p:cNvSpPr txBox="1"/>
          <p:nvPr/>
        </p:nvSpPr>
        <p:spPr>
          <a:xfrm>
            <a:off x="457200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/z/</a:t>
            </a:r>
            <a:endParaRPr lang="en-US" sz="1200" dirty="0"/>
          </a:p>
        </p:txBody>
      </p:sp>
      <p:sp>
        <p:nvSpPr>
          <p:cNvPr id="19" name="Text 16"/>
          <p:cNvSpPr txBox="1"/>
          <p:nvPr/>
        </p:nvSpPr>
        <p:spPr>
          <a:xfrm>
            <a:off x="457200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She lives in Brazil.</a:t>
            </a:r>
            <a:endParaRPr lang="en-US" sz="1800" dirty="0"/>
          </a:p>
        </p:txBody>
      </p:sp>
      <p:sp>
        <p:nvSpPr>
          <p:cNvPr id="20" name="Shape 17"/>
          <p:cNvSpPr/>
          <p:nvPr/>
        </p:nvSpPr>
        <p:spPr>
          <a:xfrm>
            <a:off x="8046720" y="2103120"/>
            <a:ext cx="3520440" cy="3017520"/>
          </a:xfrm>
          <a:prstGeom prst="roundRect">
            <a:avLst>
              <a:gd name="adj" fmla="val 4242"/>
            </a:avLst>
          </a:prstGeom>
          <a:solidFill>
            <a:srgbClr val="F3EFE6"/>
          </a:solidFill>
          <a:ln/>
        </p:spPr>
      </p:sp>
      <p:sp>
        <p:nvSpPr>
          <p:cNvPr id="21" name="Text 18"/>
          <p:cNvSpPr txBox="1"/>
          <p:nvPr/>
        </p:nvSpPr>
        <p:spPr>
          <a:xfrm>
            <a:off x="8321040" y="2331720"/>
            <a:ext cx="30175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watch</a:t>
            </a:r>
            <a:endParaRPr lang="en-US" sz="2000" dirty="0"/>
          </a:p>
        </p:txBody>
      </p:sp>
      <p:sp>
        <p:nvSpPr>
          <p:cNvPr id="22" name="Text 19"/>
          <p:cNvSpPr txBox="1"/>
          <p:nvPr/>
        </p:nvSpPr>
        <p:spPr>
          <a:xfrm>
            <a:off x="8321040" y="2697480"/>
            <a:ext cx="3017520" cy="731520"/>
          </a:xfrm>
          <a:prstGeom prst="rect">
            <a:avLst/>
          </a:prstGeom>
          <a:noFill/>
          <a:ln/>
        </p:spPr>
        <p:txBody>
          <a:bodyPr wrap="square" lIns="0" tIns="0" rIns="0" bIns="0" rtlCol="0" anchor="t"/>
          <a:lstStyle/>
          <a:p>
            <a:pPr indent="0" marL="0">
              <a:buNone/>
            </a:pPr>
            <a:r>
              <a:rPr lang="en-US" sz="4000" dirty="0">
                <a:solidFill>
                  <a:srgbClr val="0B1440"/>
                </a:solidFill>
                <a:latin typeface="Poppins ExtraBold" pitchFamily="34" charset="0"/>
                <a:ea typeface="Poppins ExtraBold" pitchFamily="34" charset="-122"/>
                <a:cs typeface="Poppins ExtraBold" pitchFamily="34" charset="-120"/>
              </a:rPr>
              <a:t>watch</a:t>
            </a:r>
            <a:pPr indent="0" marL="0">
              <a:buNone/>
            </a:pPr>
            <a:r>
              <a:rPr lang="en-US" sz="4000" dirty="0">
                <a:solidFill>
                  <a:srgbClr val="F44904"/>
                </a:solidFill>
                <a:latin typeface="Poppins ExtraBold" pitchFamily="34" charset="0"/>
                <a:ea typeface="Poppins ExtraBold" pitchFamily="34" charset="-122"/>
                <a:cs typeface="Poppins ExtraBold" pitchFamily="34" charset="-120"/>
              </a:rPr>
              <a:t>es</a:t>
            </a:r>
            <a:endParaRPr lang="en-US" sz="4000" dirty="0"/>
          </a:p>
        </p:txBody>
      </p:sp>
      <p:sp>
        <p:nvSpPr>
          <p:cNvPr id="23" name="Shape 20"/>
          <p:cNvSpPr/>
          <p:nvPr/>
        </p:nvSpPr>
        <p:spPr>
          <a:xfrm>
            <a:off x="8321040" y="3566160"/>
            <a:ext cx="685800" cy="384048"/>
          </a:xfrm>
          <a:prstGeom prst="roundRect">
            <a:avLst>
              <a:gd name="adj" fmla="val 50000"/>
            </a:avLst>
          </a:prstGeom>
          <a:solidFill>
            <a:srgbClr val="0B1440"/>
          </a:solidFill>
          <a:ln/>
        </p:spPr>
      </p:sp>
      <p:sp>
        <p:nvSpPr>
          <p:cNvPr id="24" name="Text 21"/>
          <p:cNvSpPr txBox="1"/>
          <p:nvPr/>
        </p:nvSpPr>
        <p:spPr>
          <a:xfrm>
            <a:off x="8321040" y="3566160"/>
            <a:ext cx="685800" cy="384048"/>
          </a:xfrm>
          <a:prstGeom prst="rect">
            <a:avLst/>
          </a:prstGeom>
          <a:noFill/>
          <a:ln/>
        </p:spPr>
        <p:txBody>
          <a:bodyPr wrap="square" lIns="0" tIns="0" rIns="0" bIns="0" rtlCol="0" anchor="ctr"/>
          <a:lstStyle/>
          <a:p>
            <a:pPr algn="ctr" indent="0" marL="0">
              <a:buNone/>
            </a:pPr>
            <a:r>
              <a:rPr lang="en-US" sz="1200" dirty="0">
                <a:solidFill>
                  <a:srgbClr val="FAF7F2"/>
                </a:solidFill>
                <a:latin typeface="JetBrains Mono Medium" pitchFamily="34" charset="0"/>
                <a:ea typeface="JetBrains Mono Medium" pitchFamily="34" charset="-122"/>
                <a:cs typeface="JetBrains Mono Medium" pitchFamily="34" charset="-120"/>
              </a:rPr>
              <a:t>/iz/</a:t>
            </a:r>
            <a:endParaRPr lang="en-US" sz="1200" dirty="0"/>
          </a:p>
        </p:txBody>
      </p:sp>
      <p:sp>
        <p:nvSpPr>
          <p:cNvPr id="25" name="Text 22"/>
          <p:cNvSpPr txBox="1"/>
          <p:nvPr/>
        </p:nvSpPr>
        <p:spPr>
          <a:xfrm>
            <a:off x="8321040" y="4160520"/>
            <a:ext cx="3017520" cy="731520"/>
          </a:xfrm>
          <a:prstGeom prst="rect">
            <a:avLst/>
          </a:prstGeom>
          <a:noFill/>
          <a:ln/>
        </p:spPr>
        <p:txBody>
          <a:bodyPr wrap="square" lIns="0" tIns="0" rIns="0" bIns="0" rtlCol="0" anchor="t"/>
          <a:lstStyle/>
          <a:p>
            <a:pPr indent="0" marL="0">
              <a:buNone/>
            </a:pPr>
            <a:r>
              <a:rPr lang="en-US" sz="1800" dirty="0">
                <a:solidFill>
                  <a:srgbClr val="0B1440"/>
                </a:solidFill>
                <a:latin typeface="Poppins SemiBold" pitchFamily="34" charset="0"/>
                <a:ea typeface="Poppins SemiBold" pitchFamily="34" charset="-122"/>
                <a:cs typeface="Poppins SemiBold" pitchFamily="34" charset="-120"/>
              </a:rPr>
              <a:t>He watches TV after work.</a:t>
            </a:r>
            <a:endParaRPr lang="en-US" sz="1800" dirty="0"/>
          </a:p>
        </p:txBody>
      </p:sp>
      <p:sp>
        <p:nvSpPr>
          <p:cNvPr id="26" name="Text 23"/>
          <p:cNvSpPr txBox="1"/>
          <p:nvPr/>
        </p:nvSpPr>
        <p:spPr>
          <a:xfrm>
            <a:off x="548640" y="5486400"/>
            <a:ext cx="9144000" cy="457200"/>
          </a:xfrm>
          <a:prstGeom prst="rect">
            <a:avLst/>
          </a:prstGeom>
          <a:noFill/>
          <a:ln/>
        </p:spPr>
        <p:txBody>
          <a:bodyPr wrap="square" lIns="0" tIns="0" rIns="0" bIns="0" rtlCol="0" anchor="t"/>
          <a:lstStyle/>
          <a:p>
            <a:pPr indent="0" marL="0">
              <a:buNone/>
            </a:pPr>
            <a:r>
              <a:rPr lang="en-US" sz="1200" dirty="0">
                <a:solidFill>
                  <a:srgbClr val="F44904"/>
                </a:solidFill>
                <a:latin typeface="JetBrains Mono Medium" pitchFamily="34" charset="0"/>
                <a:ea typeface="JetBrains Mono Medium" pitchFamily="34" charset="-122"/>
                <a:cs typeface="JetBrains Mono Medium" pitchFamily="34" charset="-120"/>
              </a:rPr>
              <a:t>USE  </a:t>
            </a:r>
            <a:pPr indent="0" marL="0">
              <a:buNone/>
            </a:pPr>
            <a:r>
              <a:rPr lang="en-US" sz="2200" dirty="0">
                <a:solidFill>
                  <a:srgbClr val="0B1440"/>
                </a:solidFill>
                <a:latin typeface="Poppins SemiBold" pitchFamily="34" charset="0"/>
                <a:ea typeface="Poppins SemiBold" pitchFamily="34" charset="-122"/>
                <a:cs typeface="Poppins SemiBold" pitchFamily="34" charset="-120"/>
              </a:rPr>
              <a:t>Tell me about a colleague.</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13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Doctor vs. Doctor</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Shape 5"/>
          <p:cNvSpPr/>
          <p:nvPr/>
        </p:nvSpPr>
        <p:spPr>
          <a:xfrm>
            <a:off x="548640" y="2240280"/>
            <a:ext cx="1188720" cy="1188720"/>
          </a:xfrm>
          <a:prstGeom prst="roundRect">
            <a:avLst>
              <a:gd name="adj" fmla="val 10769"/>
            </a:avLst>
          </a:prstGeom>
          <a:solidFill>
            <a:srgbClr val="F3EFE6"/>
          </a:solidFill>
          <a:ln w="19050">
            <a:solidFill>
              <a:srgbClr val="0B1440"/>
            </a:solidFill>
            <a:prstDash val="solid"/>
          </a:ln>
        </p:spPr>
      </p:sp>
      <p:sp>
        <p:nvSpPr>
          <p:cNvPr id="9" name="Text 6"/>
          <p:cNvSpPr txBox="1"/>
          <p:nvPr/>
        </p:nvSpPr>
        <p:spPr>
          <a:xfrm>
            <a:off x="548640" y="2240280"/>
            <a:ext cx="1188720" cy="1188720"/>
          </a:xfrm>
          <a:prstGeom prst="rect">
            <a:avLst/>
          </a:prstGeom>
          <a:noFill/>
          <a:ln/>
        </p:spPr>
        <p:txBody>
          <a:bodyPr wrap="square" lIns="0" tIns="0" rIns="0" bIns="0" rtlCol="0" anchor="ctr"/>
          <a:lstStyle/>
          <a:p>
            <a:pPr algn="ctr" indent="0" marL="0">
              <a:buNone/>
            </a:pPr>
            <a:r>
              <a:rPr lang="en-US" sz="5200" dirty="0">
                <a:solidFill>
                  <a:srgbClr val="0B1440"/>
                </a:solidFill>
                <a:latin typeface="Poppins ExtraBold" pitchFamily="34" charset="0"/>
                <a:ea typeface="Poppins ExtraBold" pitchFamily="34" charset="-122"/>
                <a:cs typeface="Poppins ExtraBold" pitchFamily="34" charset="-120"/>
              </a:rPr>
              <a:t>B</a:t>
            </a:r>
            <a:endParaRPr lang="en-US" sz="5200" dirty="0"/>
          </a:p>
        </p:txBody>
      </p:sp>
      <p:sp>
        <p:nvSpPr>
          <p:cNvPr id="10" name="Text 7"/>
          <p:cNvSpPr txBox="1"/>
          <p:nvPr/>
        </p:nvSpPr>
        <p:spPr>
          <a:xfrm>
            <a:off x="1965960" y="2382926"/>
            <a:ext cx="3657600" cy="502920"/>
          </a:xfrm>
          <a:prstGeom prst="rect">
            <a:avLst/>
          </a:prstGeom>
          <a:noFill/>
          <a:ln/>
        </p:spPr>
        <p:txBody>
          <a:bodyPr wrap="square" lIns="0" tIns="0" rIns="0" bIns="0" rtlCol="0" anchor="t"/>
          <a:lstStyle/>
          <a:p>
            <a:pPr indent="0" marL="0">
              <a:buNone/>
            </a:pPr>
            <a:r>
              <a:rPr lang="en-US" sz="2600" b="1" dirty="0">
                <a:solidFill>
                  <a:srgbClr val="0B1440"/>
                </a:solidFill>
                <a:latin typeface="Poppins" pitchFamily="34" charset="0"/>
                <a:ea typeface="Poppins" pitchFamily="34" charset="-122"/>
                <a:cs typeface="Poppins" pitchFamily="34" charset="-120"/>
              </a:rPr>
              <a:t>Dr. Ben</a:t>
            </a:r>
            <a:endParaRPr lang="en-US" sz="2600" dirty="0"/>
          </a:p>
        </p:txBody>
      </p:sp>
      <p:sp>
        <p:nvSpPr>
          <p:cNvPr id="11" name="Text 8"/>
          <p:cNvSpPr txBox="1"/>
          <p:nvPr/>
        </p:nvSpPr>
        <p:spPr>
          <a:xfrm>
            <a:off x="1965960" y="2882189"/>
            <a:ext cx="3657600" cy="274320"/>
          </a:xfrm>
          <a:prstGeom prst="rect">
            <a:avLst/>
          </a:prstGeom>
          <a:noFill/>
          <a:ln/>
        </p:spPr>
        <p:txBody>
          <a:bodyPr wrap="square" lIns="0" tIns="0" rIns="0" bIns="0" rtlCol="0" anchor="t"/>
          <a:lstStyle/>
          <a:p>
            <a:pP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DR. SARAH’S COLLEAGUE</a:t>
            </a:r>
            <a:endParaRPr lang="en-US" sz="1000" dirty="0"/>
          </a:p>
        </p:txBody>
      </p:sp>
      <p:sp>
        <p:nvSpPr>
          <p:cNvPr id="12" name="Text 9"/>
          <p:cNvSpPr txBox="1"/>
          <p:nvPr/>
        </p:nvSpPr>
        <p:spPr>
          <a:xfrm>
            <a:off x="548640" y="3749040"/>
            <a:ext cx="438912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Ask me about Dr. Ben.</a:t>
            </a:r>
            <a:endParaRPr lang="en-US" sz="2400" dirty="0"/>
          </a:p>
        </p:txBody>
      </p:sp>
      <p:sp>
        <p:nvSpPr>
          <p:cNvPr id="13" name="Text 10"/>
          <p:cNvSpPr txBox="1"/>
          <p:nvPr/>
        </p:nvSpPr>
        <p:spPr>
          <a:xfrm>
            <a:off x="548640" y="4206240"/>
            <a:ext cx="4389120" cy="411480"/>
          </a:xfrm>
          <a:prstGeom prst="rect">
            <a:avLst/>
          </a:prstGeom>
          <a:noFill/>
          <a:ln/>
        </p:spPr>
        <p:txBody>
          <a:bodyPr wrap="square" lIns="0" tIns="0" rIns="0" bIns="0" rtlCol="0" anchor="t"/>
          <a:lstStyle/>
          <a:p>
            <a:pPr indent="0" marL="0">
              <a:buNone/>
            </a:pPr>
            <a:r>
              <a:rPr lang="en-US" sz="2000" dirty="0">
                <a:solidFill>
                  <a:srgbClr val="5B6088"/>
                </a:solidFill>
                <a:latin typeface="Hanken Grotesk" pitchFamily="34" charset="0"/>
                <a:ea typeface="Hanken Grotesk" pitchFamily="34" charset="-122"/>
                <a:cs typeface="Hanken Grotesk" pitchFamily="34" charset="-120"/>
              </a:rPr>
              <a:t>He works with Dr. Sarah.</a:t>
            </a:r>
            <a:endParaRPr lang="en-US" sz="2000" dirty="0"/>
          </a:p>
        </p:txBody>
      </p:sp>
      <p:sp>
        <p:nvSpPr>
          <p:cNvPr id="14" name="Shape 11"/>
          <p:cNvSpPr/>
          <p:nvPr/>
        </p:nvSpPr>
        <p:spPr>
          <a:xfrm>
            <a:off x="5577840" y="2240280"/>
            <a:ext cx="6062472" cy="493776"/>
          </a:xfrm>
          <a:prstGeom prst="roundRect">
            <a:avLst>
              <a:gd name="adj" fmla="val 25926"/>
            </a:avLst>
          </a:prstGeom>
          <a:solidFill>
            <a:srgbClr val="F3EFE6"/>
          </a:solidFill>
          <a:ln/>
        </p:spPr>
      </p:sp>
      <p:sp>
        <p:nvSpPr>
          <p:cNvPr id="15" name="Text 12"/>
          <p:cNvSpPr txBox="1"/>
          <p:nvPr/>
        </p:nvSpPr>
        <p:spPr>
          <a:xfrm>
            <a:off x="5852160" y="224028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does he work?</a:t>
            </a:r>
            <a:endParaRPr lang="en-US" sz="1900" dirty="0"/>
          </a:p>
        </p:txBody>
      </p:sp>
      <p:sp>
        <p:nvSpPr>
          <p:cNvPr id="16" name="Shape 13"/>
          <p:cNvSpPr/>
          <p:nvPr/>
        </p:nvSpPr>
        <p:spPr>
          <a:xfrm>
            <a:off x="5577840" y="2843784"/>
            <a:ext cx="6062472" cy="493776"/>
          </a:xfrm>
          <a:prstGeom prst="roundRect">
            <a:avLst>
              <a:gd name="adj" fmla="val 25926"/>
            </a:avLst>
          </a:prstGeom>
          <a:solidFill>
            <a:srgbClr val="F3EFE6"/>
          </a:solidFill>
          <a:ln/>
        </p:spPr>
      </p:sp>
      <p:sp>
        <p:nvSpPr>
          <p:cNvPr id="17" name="Text 14"/>
          <p:cNvSpPr txBox="1"/>
          <p:nvPr/>
        </p:nvSpPr>
        <p:spPr>
          <a:xfrm>
            <a:off x="5852160" y="2843784"/>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start?</a:t>
            </a:r>
            <a:endParaRPr lang="en-US" sz="1900" dirty="0"/>
          </a:p>
        </p:txBody>
      </p:sp>
      <p:sp>
        <p:nvSpPr>
          <p:cNvPr id="18" name="Shape 15"/>
          <p:cNvSpPr/>
          <p:nvPr/>
        </p:nvSpPr>
        <p:spPr>
          <a:xfrm>
            <a:off x="5577840" y="3447288"/>
            <a:ext cx="6062472" cy="493776"/>
          </a:xfrm>
          <a:prstGeom prst="roundRect">
            <a:avLst>
              <a:gd name="adj" fmla="val 25926"/>
            </a:avLst>
          </a:prstGeom>
          <a:solidFill>
            <a:srgbClr val="F3EFE6"/>
          </a:solidFill>
          <a:ln/>
        </p:spPr>
      </p:sp>
      <p:sp>
        <p:nvSpPr>
          <p:cNvPr id="19" name="Text 16"/>
          <p:cNvSpPr txBox="1"/>
          <p:nvPr/>
        </p:nvSpPr>
        <p:spPr>
          <a:xfrm>
            <a:off x="5852160" y="3447288"/>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at night?</a:t>
            </a:r>
            <a:endParaRPr lang="en-US" sz="1900" dirty="0"/>
          </a:p>
        </p:txBody>
      </p:sp>
      <p:sp>
        <p:nvSpPr>
          <p:cNvPr id="20" name="Shape 17"/>
          <p:cNvSpPr/>
          <p:nvPr/>
        </p:nvSpPr>
        <p:spPr>
          <a:xfrm>
            <a:off x="5577840" y="4050792"/>
            <a:ext cx="6062472" cy="493776"/>
          </a:xfrm>
          <a:prstGeom prst="roundRect">
            <a:avLst>
              <a:gd name="adj" fmla="val 25926"/>
            </a:avLst>
          </a:prstGeom>
          <a:solidFill>
            <a:srgbClr val="F3EFE6"/>
          </a:solidFill>
          <a:ln/>
        </p:spPr>
      </p:sp>
      <p:sp>
        <p:nvSpPr>
          <p:cNvPr id="21" name="Text 18"/>
          <p:cNvSpPr txBox="1"/>
          <p:nvPr/>
        </p:nvSpPr>
        <p:spPr>
          <a:xfrm>
            <a:off x="5852160" y="4050792"/>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does he see?</a:t>
            </a:r>
            <a:endParaRPr lang="en-US" sz="1900" dirty="0"/>
          </a:p>
        </p:txBody>
      </p:sp>
      <p:sp>
        <p:nvSpPr>
          <p:cNvPr id="22" name="Shape 19"/>
          <p:cNvSpPr/>
          <p:nvPr/>
        </p:nvSpPr>
        <p:spPr>
          <a:xfrm>
            <a:off x="5577840" y="4654296"/>
            <a:ext cx="6062472" cy="493776"/>
          </a:xfrm>
          <a:prstGeom prst="roundRect">
            <a:avLst>
              <a:gd name="adj" fmla="val 25926"/>
            </a:avLst>
          </a:prstGeom>
          <a:solidFill>
            <a:srgbClr val="F3EFE6"/>
          </a:solidFill>
          <a:ln/>
        </p:spPr>
      </p:sp>
      <p:sp>
        <p:nvSpPr>
          <p:cNvPr id="23" name="Text 20"/>
          <p:cNvSpPr txBox="1"/>
          <p:nvPr/>
        </p:nvSpPr>
        <p:spPr>
          <a:xfrm>
            <a:off x="5852160" y="4654296"/>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Does he work on weekends?</a:t>
            </a:r>
            <a:endParaRPr lang="en-US" sz="1900" dirty="0"/>
          </a:p>
        </p:txBody>
      </p:sp>
      <p:sp>
        <p:nvSpPr>
          <p:cNvPr id="24" name="Shape 21"/>
          <p:cNvSpPr/>
          <p:nvPr/>
        </p:nvSpPr>
        <p:spPr>
          <a:xfrm>
            <a:off x="5577840" y="5257800"/>
            <a:ext cx="6062472" cy="493776"/>
          </a:xfrm>
          <a:prstGeom prst="roundRect">
            <a:avLst>
              <a:gd name="adj" fmla="val 25926"/>
            </a:avLst>
          </a:prstGeom>
          <a:solidFill>
            <a:srgbClr val="F3EFE6"/>
          </a:solidFill>
          <a:ln/>
        </p:spPr>
      </p:sp>
      <p:sp>
        <p:nvSpPr>
          <p:cNvPr id="25" name="Text 22"/>
          <p:cNvSpPr txBox="1"/>
          <p:nvPr/>
        </p:nvSpPr>
        <p:spPr>
          <a:xfrm>
            <a:off x="5852160" y="5257800"/>
            <a:ext cx="5669280" cy="493776"/>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does he finish?</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08 · DOCTOR VS. DOCTOR</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14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Your turn.</a:t>
            </a:r>
            <a:endParaRPr lang="en-US" sz="4000" dirty="0"/>
          </a:p>
        </p:txBody>
      </p:sp>
      <p:sp>
        <p:nvSpPr>
          <p:cNvPr id="7" name="Text 4"/>
          <p:cNvSpPr txBox="1"/>
          <p:nvPr/>
        </p:nvSpPr>
        <p:spPr>
          <a:xfrm>
            <a:off x="548640" y="1554480"/>
            <a:ext cx="10058400" cy="320040"/>
          </a:xfrm>
          <a:prstGeom prst="rect">
            <a:avLst/>
          </a:prstGeom>
          <a:noFill/>
          <a:ln/>
        </p:spPr>
        <p:txBody>
          <a:bodyPr wrap="square" lIns="0" tIns="0" rIns="0" bIns="0" rtlCol="0" anchor="t"/>
          <a:lstStyle/>
          <a:p>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1 · DR. BEN</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F44904"/>
                </a:solidFill>
                <a:latin typeface="JetBrains Mono Medium" pitchFamily="34" charset="0"/>
                <a:ea typeface="JetBrains Mono Medium" pitchFamily="34" charset="-122"/>
                <a:cs typeface="JetBrains Mono Medium" pitchFamily="34" charset="-120"/>
              </a:rPr>
              <a:t>ROUND 2 · YOU</a:t>
            </a:r>
            <a:pPr indent="0" marL="0">
              <a:buNone/>
            </a:pPr>
            <a:r>
              <a:rPr lang="en-US" sz="1200" spc="150" kern="0" dirty="0">
                <a:solidFill>
                  <a:srgbClr val="DDD6C7"/>
                </a:solidFill>
                <a:latin typeface="JetBrains Mono Medium" pitchFamily="34" charset="0"/>
                <a:ea typeface="JetBrains Mono Medium" pitchFamily="34" charset="-122"/>
                <a:cs typeface="JetBrains Mono Medium" pitchFamily="34" charset="-120"/>
              </a:rPr>
              <a:t>  →  </a:t>
            </a:r>
            <a:pPr indent="0" marL="0">
              <a:buNone/>
            </a:pPr>
            <a:r>
              <a:rPr lang="en-US" sz="1200" spc="150" kern="0" dirty="0">
                <a:solidFill>
                  <a:srgbClr val="5B6088"/>
                </a:solidFill>
                <a:latin typeface="JetBrains Mono Medium" pitchFamily="34" charset="0"/>
                <a:ea typeface="JetBrains Mono Medium" pitchFamily="34" charset="-122"/>
                <a:cs typeface="JetBrains Mono Medium" pitchFamily="34" charset="-120"/>
              </a:rPr>
              <a:t>ROUND 3 · NO HELP</a:t>
            </a:r>
            <a:endParaRPr lang="en-US" sz="1200" dirty="0"/>
          </a:p>
        </p:txBody>
      </p:sp>
      <p:sp>
        <p:nvSpPr>
          <p:cNvPr id="8" name="Text 5"/>
          <p:cNvSpPr txBox="1"/>
          <p:nvPr/>
        </p:nvSpPr>
        <p:spPr>
          <a:xfrm>
            <a:off x="548640" y="2103120"/>
            <a:ext cx="4114800" cy="457200"/>
          </a:xfrm>
          <a:prstGeom prst="rect">
            <a:avLst/>
          </a:prstGeom>
          <a:noFill/>
          <a:ln/>
        </p:spPr>
        <p:txBody>
          <a:bodyPr wrap="square" lIns="0" tIns="0" rIns="0" bIns="0" rtlCol="0" anchor="t"/>
          <a:lstStyle/>
          <a:p>
            <a:pPr indent="0" marL="0">
              <a:buNone/>
            </a:pPr>
            <a:r>
              <a:rPr lang="en-US" sz="2400" dirty="0">
                <a:solidFill>
                  <a:srgbClr val="0B1440"/>
                </a:solidFill>
                <a:latin typeface="Poppins SemiBold" pitchFamily="34" charset="0"/>
                <a:ea typeface="Poppins SemiBold" pitchFamily="34" charset="-122"/>
                <a:cs typeface="Poppins SemiBold" pitchFamily="34" charset="-120"/>
              </a:rPr>
              <a:t>I ask. You answer.</a:t>
            </a:r>
            <a:endParaRPr lang="en-US" sz="2400" dirty="0"/>
          </a:p>
        </p:txBody>
      </p:sp>
      <p:sp>
        <p:nvSpPr>
          <p:cNvPr id="9" name="Text 6"/>
          <p:cNvSpPr txBox="1"/>
          <p:nvPr/>
        </p:nvSpPr>
        <p:spPr>
          <a:xfrm>
            <a:off x="548640" y="2697480"/>
            <a:ext cx="4389120" cy="1371600"/>
          </a:xfrm>
          <a:prstGeom prst="rect">
            <a:avLst/>
          </a:prstGeom>
          <a:noFill/>
          <a:ln/>
        </p:spPr>
        <p:txBody>
          <a:bodyPr wrap="square" lIns="0" tIns="0" rIns="0" bIns="0" rtlCol="0" anchor="t"/>
          <a:lstStyle/>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start work at…</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see about… patients.</a:t>
            </a:r>
            <a:endParaRPr lang="en-US" sz="1900" dirty="0"/>
          </a:p>
          <a:p>
            <a:pPr indent="0" marL="0">
              <a:lnSpc>
                <a:spcPct val="120000"/>
              </a:lnSpc>
              <a:buNone/>
            </a:pPr>
            <a:r>
              <a:rPr lang="en-US" sz="1900" dirty="0">
                <a:solidFill>
                  <a:srgbClr val="5B6088"/>
                </a:solidFill>
                <a:latin typeface="Hanken Grotesk" pitchFamily="34" charset="0"/>
                <a:ea typeface="Hanken Grotesk" pitchFamily="34" charset="-122"/>
                <a:cs typeface="Hanken Grotesk" pitchFamily="34" charset="-120"/>
              </a:rPr>
              <a:t>I don’t work on…</a:t>
            </a:r>
            <a:endParaRPr lang="en-US" sz="1900" dirty="0"/>
          </a:p>
        </p:txBody>
      </p:sp>
      <p:sp>
        <p:nvSpPr>
          <p:cNvPr id="10" name="Shape 7"/>
          <p:cNvSpPr/>
          <p:nvPr/>
        </p:nvSpPr>
        <p:spPr>
          <a:xfrm>
            <a:off x="5577840" y="2103120"/>
            <a:ext cx="6062472" cy="512064"/>
          </a:xfrm>
          <a:prstGeom prst="roundRect">
            <a:avLst>
              <a:gd name="adj" fmla="val 25000"/>
            </a:avLst>
          </a:prstGeom>
          <a:solidFill>
            <a:srgbClr val="F3EFE6"/>
          </a:solidFill>
          <a:ln/>
        </p:spPr>
      </p:sp>
      <p:sp>
        <p:nvSpPr>
          <p:cNvPr id="11" name="Text 8"/>
          <p:cNvSpPr txBox="1"/>
          <p:nvPr/>
        </p:nvSpPr>
        <p:spPr>
          <a:xfrm>
            <a:off x="5806440" y="21031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01</a:t>
            </a:r>
            <a:endParaRPr lang="en-US" sz="1000" dirty="0"/>
          </a:p>
        </p:txBody>
      </p:sp>
      <p:sp>
        <p:nvSpPr>
          <p:cNvPr id="12" name="Text 9"/>
          <p:cNvSpPr txBox="1"/>
          <p:nvPr/>
        </p:nvSpPr>
        <p:spPr>
          <a:xfrm>
            <a:off x="6309360" y="21031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time do you start work?</a:t>
            </a:r>
            <a:endParaRPr lang="en-US" sz="1900" dirty="0"/>
          </a:p>
        </p:txBody>
      </p:sp>
      <p:sp>
        <p:nvSpPr>
          <p:cNvPr id="13" name="Shape 10"/>
          <p:cNvSpPr/>
          <p:nvPr/>
        </p:nvSpPr>
        <p:spPr>
          <a:xfrm>
            <a:off x="5577840" y="2743200"/>
            <a:ext cx="6062472" cy="512064"/>
          </a:xfrm>
          <a:prstGeom prst="roundRect">
            <a:avLst>
              <a:gd name="adj" fmla="val 25000"/>
            </a:avLst>
          </a:prstGeom>
          <a:solidFill>
            <a:srgbClr val="F3EFE6"/>
          </a:solidFill>
          <a:ln/>
        </p:spPr>
      </p:sp>
      <p:sp>
        <p:nvSpPr>
          <p:cNvPr id="14" name="Text 11"/>
          <p:cNvSpPr txBox="1"/>
          <p:nvPr/>
        </p:nvSpPr>
        <p:spPr>
          <a:xfrm>
            <a:off x="5806440" y="274320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02</a:t>
            </a:r>
            <a:endParaRPr lang="en-US" sz="1000" dirty="0"/>
          </a:p>
        </p:txBody>
      </p:sp>
      <p:sp>
        <p:nvSpPr>
          <p:cNvPr id="15" name="Text 12"/>
          <p:cNvSpPr txBox="1"/>
          <p:nvPr/>
        </p:nvSpPr>
        <p:spPr>
          <a:xfrm>
            <a:off x="6309360" y="274320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Where do you work?</a:t>
            </a:r>
            <a:endParaRPr lang="en-US" sz="1900" dirty="0"/>
          </a:p>
        </p:txBody>
      </p:sp>
      <p:sp>
        <p:nvSpPr>
          <p:cNvPr id="16" name="Shape 13"/>
          <p:cNvSpPr/>
          <p:nvPr/>
        </p:nvSpPr>
        <p:spPr>
          <a:xfrm>
            <a:off x="5577840" y="3383280"/>
            <a:ext cx="6062472" cy="512064"/>
          </a:xfrm>
          <a:prstGeom prst="roundRect">
            <a:avLst>
              <a:gd name="adj" fmla="val 25000"/>
            </a:avLst>
          </a:prstGeom>
          <a:solidFill>
            <a:srgbClr val="F3EFE6"/>
          </a:solidFill>
          <a:ln/>
        </p:spPr>
      </p:sp>
      <p:sp>
        <p:nvSpPr>
          <p:cNvPr id="17" name="Text 14"/>
          <p:cNvSpPr txBox="1"/>
          <p:nvPr/>
        </p:nvSpPr>
        <p:spPr>
          <a:xfrm>
            <a:off x="5806440" y="338328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03</a:t>
            </a:r>
            <a:endParaRPr lang="en-US" sz="1000" dirty="0"/>
          </a:p>
        </p:txBody>
      </p:sp>
      <p:sp>
        <p:nvSpPr>
          <p:cNvPr id="18" name="Text 15"/>
          <p:cNvSpPr txBox="1"/>
          <p:nvPr/>
        </p:nvSpPr>
        <p:spPr>
          <a:xfrm>
            <a:off x="6309360" y="338328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see patients every day?</a:t>
            </a:r>
            <a:endParaRPr lang="en-US" sz="1900" dirty="0"/>
          </a:p>
        </p:txBody>
      </p:sp>
      <p:sp>
        <p:nvSpPr>
          <p:cNvPr id="19" name="Shape 16"/>
          <p:cNvSpPr/>
          <p:nvPr/>
        </p:nvSpPr>
        <p:spPr>
          <a:xfrm>
            <a:off x="5577840" y="4023360"/>
            <a:ext cx="6062472" cy="512064"/>
          </a:xfrm>
          <a:prstGeom prst="roundRect">
            <a:avLst>
              <a:gd name="adj" fmla="val 25000"/>
            </a:avLst>
          </a:prstGeom>
          <a:solidFill>
            <a:srgbClr val="F3EFE6"/>
          </a:solidFill>
          <a:ln/>
        </p:spPr>
      </p:sp>
      <p:sp>
        <p:nvSpPr>
          <p:cNvPr id="20" name="Text 17"/>
          <p:cNvSpPr txBox="1"/>
          <p:nvPr/>
        </p:nvSpPr>
        <p:spPr>
          <a:xfrm>
            <a:off x="5806440" y="402336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04</a:t>
            </a:r>
            <a:endParaRPr lang="en-US" sz="1000" dirty="0"/>
          </a:p>
        </p:txBody>
      </p:sp>
      <p:sp>
        <p:nvSpPr>
          <p:cNvPr id="21" name="Text 18"/>
          <p:cNvSpPr txBox="1"/>
          <p:nvPr/>
        </p:nvSpPr>
        <p:spPr>
          <a:xfrm>
            <a:off x="6309360" y="402336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How many patients do you usually see?</a:t>
            </a:r>
            <a:endParaRPr lang="en-US" sz="1900" dirty="0"/>
          </a:p>
        </p:txBody>
      </p:sp>
      <p:sp>
        <p:nvSpPr>
          <p:cNvPr id="22" name="Shape 19"/>
          <p:cNvSpPr/>
          <p:nvPr/>
        </p:nvSpPr>
        <p:spPr>
          <a:xfrm>
            <a:off x="5577840" y="4663440"/>
            <a:ext cx="6062472" cy="512064"/>
          </a:xfrm>
          <a:prstGeom prst="roundRect">
            <a:avLst>
              <a:gd name="adj" fmla="val 25000"/>
            </a:avLst>
          </a:prstGeom>
          <a:solidFill>
            <a:srgbClr val="F3EFE6"/>
          </a:solidFill>
          <a:ln/>
        </p:spPr>
      </p:sp>
      <p:sp>
        <p:nvSpPr>
          <p:cNvPr id="23" name="Text 20"/>
          <p:cNvSpPr txBox="1"/>
          <p:nvPr/>
        </p:nvSpPr>
        <p:spPr>
          <a:xfrm>
            <a:off x="5806440" y="466344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05</a:t>
            </a:r>
            <a:endParaRPr lang="en-US" sz="1000" dirty="0"/>
          </a:p>
        </p:txBody>
      </p:sp>
      <p:sp>
        <p:nvSpPr>
          <p:cNvPr id="24" name="Text 21"/>
          <p:cNvSpPr txBox="1"/>
          <p:nvPr/>
        </p:nvSpPr>
        <p:spPr>
          <a:xfrm>
            <a:off x="6309360" y="466344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Do you work on weekends?</a:t>
            </a:r>
            <a:endParaRPr lang="en-US" sz="1900" dirty="0"/>
          </a:p>
        </p:txBody>
      </p:sp>
      <p:sp>
        <p:nvSpPr>
          <p:cNvPr id="25" name="Shape 22"/>
          <p:cNvSpPr/>
          <p:nvPr/>
        </p:nvSpPr>
        <p:spPr>
          <a:xfrm>
            <a:off x="5577840" y="5303520"/>
            <a:ext cx="6062472" cy="512064"/>
          </a:xfrm>
          <a:prstGeom prst="roundRect">
            <a:avLst>
              <a:gd name="adj" fmla="val 25000"/>
            </a:avLst>
          </a:prstGeom>
          <a:solidFill>
            <a:srgbClr val="F3EFE6"/>
          </a:solidFill>
          <a:ln/>
        </p:spPr>
      </p:sp>
      <p:sp>
        <p:nvSpPr>
          <p:cNvPr id="26" name="Text 23"/>
          <p:cNvSpPr txBox="1"/>
          <p:nvPr/>
        </p:nvSpPr>
        <p:spPr>
          <a:xfrm>
            <a:off x="5806440" y="5303520"/>
            <a:ext cx="457200" cy="512064"/>
          </a:xfrm>
          <a:prstGeom prst="rect">
            <a:avLst/>
          </a:prstGeom>
          <a:noFill/>
          <a:ln/>
        </p:spPr>
        <p:txBody>
          <a:bodyPr wrap="square" lIns="0" tIns="0" rIns="0" bIns="0" rtlCol="0" anchor="ctr"/>
          <a:lstStyle/>
          <a:p>
            <a:pPr indent="0" marL="0">
              <a:buNone/>
            </a:pPr>
            <a:r>
              <a:rPr lang="en-US" sz="1000" dirty="0">
                <a:solidFill>
                  <a:srgbClr val="F44904"/>
                </a:solidFill>
                <a:latin typeface="JetBrains Mono Medium" pitchFamily="34" charset="0"/>
                <a:ea typeface="JetBrains Mono Medium" pitchFamily="34" charset="-122"/>
                <a:cs typeface="JetBrains Mono Medium" pitchFamily="34" charset="-120"/>
              </a:rPr>
              <a:t>06</a:t>
            </a:r>
            <a:endParaRPr lang="en-US" sz="1000" dirty="0"/>
          </a:p>
        </p:txBody>
      </p:sp>
      <p:sp>
        <p:nvSpPr>
          <p:cNvPr id="27" name="Text 24"/>
          <p:cNvSpPr txBox="1"/>
          <p:nvPr/>
        </p:nvSpPr>
        <p:spPr>
          <a:xfrm>
            <a:off x="6309360" y="5303520"/>
            <a:ext cx="5212080" cy="512064"/>
          </a:xfrm>
          <a:prstGeom prst="rect">
            <a:avLst/>
          </a:prstGeom>
          <a:noFill/>
          <a:ln/>
        </p:spPr>
        <p:txBody>
          <a:bodyPr wrap="square" lIns="0" tIns="0" rIns="0" bIns="0" rtlCol="0" anchor="ctr"/>
          <a:lstStyle/>
          <a:p>
            <a:pPr indent="0" marL="0">
              <a:buNone/>
            </a:pPr>
            <a:r>
              <a:rPr lang="en-US" sz="1900" dirty="0">
                <a:solidFill>
                  <a:srgbClr val="0B1440"/>
                </a:solidFill>
                <a:latin typeface="Poppins SemiBold" pitchFamily="34" charset="0"/>
                <a:ea typeface="Poppins SemiBold" pitchFamily="34" charset="-122"/>
                <a:cs typeface="Poppins SemiBold" pitchFamily="34" charset="-120"/>
              </a:rPr>
              <a:t>What do you do after work?</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08 · ROUND 3 · NO HELP</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15 / 17</a:t>
            </a:r>
            <a:endParaRPr lang="en-US" sz="1000" dirty="0"/>
          </a:p>
        </p:txBody>
      </p:sp>
      <p:sp>
        <p:nvSpPr>
          <p:cNvPr id="6" name="Text 3"/>
          <p:cNvSpPr txBox="1"/>
          <p:nvPr/>
        </p:nvSpPr>
        <p:spPr>
          <a:xfrm>
            <a:off x="548640" y="1371600"/>
            <a:ext cx="9601200" cy="2377440"/>
          </a:xfrm>
          <a:prstGeom prst="rect">
            <a:avLst/>
          </a:prstGeom>
          <a:noFill/>
          <a:ln/>
        </p:spPr>
        <p:txBody>
          <a:bodyPr wrap="square" lIns="0" tIns="0" rIns="0" bIns="0" rtlCol="0" anchor="t"/>
          <a:lstStyle/>
          <a:p>
            <a:pPr indent="0" marL="0">
              <a:lnSpc>
                <a:spcPct val="95000"/>
              </a:lnSpc>
              <a:buNone/>
            </a:pPr>
            <a:r>
              <a:rPr lang="en-US" sz="5400" dirty="0">
                <a:solidFill>
                  <a:srgbClr val="FAF7F2"/>
                </a:solidFill>
                <a:latin typeface="Poppins ExtraBold" pitchFamily="34" charset="0"/>
                <a:ea typeface="Poppins ExtraBold" pitchFamily="34" charset="-122"/>
                <a:cs typeface="Poppins ExtraBold" pitchFamily="34" charset="-120"/>
              </a:rPr>
              <a:t>Tell me about your typical working day.</a:t>
            </a:r>
            <a:endParaRPr lang="en-US" sz="54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200" dirty="0">
                <a:solidFill>
                  <a:srgbClr val="B7AFA0"/>
                </a:solidFill>
                <a:latin typeface="Poppins SemiBold" pitchFamily="34" charset="0"/>
                <a:ea typeface="Poppins SemiBold" pitchFamily="34" charset="-122"/>
                <a:cs typeface="Poppins SemiBold" pitchFamily="34" charset="-120"/>
              </a:rPr>
              <a:t>From the morning to the evening.</a:t>
            </a:r>
            <a:endParaRPr lang="en-US" sz="2200" dirty="0"/>
          </a:p>
        </p:txBody>
      </p:sp>
      <p:sp>
        <p:nvSpPr>
          <p:cNvPr id="8" name="Shape 5"/>
          <p:cNvSpPr/>
          <p:nvPr/>
        </p:nvSpPr>
        <p:spPr>
          <a:xfrm>
            <a:off x="548640" y="5577840"/>
            <a:ext cx="11091672" cy="0"/>
          </a:xfrm>
          <a:prstGeom prst="line">
            <a:avLst/>
          </a:prstGeom>
          <a:noFill/>
          <a:ln w="15875">
            <a:solidFill>
              <a:srgbClr val="5B6088"/>
            </a:solidFill>
            <a:prstDash val="solid"/>
          </a:ln>
        </p:spPr>
      </p:sp>
      <p:sp>
        <p:nvSpPr>
          <p:cNvPr id="9" name="Shape 6"/>
          <p:cNvSpPr/>
          <p:nvPr/>
        </p:nvSpPr>
        <p:spPr>
          <a:xfrm>
            <a:off x="548640" y="5431536"/>
            <a:ext cx="0" cy="292608"/>
          </a:xfrm>
          <a:prstGeom prst="line">
            <a:avLst/>
          </a:prstGeom>
          <a:noFill/>
          <a:ln w="15875">
            <a:solidFill>
              <a:srgbClr val="5B6088"/>
            </a:solidFill>
            <a:prstDash val="solid"/>
          </a:ln>
        </p:spPr>
      </p:sp>
      <p:sp>
        <p:nvSpPr>
          <p:cNvPr id="10" name="Text 7"/>
          <p:cNvSpPr txBox="1"/>
          <p:nvPr/>
        </p:nvSpPr>
        <p:spPr>
          <a:xfrm>
            <a:off x="548640" y="5806440"/>
            <a:ext cx="731520" cy="228600"/>
          </a:xfrm>
          <a:prstGeom prst="rect">
            <a:avLst/>
          </a:prstGeom>
          <a:noFill/>
          <a:ln/>
        </p:spPr>
        <p:txBody>
          <a:bodyPr wrap="square" lIns="0" tIns="0" rIns="0" bIns="0" rtlCol="0" anchor="t"/>
          <a:lstStyle/>
          <a:p>
            <a:pPr algn="l"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06:00</a:t>
            </a:r>
            <a:endParaRPr lang="en-US" sz="900" dirty="0"/>
          </a:p>
        </p:txBody>
      </p:sp>
      <p:sp>
        <p:nvSpPr>
          <p:cNvPr id="11" name="Shape 8"/>
          <p:cNvSpPr/>
          <p:nvPr/>
        </p:nvSpPr>
        <p:spPr>
          <a:xfrm>
            <a:off x="1241870" y="5495544"/>
            <a:ext cx="0" cy="164592"/>
          </a:xfrm>
          <a:prstGeom prst="line">
            <a:avLst/>
          </a:prstGeom>
          <a:noFill/>
          <a:ln w="9525">
            <a:solidFill>
              <a:srgbClr val="5B6088"/>
            </a:solidFill>
            <a:prstDash val="solid"/>
          </a:ln>
        </p:spPr>
      </p:sp>
      <p:sp>
        <p:nvSpPr>
          <p:cNvPr id="12" name="Shape 9"/>
          <p:cNvSpPr/>
          <p:nvPr/>
        </p:nvSpPr>
        <p:spPr>
          <a:xfrm>
            <a:off x="1935099" y="5431536"/>
            <a:ext cx="0" cy="292608"/>
          </a:xfrm>
          <a:prstGeom prst="line">
            <a:avLst/>
          </a:prstGeom>
          <a:noFill/>
          <a:ln w="15875">
            <a:solidFill>
              <a:srgbClr val="5B6088"/>
            </a:solidFill>
            <a:prstDash val="solid"/>
          </a:ln>
        </p:spPr>
      </p:sp>
      <p:sp>
        <p:nvSpPr>
          <p:cNvPr id="13" name="Text 10"/>
          <p:cNvSpPr txBox="1"/>
          <p:nvPr/>
        </p:nvSpPr>
        <p:spPr>
          <a:xfrm>
            <a:off x="1569339"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08:00</a:t>
            </a:r>
            <a:endParaRPr lang="en-US" sz="900" dirty="0"/>
          </a:p>
        </p:txBody>
      </p:sp>
      <p:sp>
        <p:nvSpPr>
          <p:cNvPr id="14" name="Shape 11"/>
          <p:cNvSpPr/>
          <p:nvPr/>
        </p:nvSpPr>
        <p:spPr>
          <a:xfrm>
            <a:off x="2628329" y="5495544"/>
            <a:ext cx="0" cy="164592"/>
          </a:xfrm>
          <a:prstGeom prst="line">
            <a:avLst/>
          </a:prstGeom>
          <a:noFill/>
          <a:ln w="9525">
            <a:solidFill>
              <a:srgbClr val="5B6088"/>
            </a:solidFill>
            <a:prstDash val="solid"/>
          </a:ln>
        </p:spPr>
      </p:sp>
      <p:sp>
        <p:nvSpPr>
          <p:cNvPr id="15" name="Shape 12"/>
          <p:cNvSpPr/>
          <p:nvPr/>
        </p:nvSpPr>
        <p:spPr>
          <a:xfrm>
            <a:off x="3321558" y="5431536"/>
            <a:ext cx="0" cy="292608"/>
          </a:xfrm>
          <a:prstGeom prst="line">
            <a:avLst/>
          </a:prstGeom>
          <a:noFill/>
          <a:ln w="15875">
            <a:solidFill>
              <a:srgbClr val="5B6088"/>
            </a:solidFill>
            <a:prstDash val="solid"/>
          </a:ln>
        </p:spPr>
      </p:sp>
      <p:sp>
        <p:nvSpPr>
          <p:cNvPr id="16" name="Text 13"/>
          <p:cNvSpPr txBox="1"/>
          <p:nvPr/>
        </p:nvSpPr>
        <p:spPr>
          <a:xfrm>
            <a:off x="2955798"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10:00</a:t>
            </a:r>
            <a:endParaRPr lang="en-US" sz="900" dirty="0"/>
          </a:p>
        </p:txBody>
      </p:sp>
      <p:sp>
        <p:nvSpPr>
          <p:cNvPr id="17" name="Shape 14"/>
          <p:cNvSpPr/>
          <p:nvPr/>
        </p:nvSpPr>
        <p:spPr>
          <a:xfrm>
            <a:off x="4014788" y="5495544"/>
            <a:ext cx="0" cy="164592"/>
          </a:xfrm>
          <a:prstGeom prst="line">
            <a:avLst/>
          </a:prstGeom>
          <a:noFill/>
          <a:ln w="9525">
            <a:solidFill>
              <a:srgbClr val="5B6088"/>
            </a:solidFill>
            <a:prstDash val="solid"/>
          </a:ln>
        </p:spPr>
      </p:sp>
      <p:sp>
        <p:nvSpPr>
          <p:cNvPr id="18" name="Shape 15"/>
          <p:cNvSpPr/>
          <p:nvPr/>
        </p:nvSpPr>
        <p:spPr>
          <a:xfrm>
            <a:off x="4708017" y="5431536"/>
            <a:ext cx="0" cy="292608"/>
          </a:xfrm>
          <a:prstGeom prst="line">
            <a:avLst/>
          </a:prstGeom>
          <a:noFill/>
          <a:ln w="15875">
            <a:solidFill>
              <a:srgbClr val="5B6088"/>
            </a:solidFill>
            <a:prstDash val="solid"/>
          </a:ln>
        </p:spPr>
      </p:sp>
      <p:sp>
        <p:nvSpPr>
          <p:cNvPr id="19" name="Text 16"/>
          <p:cNvSpPr txBox="1"/>
          <p:nvPr/>
        </p:nvSpPr>
        <p:spPr>
          <a:xfrm>
            <a:off x="4342257"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12:00</a:t>
            </a:r>
            <a:endParaRPr lang="en-US" sz="900" dirty="0"/>
          </a:p>
        </p:txBody>
      </p:sp>
      <p:sp>
        <p:nvSpPr>
          <p:cNvPr id="20" name="Shape 17"/>
          <p:cNvSpPr/>
          <p:nvPr/>
        </p:nvSpPr>
        <p:spPr>
          <a:xfrm>
            <a:off x="5401247" y="5495544"/>
            <a:ext cx="0" cy="164592"/>
          </a:xfrm>
          <a:prstGeom prst="line">
            <a:avLst/>
          </a:prstGeom>
          <a:noFill/>
          <a:ln w="9525">
            <a:solidFill>
              <a:srgbClr val="5B6088"/>
            </a:solidFill>
            <a:prstDash val="solid"/>
          </a:ln>
        </p:spPr>
      </p:sp>
      <p:sp>
        <p:nvSpPr>
          <p:cNvPr id="21" name="Shape 18"/>
          <p:cNvSpPr/>
          <p:nvPr/>
        </p:nvSpPr>
        <p:spPr>
          <a:xfrm>
            <a:off x="6094476" y="5431536"/>
            <a:ext cx="0" cy="292608"/>
          </a:xfrm>
          <a:prstGeom prst="line">
            <a:avLst/>
          </a:prstGeom>
          <a:noFill/>
          <a:ln w="15875">
            <a:solidFill>
              <a:srgbClr val="5B6088"/>
            </a:solidFill>
            <a:prstDash val="solid"/>
          </a:ln>
        </p:spPr>
      </p:sp>
      <p:sp>
        <p:nvSpPr>
          <p:cNvPr id="22" name="Text 19"/>
          <p:cNvSpPr txBox="1"/>
          <p:nvPr/>
        </p:nvSpPr>
        <p:spPr>
          <a:xfrm>
            <a:off x="5728716"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14:00</a:t>
            </a:r>
            <a:endParaRPr lang="en-US" sz="900" dirty="0"/>
          </a:p>
        </p:txBody>
      </p:sp>
      <p:sp>
        <p:nvSpPr>
          <p:cNvPr id="23" name="Shape 20"/>
          <p:cNvSpPr/>
          <p:nvPr/>
        </p:nvSpPr>
        <p:spPr>
          <a:xfrm>
            <a:off x="6787706" y="5495544"/>
            <a:ext cx="0" cy="164592"/>
          </a:xfrm>
          <a:prstGeom prst="line">
            <a:avLst/>
          </a:prstGeom>
          <a:noFill/>
          <a:ln w="9525">
            <a:solidFill>
              <a:srgbClr val="5B6088"/>
            </a:solidFill>
            <a:prstDash val="solid"/>
          </a:ln>
        </p:spPr>
      </p:sp>
      <p:sp>
        <p:nvSpPr>
          <p:cNvPr id="24" name="Shape 21"/>
          <p:cNvSpPr/>
          <p:nvPr/>
        </p:nvSpPr>
        <p:spPr>
          <a:xfrm>
            <a:off x="7480935" y="5431536"/>
            <a:ext cx="0" cy="292608"/>
          </a:xfrm>
          <a:prstGeom prst="line">
            <a:avLst/>
          </a:prstGeom>
          <a:noFill/>
          <a:ln w="15875">
            <a:solidFill>
              <a:srgbClr val="5B6088"/>
            </a:solidFill>
            <a:prstDash val="solid"/>
          </a:ln>
        </p:spPr>
      </p:sp>
      <p:sp>
        <p:nvSpPr>
          <p:cNvPr id="25" name="Text 22"/>
          <p:cNvSpPr txBox="1"/>
          <p:nvPr/>
        </p:nvSpPr>
        <p:spPr>
          <a:xfrm>
            <a:off x="7115175"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16:00</a:t>
            </a:r>
            <a:endParaRPr lang="en-US" sz="900" dirty="0"/>
          </a:p>
        </p:txBody>
      </p:sp>
      <p:sp>
        <p:nvSpPr>
          <p:cNvPr id="26" name="Shape 23"/>
          <p:cNvSpPr/>
          <p:nvPr/>
        </p:nvSpPr>
        <p:spPr>
          <a:xfrm>
            <a:off x="8174165" y="5495544"/>
            <a:ext cx="0" cy="164592"/>
          </a:xfrm>
          <a:prstGeom prst="line">
            <a:avLst/>
          </a:prstGeom>
          <a:noFill/>
          <a:ln w="9525">
            <a:solidFill>
              <a:srgbClr val="5B6088"/>
            </a:solidFill>
            <a:prstDash val="solid"/>
          </a:ln>
        </p:spPr>
      </p:sp>
      <p:sp>
        <p:nvSpPr>
          <p:cNvPr id="27" name="Shape 24"/>
          <p:cNvSpPr/>
          <p:nvPr/>
        </p:nvSpPr>
        <p:spPr>
          <a:xfrm>
            <a:off x="8867394" y="5431536"/>
            <a:ext cx="0" cy="292608"/>
          </a:xfrm>
          <a:prstGeom prst="line">
            <a:avLst/>
          </a:prstGeom>
          <a:noFill/>
          <a:ln w="15875">
            <a:solidFill>
              <a:srgbClr val="5B6088"/>
            </a:solidFill>
            <a:prstDash val="solid"/>
          </a:ln>
        </p:spPr>
      </p:sp>
      <p:sp>
        <p:nvSpPr>
          <p:cNvPr id="28" name="Text 25"/>
          <p:cNvSpPr txBox="1"/>
          <p:nvPr/>
        </p:nvSpPr>
        <p:spPr>
          <a:xfrm>
            <a:off x="8501634"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18:00</a:t>
            </a:r>
            <a:endParaRPr lang="en-US" sz="900" dirty="0"/>
          </a:p>
        </p:txBody>
      </p:sp>
      <p:sp>
        <p:nvSpPr>
          <p:cNvPr id="29" name="Shape 26"/>
          <p:cNvSpPr/>
          <p:nvPr/>
        </p:nvSpPr>
        <p:spPr>
          <a:xfrm>
            <a:off x="9560624" y="5495544"/>
            <a:ext cx="0" cy="164592"/>
          </a:xfrm>
          <a:prstGeom prst="line">
            <a:avLst/>
          </a:prstGeom>
          <a:noFill/>
          <a:ln w="9525">
            <a:solidFill>
              <a:srgbClr val="5B6088"/>
            </a:solidFill>
            <a:prstDash val="solid"/>
          </a:ln>
        </p:spPr>
      </p:sp>
      <p:sp>
        <p:nvSpPr>
          <p:cNvPr id="30" name="Shape 27"/>
          <p:cNvSpPr/>
          <p:nvPr/>
        </p:nvSpPr>
        <p:spPr>
          <a:xfrm>
            <a:off x="10253853" y="5431536"/>
            <a:ext cx="0" cy="292608"/>
          </a:xfrm>
          <a:prstGeom prst="line">
            <a:avLst/>
          </a:prstGeom>
          <a:noFill/>
          <a:ln w="15875">
            <a:solidFill>
              <a:srgbClr val="5B6088"/>
            </a:solidFill>
            <a:prstDash val="solid"/>
          </a:ln>
        </p:spPr>
      </p:sp>
      <p:sp>
        <p:nvSpPr>
          <p:cNvPr id="31" name="Text 28"/>
          <p:cNvSpPr txBox="1"/>
          <p:nvPr/>
        </p:nvSpPr>
        <p:spPr>
          <a:xfrm>
            <a:off x="9888093" y="5806440"/>
            <a:ext cx="731520" cy="228600"/>
          </a:xfrm>
          <a:prstGeom prst="rect">
            <a:avLst/>
          </a:prstGeom>
          <a:noFill/>
          <a:ln/>
        </p:spPr>
        <p:txBody>
          <a:bodyPr wrap="square" lIns="0" tIns="0" rIns="0" bIns="0" rtlCol="0" anchor="t"/>
          <a:lstStyle/>
          <a:p>
            <a:pPr algn="ct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20:00</a:t>
            </a:r>
            <a:endParaRPr lang="en-US" sz="900" dirty="0"/>
          </a:p>
        </p:txBody>
      </p:sp>
      <p:sp>
        <p:nvSpPr>
          <p:cNvPr id="32" name="Shape 29"/>
          <p:cNvSpPr/>
          <p:nvPr/>
        </p:nvSpPr>
        <p:spPr>
          <a:xfrm>
            <a:off x="10947083" y="5495544"/>
            <a:ext cx="0" cy="164592"/>
          </a:xfrm>
          <a:prstGeom prst="line">
            <a:avLst/>
          </a:prstGeom>
          <a:noFill/>
          <a:ln w="9525">
            <a:solidFill>
              <a:srgbClr val="5B6088"/>
            </a:solidFill>
            <a:prstDash val="solid"/>
          </a:ln>
        </p:spPr>
      </p:sp>
      <p:sp>
        <p:nvSpPr>
          <p:cNvPr id="33" name="Shape 30"/>
          <p:cNvSpPr/>
          <p:nvPr/>
        </p:nvSpPr>
        <p:spPr>
          <a:xfrm>
            <a:off x="11640312" y="5431536"/>
            <a:ext cx="0" cy="292608"/>
          </a:xfrm>
          <a:prstGeom prst="line">
            <a:avLst/>
          </a:prstGeom>
          <a:noFill/>
          <a:ln w="15875">
            <a:solidFill>
              <a:srgbClr val="5B6088"/>
            </a:solidFill>
            <a:prstDash val="solid"/>
          </a:ln>
        </p:spPr>
      </p:sp>
      <p:sp>
        <p:nvSpPr>
          <p:cNvPr id="34" name="Text 31"/>
          <p:cNvSpPr txBox="1"/>
          <p:nvPr/>
        </p:nvSpPr>
        <p:spPr>
          <a:xfrm>
            <a:off x="10908792" y="5806440"/>
            <a:ext cx="731520" cy="228600"/>
          </a:xfrm>
          <a:prstGeom prst="rect">
            <a:avLst/>
          </a:prstGeom>
          <a:noFill/>
          <a:ln/>
        </p:spPr>
        <p:txBody>
          <a:bodyPr wrap="square" lIns="0" tIns="0" rIns="0" bIns="0" rtlCol="0" anchor="t"/>
          <a:lstStyle/>
          <a:p>
            <a:pPr algn="r" indent="0" marL="0">
              <a:buNone/>
            </a:pPr>
            <a:r>
              <a:rPr lang="en-US" sz="900" dirty="0">
                <a:solidFill>
                  <a:srgbClr val="B7AFA0"/>
                </a:solidFill>
                <a:latin typeface="JetBrains Mono Medium" pitchFamily="34" charset="0"/>
                <a:ea typeface="JetBrains Mono Medium" pitchFamily="34" charset="-122"/>
                <a:cs typeface="JetBrains Mono Medium" pitchFamily="34" charset="-120"/>
              </a:rPr>
              <a:t>22:00</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7F2"/>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5B6088"/>
                </a:solidFill>
                <a:latin typeface="JetBrains Mono Medium" pitchFamily="34" charset="0"/>
                <a:ea typeface="JetBrains Mono Medium" pitchFamily="34" charset="-122"/>
                <a:cs typeface="JetBrains Mono Medium" pitchFamily="34" charset="-120"/>
              </a:rPr>
              <a:t>09 · CAN YOU FIX IT?</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5B6088"/>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5B6088"/>
                </a:solidFill>
                <a:latin typeface="JetBrains Mono Medium" pitchFamily="34" charset="0"/>
                <a:ea typeface="JetBrains Mono Medium" pitchFamily="34" charset="-122"/>
                <a:cs typeface="JetBrains Mono Medium" pitchFamily="34" charset="-120"/>
              </a:rPr>
              <a:t>16 / 17</a:t>
            </a:r>
            <a:endParaRPr lang="en-US" sz="1000" dirty="0"/>
          </a:p>
        </p:txBody>
      </p:sp>
      <p:sp>
        <p:nvSpPr>
          <p:cNvPr id="6" name="Text 3"/>
          <p:cNvSpPr txBox="1"/>
          <p:nvPr/>
        </p:nvSpPr>
        <p:spPr>
          <a:xfrm>
            <a:off x="548640" y="777240"/>
            <a:ext cx="10515600" cy="822960"/>
          </a:xfrm>
          <a:prstGeom prst="rect">
            <a:avLst/>
          </a:prstGeom>
          <a:noFill/>
          <a:ln/>
        </p:spPr>
        <p:txBody>
          <a:bodyPr wrap="square" lIns="0" tIns="0" rIns="0" bIns="0" rtlCol="0" anchor="t"/>
          <a:lstStyle/>
          <a:p>
            <a:pPr indent="0" marL="0">
              <a:buNone/>
            </a:pPr>
            <a:r>
              <a:rPr lang="en-US" sz="4000" b="1" dirty="0">
                <a:solidFill>
                  <a:srgbClr val="0B1440"/>
                </a:solidFill>
                <a:latin typeface="Poppins" pitchFamily="34" charset="0"/>
                <a:ea typeface="Poppins" pitchFamily="34" charset="-122"/>
                <a:cs typeface="Poppins" pitchFamily="34" charset="-120"/>
              </a:rPr>
              <a:t>Can you fix it?</a:t>
            </a:r>
            <a:endParaRPr lang="en-US" sz="4000" dirty="0"/>
          </a:p>
        </p:txBody>
      </p:sp>
      <p:sp>
        <p:nvSpPr>
          <p:cNvPr id="7" name="Text 4"/>
          <p:cNvSpPr txBox="1"/>
          <p:nvPr/>
        </p:nvSpPr>
        <p:spPr>
          <a:xfrm>
            <a:off x="8439912" y="777240"/>
            <a:ext cx="3200400" cy="640080"/>
          </a:xfrm>
          <a:prstGeom prst="rect">
            <a:avLst/>
          </a:prstGeom>
          <a:noFill/>
          <a:ln/>
        </p:spPr>
        <p:txBody>
          <a:bodyPr wrap="square" lIns="0" tIns="0" rIns="0" bIns="0" rtlCol="0" anchor="t"/>
          <a:lstStyle/>
          <a:p>
            <a:pPr algn="r" indent="0" marL="0">
              <a:buNone/>
            </a:pPr>
            <a:r>
              <a:rPr lang="en-US" sz="3000" b="1" i="1" dirty="0">
                <a:solidFill>
                  <a:srgbClr val="F44904"/>
                </a:solidFill>
                <a:latin typeface="Poppins" pitchFamily="34" charset="0"/>
                <a:ea typeface="Poppins" pitchFamily="34" charset="-122"/>
                <a:cs typeface="Poppins" pitchFamily="34" charset="-120"/>
              </a:rPr>
              <a:t>Try again.</a:t>
            </a:r>
            <a:endParaRPr lang="en-US" sz="3000" dirty="0"/>
          </a:p>
        </p:txBody>
      </p:sp>
      <p:sp>
        <p:nvSpPr>
          <p:cNvPr id="8" name="Text 5"/>
          <p:cNvSpPr txBox="1"/>
          <p:nvPr/>
        </p:nvSpPr>
        <p:spPr>
          <a:xfrm>
            <a:off x="548640" y="1783080"/>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1</a:t>
            </a:r>
            <a:endParaRPr lang="en-US" sz="1300" dirty="0"/>
          </a:p>
        </p:txBody>
      </p:sp>
      <p:sp>
        <p:nvSpPr>
          <p:cNvPr id="9" name="Text 6"/>
          <p:cNvSpPr txBox="1"/>
          <p:nvPr/>
        </p:nvSpPr>
        <p:spPr>
          <a:xfrm>
            <a:off x="1097280" y="1783080"/>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He don’t work on Sunday.</a:t>
            </a:r>
            <a:endParaRPr lang="en-US" sz="2600" dirty="0"/>
          </a:p>
        </p:txBody>
      </p:sp>
      <p:sp>
        <p:nvSpPr>
          <p:cNvPr id="10" name="Shape 7"/>
          <p:cNvSpPr/>
          <p:nvPr/>
        </p:nvSpPr>
        <p:spPr>
          <a:xfrm>
            <a:off x="1097280" y="2368296"/>
            <a:ext cx="6583680" cy="0"/>
          </a:xfrm>
          <a:prstGeom prst="line">
            <a:avLst/>
          </a:prstGeom>
          <a:noFill/>
          <a:ln w="12700">
            <a:solidFill>
              <a:srgbClr val="DDD6C7"/>
            </a:solidFill>
            <a:prstDash val="solid"/>
          </a:ln>
        </p:spPr>
      </p:sp>
      <p:sp>
        <p:nvSpPr>
          <p:cNvPr id="11" name="Text 8"/>
          <p:cNvSpPr txBox="1"/>
          <p:nvPr/>
        </p:nvSpPr>
        <p:spPr>
          <a:xfrm>
            <a:off x="548640" y="2441448"/>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2</a:t>
            </a:r>
            <a:endParaRPr lang="en-US" sz="1300" dirty="0"/>
          </a:p>
        </p:txBody>
      </p:sp>
      <p:sp>
        <p:nvSpPr>
          <p:cNvPr id="12" name="Text 9"/>
          <p:cNvSpPr txBox="1"/>
          <p:nvPr/>
        </p:nvSpPr>
        <p:spPr>
          <a:xfrm>
            <a:off x="1097280" y="2441448"/>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works in a clinic.</a:t>
            </a:r>
            <a:endParaRPr lang="en-US" sz="2600" dirty="0"/>
          </a:p>
        </p:txBody>
      </p:sp>
      <p:sp>
        <p:nvSpPr>
          <p:cNvPr id="13" name="Shape 10"/>
          <p:cNvSpPr/>
          <p:nvPr/>
        </p:nvSpPr>
        <p:spPr>
          <a:xfrm>
            <a:off x="1097280" y="3026664"/>
            <a:ext cx="6583680" cy="0"/>
          </a:xfrm>
          <a:prstGeom prst="line">
            <a:avLst/>
          </a:prstGeom>
          <a:noFill/>
          <a:ln w="12700">
            <a:solidFill>
              <a:srgbClr val="DDD6C7"/>
            </a:solidFill>
            <a:prstDash val="solid"/>
          </a:ln>
        </p:spPr>
      </p:sp>
      <p:sp>
        <p:nvSpPr>
          <p:cNvPr id="14" name="Text 11"/>
          <p:cNvSpPr txBox="1"/>
          <p:nvPr/>
        </p:nvSpPr>
        <p:spPr>
          <a:xfrm>
            <a:off x="548640" y="3099816"/>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3</a:t>
            </a:r>
            <a:endParaRPr lang="en-US" sz="1300" dirty="0"/>
          </a:p>
        </p:txBody>
      </p:sp>
      <p:sp>
        <p:nvSpPr>
          <p:cNvPr id="15" name="Text 12"/>
          <p:cNvSpPr txBox="1"/>
          <p:nvPr/>
        </p:nvSpPr>
        <p:spPr>
          <a:xfrm>
            <a:off x="1097280" y="3099816"/>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Does she works there?</a:t>
            </a:r>
            <a:endParaRPr lang="en-US" sz="2600" dirty="0"/>
          </a:p>
        </p:txBody>
      </p:sp>
      <p:sp>
        <p:nvSpPr>
          <p:cNvPr id="16" name="Shape 13"/>
          <p:cNvSpPr/>
          <p:nvPr/>
        </p:nvSpPr>
        <p:spPr>
          <a:xfrm>
            <a:off x="1097280" y="3685032"/>
            <a:ext cx="6583680" cy="0"/>
          </a:xfrm>
          <a:prstGeom prst="line">
            <a:avLst/>
          </a:prstGeom>
          <a:noFill/>
          <a:ln w="12700">
            <a:solidFill>
              <a:srgbClr val="DDD6C7"/>
            </a:solidFill>
            <a:prstDash val="solid"/>
          </a:ln>
        </p:spPr>
      </p:sp>
      <p:sp>
        <p:nvSpPr>
          <p:cNvPr id="17" name="Text 14"/>
          <p:cNvSpPr txBox="1"/>
          <p:nvPr/>
        </p:nvSpPr>
        <p:spPr>
          <a:xfrm>
            <a:off x="548640" y="3758184"/>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4</a:t>
            </a:r>
            <a:endParaRPr lang="en-US" sz="1300" dirty="0"/>
          </a:p>
        </p:txBody>
      </p:sp>
      <p:sp>
        <p:nvSpPr>
          <p:cNvPr id="18" name="Text 15"/>
          <p:cNvSpPr txBox="1"/>
          <p:nvPr/>
        </p:nvSpPr>
        <p:spPr>
          <a:xfrm>
            <a:off x="1097280" y="3758184"/>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I am work at a hospital.</a:t>
            </a:r>
            <a:endParaRPr lang="en-US" sz="2600" dirty="0"/>
          </a:p>
        </p:txBody>
      </p:sp>
      <p:sp>
        <p:nvSpPr>
          <p:cNvPr id="19" name="Shape 16"/>
          <p:cNvSpPr/>
          <p:nvPr/>
        </p:nvSpPr>
        <p:spPr>
          <a:xfrm>
            <a:off x="1097280" y="4343400"/>
            <a:ext cx="6583680" cy="0"/>
          </a:xfrm>
          <a:prstGeom prst="line">
            <a:avLst/>
          </a:prstGeom>
          <a:noFill/>
          <a:ln w="12700">
            <a:solidFill>
              <a:srgbClr val="DDD6C7"/>
            </a:solidFill>
            <a:prstDash val="solid"/>
          </a:ln>
        </p:spPr>
      </p:sp>
      <p:sp>
        <p:nvSpPr>
          <p:cNvPr id="20" name="Text 17"/>
          <p:cNvSpPr txBox="1"/>
          <p:nvPr/>
        </p:nvSpPr>
        <p:spPr>
          <a:xfrm>
            <a:off x="548640" y="4416552"/>
            <a:ext cx="457200" cy="502920"/>
          </a:xfrm>
          <a:prstGeom prst="rect">
            <a:avLst/>
          </a:prstGeom>
          <a:noFill/>
          <a:ln/>
        </p:spPr>
        <p:txBody>
          <a:bodyPr wrap="square" lIns="0" tIns="0" rIns="0" bIns="0" rtlCol="0" anchor="ctr"/>
          <a:lstStyle/>
          <a:p>
            <a:pPr indent="0" marL="0">
              <a:buNone/>
            </a:pPr>
            <a:r>
              <a:rPr lang="en-US" sz="1300" dirty="0">
                <a:solidFill>
                  <a:srgbClr val="F44904"/>
                </a:solidFill>
                <a:latin typeface="JetBrains Mono Medium" pitchFamily="34" charset="0"/>
                <a:ea typeface="JetBrains Mono Medium" pitchFamily="34" charset="-122"/>
                <a:cs typeface="JetBrains Mono Medium" pitchFamily="34" charset="-120"/>
              </a:rPr>
              <a:t>5</a:t>
            </a:r>
            <a:endParaRPr lang="en-US" sz="1300" dirty="0"/>
          </a:p>
        </p:txBody>
      </p:sp>
      <p:sp>
        <p:nvSpPr>
          <p:cNvPr id="21" name="Text 18"/>
          <p:cNvSpPr txBox="1"/>
          <p:nvPr/>
        </p:nvSpPr>
        <p:spPr>
          <a:xfrm>
            <a:off x="1097280" y="4416552"/>
            <a:ext cx="6766560" cy="502920"/>
          </a:xfrm>
          <a:prstGeom prst="rect">
            <a:avLst/>
          </a:prstGeom>
          <a:noFill/>
          <a:ln/>
        </p:spPr>
        <p:txBody>
          <a:bodyPr wrap="square" lIns="0" tIns="0" rIns="0" bIns="0" rtlCol="0" anchor="ctr"/>
          <a:lstStyle/>
          <a:p>
            <a:pPr indent="0" marL="0">
              <a:buNone/>
            </a:pPr>
            <a:r>
              <a:rPr lang="en-US" sz="2600" dirty="0">
                <a:solidFill>
                  <a:srgbClr val="0B1440"/>
                </a:solidFill>
                <a:latin typeface="Poppins SemiBold" pitchFamily="34" charset="0"/>
                <a:ea typeface="Poppins SemiBold" pitchFamily="34" charset="-122"/>
                <a:cs typeface="Poppins SemiBold" pitchFamily="34" charset="-120"/>
              </a:rPr>
              <a:t>She finish at six.</a:t>
            </a:r>
            <a:endParaRPr lang="en-US" sz="2600" dirty="0"/>
          </a:p>
        </p:txBody>
      </p:sp>
      <p:sp>
        <p:nvSpPr>
          <p:cNvPr id="22" name="Shape 19"/>
          <p:cNvSpPr/>
          <p:nvPr/>
        </p:nvSpPr>
        <p:spPr>
          <a:xfrm>
            <a:off x="1097280" y="5001768"/>
            <a:ext cx="6583680" cy="0"/>
          </a:xfrm>
          <a:prstGeom prst="line">
            <a:avLst/>
          </a:prstGeom>
          <a:noFill/>
          <a:ln w="12700">
            <a:solidFill>
              <a:srgbClr val="DDD6C7"/>
            </a:solidFill>
            <a:prstDash val="solid"/>
          </a:ln>
        </p:spPr>
      </p:sp>
      <p:sp>
        <p:nvSpPr>
          <p:cNvPr id="23" name="Shape 20"/>
          <p:cNvSpPr/>
          <p:nvPr/>
        </p:nvSpPr>
        <p:spPr>
          <a:xfrm>
            <a:off x="8183880" y="1783080"/>
            <a:ext cx="3456432" cy="3246120"/>
          </a:xfrm>
          <a:prstGeom prst="roundRect">
            <a:avLst>
              <a:gd name="adj" fmla="val 3944"/>
            </a:avLst>
          </a:prstGeom>
          <a:solidFill>
            <a:srgbClr val="0B1440"/>
          </a:solidFill>
          <a:ln/>
        </p:spPr>
      </p:sp>
      <p:sp>
        <p:nvSpPr>
          <p:cNvPr id="24" name="Text 21"/>
          <p:cNvSpPr txBox="1"/>
          <p:nvPr/>
        </p:nvSpPr>
        <p:spPr>
          <a:xfrm>
            <a:off x="8458200" y="2011680"/>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I / YOU / WE / THEY</a:t>
            </a:r>
            <a:endParaRPr lang="en-US" sz="1000" dirty="0"/>
          </a:p>
        </p:txBody>
      </p:sp>
      <p:sp>
        <p:nvSpPr>
          <p:cNvPr id="25" name="Text 22"/>
          <p:cNvSpPr txBox="1"/>
          <p:nvPr/>
        </p:nvSpPr>
        <p:spPr>
          <a:xfrm>
            <a:off x="8458200" y="2286000"/>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26" name="Text 23"/>
          <p:cNvSpPr txBox="1"/>
          <p:nvPr/>
        </p:nvSpPr>
        <p:spPr>
          <a:xfrm>
            <a:off x="8458200" y="2999232"/>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HE / SHE / IT</a:t>
            </a:r>
            <a:endParaRPr lang="en-US" sz="1000" dirty="0"/>
          </a:p>
        </p:txBody>
      </p:sp>
      <p:sp>
        <p:nvSpPr>
          <p:cNvPr id="27" name="Text 24"/>
          <p:cNvSpPr txBox="1"/>
          <p:nvPr/>
        </p:nvSpPr>
        <p:spPr>
          <a:xfrm>
            <a:off x="8458200" y="3273552"/>
            <a:ext cx="3017520" cy="548640"/>
          </a:xfrm>
          <a:prstGeom prst="rect">
            <a:avLst/>
          </a:prstGeom>
          <a:noFill/>
          <a:ln/>
        </p:spPr>
        <p:txBody>
          <a:bodyPr wrap="square" lIns="0" tIns="0" rIns="0" bIns="0" rtlCol="0" anchor="t"/>
          <a:lstStyle/>
          <a:p>
            <a:pPr indent="0" marL="0">
              <a:buNone/>
            </a:pPr>
            <a:r>
              <a:rPr lang="en-US" sz="280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44904"/>
                </a:solidFill>
                <a:latin typeface="Poppins ExtraBold" pitchFamily="34" charset="0"/>
                <a:ea typeface="Poppins ExtraBold" pitchFamily="34" charset="-122"/>
                <a:cs typeface="Poppins ExtraBold" pitchFamily="34" charset="-120"/>
              </a:rPr>
              <a:t>WORKS</a:t>
            </a:r>
            <a:endParaRPr lang="en-US" sz="2800" dirty="0"/>
          </a:p>
        </p:txBody>
      </p:sp>
      <p:sp>
        <p:nvSpPr>
          <p:cNvPr id="28" name="Text 25"/>
          <p:cNvSpPr txBox="1"/>
          <p:nvPr/>
        </p:nvSpPr>
        <p:spPr>
          <a:xfrm>
            <a:off x="8458200" y="3986784"/>
            <a:ext cx="3017520" cy="274320"/>
          </a:xfrm>
          <a:prstGeom prst="rect">
            <a:avLst/>
          </a:prstGeom>
          <a:noFill/>
          <a:ln/>
        </p:spPr>
        <p:txBody>
          <a:bodyPr wrap="square" lIns="0" tIns="0" rIns="0" bIns="0" rtlCol="0" anchor="t"/>
          <a:lstStyle/>
          <a:p>
            <a:pPr indent="0" marL="0">
              <a:buNone/>
            </a:pPr>
            <a:r>
              <a:rPr lang="en-US" sz="1000" spc="120" kern="0" dirty="0">
                <a:solidFill>
                  <a:srgbClr val="B7AFA0"/>
                </a:solidFill>
                <a:latin typeface="JetBrains Mono Medium" pitchFamily="34" charset="0"/>
                <a:ea typeface="JetBrains Mono Medium" pitchFamily="34" charset="-122"/>
                <a:cs typeface="JetBrains Mono Medium" pitchFamily="34" charset="-120"/>
              </a:rPr>
              <a:t>DOES / DOESN’T</a:t>
            </a:r>
            <a:endParaRPr lang="en-US" sz="1000" dirty="0"/>
          </a:p>
        </p:txBody>
      </p:sp>
      <p:sp>
        <p:nvSpPr>
          <p:cNvPr id="29" name="Text 26"/>
          <p:cNvSpPr txBox="1"/>
          <p:nvPr/>
        </p:nvSpPr>
        <p:spPr>
          <a:xfrm>
            <a:off x="8458200" y="4261104"/>
            <a:ext cx="3017520" cy="548640"/>
          </a:xfrm>
          <a:prstGeom prst="rect">
            <a:avLst/>
          </a:prstGeom>
          <a:noFill/>
          <a:ln/>
        </p:spPr>
        <p:txBody>
          <a:bodyPr wrap="square" lIns="0" tIns="0" rIns="0" bIns="0" rtlCol="0" anchor="t"/>
          <a:lstStyle/>
          <a:p>
            <a:pPr indent="0" marL="0">
              <a:buNone/>
            </a:pPr>
            <a:r>
              <a:rPr lang="en-US" sz="2800" dirty="0">
                <a:solidFill>
                  <a:srgbClr val="FAF7F2"/>
                </a:solidFill>
                <a:latin typeface="JetBrains Mono Medium" pitchFamily="34" charset="0"/>
                <a:ea typeface="JetBrains Mono Medium" pitchFamily="34" charset="-122"/>
                <a:cs typeface="JetBrains Mono Medium" pitchFamily="34" charset="-120"/>
              </a:rPr>
              <a:t>→ </a:t>
            </a:r>
            <a:pPr indent="0" marL="0">
              <a:buNone/>
            </a:pPr>
            <a:r>
              <a:rPr lang="en-US" sz="2800" dirty="0">
                <a:solidFill>
                  <a:srgbClr val="FAF7F2"/>
                </a:solidFill>
                <a:latin typeface="Poppins ExtraBold" pitchFamily="34" charset="0"/>
                <a:ea typeface="Poppins ExtraBold" pitchFamily="34" charset="-122"/>
                <a:cs typeface="Poppins ExtraBold" pitchFamily="34" charset="-120"/>
              </a:rPr>
              <a:t>WORK</a:t>
            </a:r>
            <a:endParaRPr lang="en-US" sz="2800" dirty="0"/>
          </a:p>
        </p:txBody>
      </p:sp>
      <p:sp>
        <p:nvSpPr>
          <p:cNvPr id="30" name="Text 27"/>
          <p:cNvSpPr txBox="1"/>
          <p:nvPr/>
        </p:nvSpPr>
        <p:spPr>
          <a:xfrm>
            <a:off x="548640" y="5349240"/>
            <a:ext cx="7315200" cy="411480"/>
          </a:xfrm>
          <a:prstGeom prst="rect">
            <a:avLst/>
          </a:prstGeom>
          <a:noFill/>
          <a:ln/>
        </p:spPr>
        <p:txBody>
          <a:bodyPr wrap="square" lIns="0" tIns="0" rIns="0" bIns="0" rtlCol="0" anchor="t"/>
          <a:lstStyle/>
          <a:p>
            <a:pPr indent="0" marL="0">
              <a:buNone/>
            </a:pPr>
            <a:r>
              <a:rPr lang="en-US" sz="1800" dirty="0">
                <a:solidFill>
                  <a:srgbClr val="5B6088"/>
                </a:solidFill>
                <a:latin typeface="Hanken Grotesk" pitchFamily="34" charset="0"/>
                <a:ea typeface="Hanken Grotesk" pitchFamily="34" charset="-122"/>
                <a:cs typeface="Hanken Grotesk" pitchFamily="34" charset="-120"/>
              </a:rPr>
              <a:t>Your sentences from today.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B1440"/>
        </a:solidFill>
      </p:bgPr>
    </p:bg>
    <p:spTree>
      <p:nvGrpSpPr>
        <p:cNvPr id="1" name=""/>
        <p:cNvGrpSpPr/>
        <p:nvPr/>
      </p:nvGrpSpPr>
      <p:grpSpPr>
        <a:xfrm>
          <a:off x="0" y="0"/>
          <a:ext cx="0" cy="0"/>
          <a:chOff x="0" y="0"/>
          <a:chExt cx="0" cy="0"/>
        </a:xfrm>
      </p:grpSpPr>
      <p:sp>
        <p:nvSpPr>
          <p:cNvPr id="2" name="Text 0"/>
          <p:cNvSpPr txBox="1"/>
          <p:nvPr/>
        </p:nvSpPr>
        <p:spPr>
          <a:xfrm>
            <a:off x="548640" y="411480"/>
            <a:ext cx="8229600" cy="274320"/>
          </a:xfrm>
          <a:prstGeom prst="rect">
            <a:avLst/>
          </a:prstGeom>
          <a:noFill/>
          <a:ln/>
        </p:spPr>
        <p:txBody>
          <a:bodyPr wrap="square" lIns="0" tIns="0" rIns="0" bIns="0" rtlCol="0" anchor="t"/>
          <a:lstStyle/>
          <a:p>
            <a:pPr indent="0" marL="0">
              <a:buNone/>
            </a:pPr>
            <a:r>
              <a:rPr lang="en-US" sz="1100" spc="150" kern="0" dirty="0">
                <a:solidFill>
                  <a:srgbClr val="F44904"/>
                </a:solidFill>
                <a:latin typeface="JetBrains Mono Medium" pitchFamily="34" charset="0"/>
                <a:ea typeface="JetBrains Mono Medium" pitchFamily="34" charset="-122"/>
                <a:cs typeface="JetBrains Mono Medium" pitchFamily="34" charset="-120"/>
              </a:rPr>
              <a:t>— </a:t>
            </a:r>
            <a:pPr indent="0" marL="0">
              <a:buNone/>
            </a:pPr>
            <a:r>
              <a:rPr lang="en-US" sz="1100" spc="150" kern="0" dirty="0">
                <a:solidFill>
                  <a:srgbClr val="B7AFA0"/>
                </a:solidFill>
                <a:latin typeface="JetBrains Mono Medium" pitchFamily="34" charset="0"/>
                <a:ea typeface="JetBrains Mono Medium" pitchFamily="34" charset="-122"/>
                <a:cs typeface="JetBrains Mono Medium" pitchFamily="34" charset="-120"/>
              </a:rPr>
              <a:t>10 · EXIT TASK</a:t>
            </a:r>
            <a:endParaRPr lang="en-US" sz="1100" dirty="0"/>
          </a:p>
        </p:txBody>
      </p:sp>
      <p:sp>
        <p:nvSpPr>
          <p:cNvPr id="3" name="Text 1"/>
          <p:cNvSpPr txBox="1"/>
          <p:nvPr/>
        </p:nvSpPr>
        <p:spPr>
          <a:xfrm>
            <a:off x="8439912" y="411480"/>
            <a:ext cx="3200400" cy="274320"/>
          </a:xfrm>
          <a:prstGeom prst="rect">
            <a:avLst/>
          </a:prstGeom>
          <a:noFill/>
          <a:ln/>
        </p:spPr>
        <p:txBody>
          <a:bodyPr wrap="square" lIns="0" tIns="0" rIns="0" bIns="0" rtlCol="0" anchor="t"/>
          <a:lstStyle/>
          <a:p>
            <a:pPr algn="r" indent="0" marL="0">
              <a:buNone/>
            </a:pPr>
            <a:r>
              <a:rPr lang="en-US" sz="1000" spc="150" kern="0" dirty="0">
                <a:solidFill>
                  <a:srgbClr val="B7AFA0"/>
                </a:solidFill>
                <a:latin typeface="JetBrains Mono Medium" pitchFamily="34" charset="0"/>
                <a:ea typeface="JetBrains Mono Medium" pitchFamily="34" charset="-122"/>
                <a:cs typeface="JetBrains Mono Medium" pitchFamily="34" charset="-120"/>
              </a:rPr>
              <a:t>A TYPICAL DAY</a:t>
            </a:r>
            <a:endParaRPr lang="en-US" sz="1000" dirty="0"/>
          </a:p>
        </p:txBody>
      </p:sp>
      <p:sp>
        <p:nvSpPr>
          <p:cNvPr id="4" name="Text 2"/>
          <p:cNvSpPr txBox="1"/>
          <p:nvPr/>
        </p:nvSpPr>
        <p:spPr>
          <a:xfrm>
            <a:off x="8439912" y="6355080"/>
            <a:ext cx="3200400" cy="274320"/>
          </a:xfrm>
          <a:prstGeom prst="rect">
            <a:avLst/>
          </a:prstGeom>
          <a:noFill/>
          <a:ln/>
        </p:spPr>
        <p:txBody>
          <a:bodyPr wrap="square" lIns="0" tIns="0" rIns="0" bIns="0" rtlCol="0" anchor="t"/>
          <a:lstStyle/>
          <a:p>
            <a:pPr algn="r" indent="0" marL="0">
              <a:buNone/>
            </a:pPr>
            <a:r>
              <a:rPr lang="en-US" sz="1000" spc="100" kern="0" dirty="0">
                <a:solidFill>
                  <a:srgbClr val="B7AFA0"/>
                </a:solidFill>
                <a:latin typeface="JetBrains Mono Medium" pitchFamily="34" charset="0"/>
                <a:ea typeface="JetBrains Mono Medium" pitchFamily="34" charset="-122"/>
                <a:cs typeface="JetBrains Mono Medium" pitchFamily="34" charset="-120"/>
              </a:rPr>
              <a:t>17 / 17</a:t>
            </a:r>
            <a:endParaRPr lang="en-US" sz="1000" dirty="0"/>
          </a:p>
        </p:txBody>
      </p:sp>
      <p:sp>
        <p:nvSpPr>
          <p:cNvPr id="6" name="Text 3"/>
          <p:cNvSpPr txBox="1"/>
          <p:nvPr/>
        </p:nvSpPr>
        <p:spPr>
          <a:xfrm>
            <a:off x="548640" y="1280160"/>
            <a:ext cx="9875520" cy="2468880"/>
          </a:xfrm>
          <a:prstGeom prst="rect">
            <a:avLst/>
          </a:prstGeom>
          <a:noFill/>
          <a:ln/>
        </p:spPr>
        <p:txBody>
          <a:bodyPr wrap="square" lIns="0" tIns="0" rIns="0" bIns="0" rtlCol="0" anchor="t"/>
          <a:lstStyle/>
          <a:p>
            <a:pPr indent="0" marL="0">
              <a:lnSpc>
                <a:spcPct val="95000"/>
              </a:lnSpc>
              <a:buNone/>
            </a:pPr>
            <a:r>
              <a:rPr lang="en-US" sz="5000" dirty="0">
                <a:solidFill>
                  <a:srgbClr val="FAF7F2"/>
                </a:solidFill>
                <a:latin typeface="Poppins ExtraBold" pitchFamily="34" charset="0"/>
                <a:ea typeface="Poppins ExtraBold" pitchFamily="34" charset="-122"/>
                <a:cs typeface="Poppins ExtraBold" pitchFamily="34" charset="-120"/>
              </a:rPr>
              <a:t>So, what does a typical day look like for you?</a:t>
            </a:r>
            <a:endParaRPr lang="en-US" sz="5000" dirty="0"/>
          </a:p>
        </p:txBody>
      </p:sp>
      <p:sp>
        <p:nvSpPr>
          <p:cNvPr id="7" name="Text 4"/>
          <p:cNvSpPr txBox="1"/>
          <p:nvPr/>
        </p:nvSpPr>
        <p:spPr>
          <a:xfrm>
            <a:off x="548640" y="3977640"/>
            <a:ext cx="7315200" cy="457200"/>
          </a:xfrm>
          <a:prstGeom prst="rect">
            <a:avLst/>
          </a:prstGeom>
          <a:noFill/>
          <a:ln/>
        </p:spPr>
        <p:txBody>
          <a:bodyPr wrap="square" lIns="0" tIns="0" rIns="0" bIns="0" rtlCol="0" anchor="t"/>
          <a:lstStyle/>
          <a:p>
            <a:pPr indent="0" marL="0">
              <a:buNone/>
            </a:pPr>
            <a:r>
              <a:rPr lang="en-US" sz="2400" dirty="0">
                <a:solidFill>
                  <a:srgbClr val="F44904"/>
                </a:solidFill>
                <a:latin typeface="Poppins SemiBold" pitchFamily="34" charset="0"/>
                <a:ea typeface="Poppins SemiBold" pitchFamily="34" charset="-122"/>
                <a:cs typeface="Poppins SemiBold" pitchFamily="34" charset="-120"/>
              </a:rPr>
              <a:t>4–5 sentences. No help.</a:t>
            </a:r>
            <a:endParaRPr lang="en-US" sz="2400" dirty="0"/>
          </a:p>
        </p:txBody>
      </p:sp>
      <p:sp>
        <p:nvSpPr>
          <p:cNvPr id="8" name="Text 5"/>
          <p:cNvSpPr txBox="1"/>
          <p:nvPr/>
        </p:nvSpPr>
        <p:spPr>
          <a:xfrm>
            <a:off x="548640" y="6355080"/>
            <a:ext cx="7680960" cy="274320"/>
          </a:xfrm>
          <a:prstGeom prst="rect">
            <a:avLst/>
          </a:prstGeom>
          <a:noFill/>
          <a:ln/>
        </p:spPr>
        <p:txBody>
          <a:bodyPr wrap="square" lIns="0" tIns="0" rIns="0" bIns="0" rtlCol="0" anchor="t"/>
          <a:lstStyle/>
          <a:p>
            <a:pPr indent="0" marL="0">
              <a:buNone/>
            </a:pPr>
            <a:r>
              <a:rPr lang="en-US" sz="900" spc="120" kern="0" dirty="0">
                <a:solidFill>
                  <a:srgbClr val="B7AFA0"/>
                </a:solidFill>
                <a:latin typeface="JetBrains Mono Medium" pitchFamily="34" charset="0"/>
                <a:ea typeface="JetBrains Mono Medium" pitchFamily="34" charset="-122"/>
                <a:cs typeface="JetBrains Mono Medium" pitchFamily="34" charset="-120"/>
              </a:rPr>
              <a:t>NEXT TIME · HOW OFTEN DO YOU…? · ALWAYS · USUALLY · SOMETIMES · NEVER</a:t>
            </a:r>
            <a:endParaRPr lang="en-US" sz="900" dirty="0"/>
          </a:p>
        </p:txBody>
      </p:sp>
      <p:pic>
        <p:nvPicPr>
          <p:cNvPr id="9" name="Image 0" descr="Today">    </p:cNvPr>
          <p:cNvPicPr>
            <a:picLocks noChangeAspect="1"/>
          </p:cNvPicPr>
          <p:nvPr/>
        </p:nvPicPr>
        <p:blipFill>
          <a:blip r:embed="rId1"/>
          <a:stretch>
            <a:fillRect/>
          </a:stretch>
        </p:blipFill>
        <p:spPr>
          <a:xfrm>
            <a:off x="10771632" y="4983480"/>
            <a:ext cx="868680" cy="100405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Today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Typical Day — Today</dc:title>
  <dc:subject>PptxGenJS Presentation</dc:subject>
  <dc:creator>Today — Escola de Inglês</dc:creator>
  <cp:lastModifiedBy>Today — Escola de Inglês</cp:lastModifiedBy>
  <cp:revision>1</cp:revision>
  <dcterms:created xsi:type="dcterms:W3CDTF">2026-09-29T16:00:23Z</dcterms:created>
  <dcterms:modified xsi:type="dcterms:W3CDTF">2026-09-29T16:00:23Z</dcterms:modified>
</cp:coreProperties>
</file>