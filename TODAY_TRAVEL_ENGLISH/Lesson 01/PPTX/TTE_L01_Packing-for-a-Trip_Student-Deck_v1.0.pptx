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· Which bag? (0–5 min, together with slides 2–3)
Cover. Greet the class. Show the cover while students settle. Don't explain the lesson yet — slide 3 does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· Which bag? (0–5 min)
Read the Can-do together (15 seconds). Point at the four steps: "At the end of the lesson — My Travel Bag. Plan, check, decide, update." Don't explain further; students will see it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· Which bag? (0–5 min) · S–S
Aim: personalise; make the first decision.
1. Model once: "I'm going to Lisbon. Three days. Small bag!"
2. Students stand up / (online: breakout pairs) and ask 2 partners the three questions.
ICQs: "How many partners?" (2) "What do you ask?" (Where / How many days / Which bag)
3. Quick class check: "Who has a big bag? Why?" — accept one-word reasons.
Suitcase / backpack are recognition words: don't drill.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· What's on the bed? (5–14 min) · S–S → T–S
Aim: activate and clarify the 14 core items (+ 4 weather words on slide 6).
1. Pairs: name as many things as possible in 60 seconds (point + say the number). (1 min)
ICQ: "Write or speak?" (speak) "How long?" (60 seconds)
2. Elicit item by item using numbers; move to slides 5–6 to show words. Elicit before telling.
Help language: "What's this in English?"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· What's on the bed? (continued)
Clarify meaning with the pictures, then drill only the problem words: clothes, sweater, trousers, swimsuit.
Point to the small words (a / an): say the chunk, e.g. "a sweater", "shorts". No grammar explanation.
Variant: trousers = pants (US). Both are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· What's on the bed? (continued)
Weather words: elicit with the icons. Model "It's sunny." / "It's cold at night."
Weather items 10–14: note "sunglasses" and "sunscreen" have no "a" — just say the chunk, don't explain.
Pairs test each other: A points, B names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· Always or it depends? (14–19 min) · S–S
Aim: first sorting decision — essentials vs. weather/trip-dependent items.
1. Pairs sort the 14 cards (in class) or drag the small pictures into the two boxes (online, shared slide). (3 min)
ICQ: "How many groups?" (2)
2. Class check (2 min): "It depends… on what?" → "the weather", "the trip". Accept different answers — there is no single key (passport and phone charger are usually ALWAYS).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4 · Leo's Call (19–31 min) · Pre-listening (3 min)
Aim: create a reason to listen; predict.
"Leo is going to Madrid. This is his bag — his first idea. Good bag?" Pairs predict (1 min), then 2–3 students share.
Don't confirm answers — the audio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4 · Leo's Call · First listening (3 min) · AUDIO: TTE_L01_A01_Leos-Call_v1.0.mp3 (0:58)
Aim: gist — destination, days, weather, activities.
Read the 4 questions first. Play once. Pairs check.
ICQs: "How many activities do you tick?" (2)
ANSWERS: 1 Madrid · 2 four days · 3 day: sunny / night: cold · 4 walk, swim.
(If needed, play again before moving 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4 · Leo's Call · Second listening (4 min) · AUDIO: TTE_L01_A01_Leos-Call_v1.0.mp3 (same file)
Aim: detail — track Leo's packing decisions.
Play again. Students tick TAKING or NOT TAKING for each thing. Pairs compare (1 min). Then slide 11.
ANSWERS: taking — trousers, jacket, shoes, swimsuit, sunscreen, sunglasses · not taking — shorts, umbrella.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4 · Leo's Call · Check (2 min)
Show only after pairs have compared. Then ask: "What changed? Why?" Let students answer before you point to the bottom line.
This is the model for the whole lesson: new information → a new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5 · Decision language (31–37 min) · Gap-fill (2 min)
Aim: notice the target chunks in Leo's own words.
Students complete individually (1 min), check in pairs.
ANSWERS: 1 going · 2 not · 3 taking · 4 need.
Optional: go back to slide 10 and play the audio once more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5 · Decision language · Meaning + pairs (4 min)
CCQs — point to row 3: "Is the jacket in the bag?" (yes) Row 4: "Are the shorts in the bag?" (no) Row 2: "Shoes — important for Leo?" (yes).
No grammar metalanguage; "I'm going to Madrid" is a fixed chunk.
Pairs (2 min): A points to a picture on slide 5–6 (or a card); B decides and says "I'm taking…" / "I'm not taking…".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6 · Say it (37–43 min) · T–S → S–S
AUDIO: A02 I need sunscreen · A03 I'm taking a swimsuit · A04 I'm not taking shorts (cut from Leo's Call).
1. Play each clip twice (1 min). 2. Students notice: orange = strong beats (1 min).
3. Backchain (2 min): a jacket → need a jacket → I need a jacket. Tap the beat lightly on the table.
Focus: keep the /m/ in I'm; NOT is strong in "I'm NOT taking".
4. Then slide 15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6 · Say it · Transfer (2 min) · S–S
A points to a tile. B decides fast and says it with the right stress. Swap after 6 turns.
Online: teacher calls a tile number, a named student answers, then nominates the next student.
Listen for: strong NOT, the /m/ in I'm.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7 · Change the weather (43–50 min) · S–S
Aim: guided practice — change a decision when new information arrives (like Leo).
Set-up with a demo pair (1 min). A chooses 3 things. B chooses a WEATHER CARD 1–4 (print materials p.4) and does NOT show A.
Round 1 (3 min), swap roles (3 min). A must change at least 2 things.
ICQs: "B, do you show your card?" (no) "A, how many changes?" (2)
Online: B privately picks a number; teacher sends the card text in private chat.
Monitor: note 2 good examples + 3 errors for delayed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8 · One bag, ten things (50–66 min = 16 min)
01 Think alone (2) · 02 Compare and agree (5) · 03 New information (3) · 04 Bag reveal to another pair (4) · Content feedback (2)
Materials: trip cards (slide 18 / print p.3), item cards (print p.1) or slide 19, bag template (print p.2), twist cards (slide 20 / print p.4).
Set-up: give each pair ONE trip card. "You are travelling together. One small bag. Ten things — passport and charger count!"
ICQs: "How many bags?" (one) "How many things?" (10) "Passport — in the 10?" (yes)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8 · One bag, ten things · Trip cards
Give each pair one trip (A–D). Two pairs can share a trip — then compare their decisions in step 04.
Forecasts are "this week" only — not a rule about the country. Snowy and windy are recognition words: point to the icon.
1-to-1: teacher and student share one trip; the teacher's secret bag has 2 strange choices (e.g. a swimsuit for Sapporo).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8 · One bag, ten things · Item bank (optional slide for online / 1-to-1)
Online: open the deck in edit mode on a shared screen (or give each pair a copy of this slide). Students drag or copy pictures into the 10 boxes.
Zero-tech alternative: students type their 10 things in the chat.
"Also in the shop" items are recognition only — students may pack them, but don't teach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8 · One bag, ten things · 03 New information (3 min), then 04 Bag reveal (4 min), then content feedback (2 min)
Give each pair ONE card number (in class: hand out the printed card). Pairs re-decide.
Card 3: present it as a possible local rule — "check the local dress rules". Don't link it to one country or religion.
Bag reveal: each pair tells another pair about its final bag in 3–4 sentences, including the change. The other pair asks one question.
Content feedback (2 min): "Which pair is ready for rain? Who changed their bag?" + one language point to reuse in the final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9 · Travel Note: it depends (66–70 min) · S–S
1 min: students read the three notes (help with "forecast", "dress rules", "plugs" by pointing).
3 min: pairs answer "A visitor to your country: what do they need?" — "In Brazil, you need sunscreen."
Frame everything as "check before you go". Rules are different in different places; avoid generalisations about any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10 · My Travel Bag (70–86 min = 16 min): Plan 3 · Check 1 5 · Decide &amp; update 1 · Check 2 5 · Decide &amp; update 1 · One change 1
PLAN (3 min): each student chooses a real next trip, a dream trip, or a trip card, and completes the My Travel Bag card (print p.5; online: copy the card into a document or the chat).
ICQs: "How many things are you taking?" (5 or more) "How many things are you NOT taking?" (1 or more)
Teacher: monitor silently; help only with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10 · CHECK — Round 1 (5 min, about 2.5 min each way), Round 2 with a NEW partner (5 min)
The checker's job: ask at least 1 question and make 1 useful suggestion (add / remove / change) with a reason.
Model the example with a strong student first (30 seconds).
ICQs: "Checker — how many questions?" (1 or more) "How many suggestions?" (1) "Traveller — must you say yes?" (no)
Teacher: silent monitor with the assessment grid (lesson plan, appendix). Don't interrupt.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10 · DECIDE &amp; UPDATE (1 min after each round) + ONE CHANGE (1 min at the end)
The traveller decides: accept or decline — both are fine if there is a reason. Write the change in CHANGES.
End: 2–3 students tell the class one change: "I'm taking a jacket now. It's cold at night."
Assess with the checklist: every traveller box + every checker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11 · Feedback, Can-do check, Toolkit (86–90 min)
Delayed feedback (3 min): content first ("Who changed their bag? Why?"), then write 2 good examples under GREAT LANGUAGE and 3 errors under LET'S FIX — students self-correct in pairs.
Likely errors: "I taking" → I'm taking · "I need umbrella" → I need an umbrella · "I'm going in Lisbon" → I'm going to Lisbon.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11 · Can-do check (under 1 min). Students tick silently. Point to the Toolkit (slides 27–28 / Toolkit PDF) as the take-home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Toolkit (take-home). Same content as the Toolkit PDF. No teaching needed — point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Toolkit (take-home), page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audio" Target="../media/media-9-9.mp3"/><Relationship Id="rId10" Type="http://schemas.microsoft.com/office/2007/relationships/media" Target="../media/media-9-9.mp3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audio" Target="../media/media-10-27.mp3"/><Relationship Id="rId28" Type="http://schemas.microsoft.com/office/2007/relationships/media" Target="../media/media-10-27.mp3"/><Relationship Id="rId29" Type="http://schemas.openxmlformats.org/officeDocument/2006/relationships/image" Target="../media/image-10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4-1.mp3"/><Relationship Id="rId2" Type="http://schemas.microsoft.com/office/2007/relationships/media" Target="../media/media-14-1.mp3"/><Relationship Id="rId3" Type="http://schemas.openxmlformats.org/officeDocument/2006/relationships/image" Target="../media/image-14-3.png"/><Relationship Id="rId4" Type="http://schemas.openxmlformats.org/officeDocument/2006/relationships/audio" Target="../media/media-14-4.mp3"/><Relationship Id="rId5" Type="http://schemas.microsoft.com/office/2007/relationships/media" Target="../media/media-14-4.mp3"/><Relationship Id="rId6" Type="http://schemas.openxmlformats.org/officeDocument/2006/relationships/image" Target="../media/image-14-6.png"/><Relationship Id="rId7" Type="http://schemas.openxmlformats.org/officeDocument/2006/relationships/audio" Target="../media/media-14-7.mp3"/><Relationship Id="rId8" Type="http://schemas.microsoft.com/office/2007/relationships/media" Target="../media/media-14-7.mp3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LESSON 01 · A1 · 90 MINUTES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00200"/>
            <a:ext cx="6766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0" b="1" dirty="0">
                <a:solidFill>
                  <a:srgbClr val="FAF7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Packing</a:t>
            </a:r>
            <a:endParaRPr lang="en-US" sz="76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600" b="1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a trip.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43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AF7F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Travel English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Choose. Decide. Pack.</a:t>
            </a:r>
            <a:endParaRPr lang="en-US" sz="1300" dirty="0"/>
          </a:p>
        </p:txBody>
      </p:sp>
      <p:pic>
        <p:nvPicPr>
          <p:cNvPr id="7" name="Image 0" descr="To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06440"/>
            <a:ext cx="1088136" cy="411480"/>
          </a:xfrm>
          <a:prstGeom prst="rect">
            <a:avLst/>
          </a:prstGeom>
        </p:spPr>
      </p:pic>
      <p:pic>
        <p:nvPicPr>
          <p:cNvPr id="8" name="Image 1" descr="pass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005840"/>
            <a:ext cx="1234440" cy="1234440"/>
          </a:xfrm>
          <a:prstGeom prst="rect">
            <a:avLst/>
          </a:prstGeom>
        </p:spPr>
      </p:pic>
      <p:pic>
        <p:nvPicPr>
          <p:cNvPr id="9" name="Image 2" descr="sunglas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868680"/>
            <a:ext cx="1234440" cy="1234440"/>
          </a:xfrm>
          <a:prstGeom prst="rect">
            <a:avLst/>
          </a:prstGeom>
        </p:spPr>
      </p:pic>
      <p:pic>
        <p:nvPicPr>
          <p:cNvPr id="10" name="Image 3" descr="tshi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2148840"/>
            <a:ext cx="1234440" cy="1234440"/>
          </a:xfrm>
          <a:prstGeom prst="rect">
            <a:avLst/>
          </a:prstGeom>
        </p:spPr>
      </p:pic>
      <p:pic>
        <p:nvPicPr>
          <p:cNvPr id="11" name="Image 4" descr="sun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926080"/>
            <a:ext cx="1234440" cy="1234440"/>
          </a:xfrm>
          <a:prstGeom prst="rect">
            <a:avLst/>
          </a:prstGeom>
        </p:spPr>
      </p:pic>
      <p:pic>
        <p:nvPicPr>
          <p:cNvPr id="12" name="Image 5" descr="sho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3246120"/>
            <a:ext cx="1234440" cy="1234440"/>
          </a:xfrm>
          <a:prstGeom prst="rect">
            <a:avLst/>
          </a:prstGeom>
        </p:spPr>
      </p:pic>
      <p:pic>
        <p:nvPicPr>
          <p:cNvPr id="13" name="Image 6" descr="umbrell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4434840"/>
            <a:ext cx="1234440" cy="1234440"/>
          </a:xfrm>
          <a:prstGeom prst="rect">
            <a:avLst/>
          </a:prstGeom>
        </p:spPr>
      </p:pic>
      <p:pic>
        <p:nvPicPr>
          <p:cNvPr id="14" name="Image 7" descr="swimsui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475488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YOUR GOAL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can talk about what I need to take on a trip and make a simple packing list.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 TASK · MY TRAVEL BAG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97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bag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788920" y="4389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4297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partner’s bag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623560" y="4389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297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Decide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yes or no?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458200" y="4389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4297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list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1 · WARM-UP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1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next trip. Which bag?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3246120" cy="361188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9" name="Shape 6"/>
          <p:cNvSpPr/>
          <p:nvPr/>
        </p:nvSpPr>
        <p:spPr>
          <a:xfrm>
            <a:off x="4023360" y="1783080"/>
            <a:ext cx="3246120" cy="3611880"/>
          </a:xfrm>
          <a:prstGeom prst="rect">
            <a:avLst/>
          </a:prstGeom>
          <a:solidFill>
            <a:srgbClr val="F3EFE6"/>
          </a:solidFill>
          <a:ln/>
        </p:spPr>
      </p:sp>
      <p:pic>
        <p:nvPicPr>
          <p:cNvPr id="10" name="Image 0" descr="suitc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03120"/>
            <a:ext cx="1600200" cy="1600200"/>
          </a:xfrm>
          <a:prstGeom prst="rect">
            <a:avLst/>
          </a:prstGeom>
        </p:spPr>
      </p:pic>
      <p:pic>
        <p:nvPicPr>
          <p:cNvPr id="11" name="Image 1" descr="backp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03120"/>
            <a:ext cx="1600200" cy="1600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 bag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429768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 bag</a:t>
            </a:r>
            <a:endParaRPr lang="en-US" sz="28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SUITCASE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29768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BACKPACK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781812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 2 PARTNERS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21945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are you going?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many days?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bag?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781812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818120" y="42062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going to 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Four days.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Small bag!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WORDS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bed?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Pairs: name everything you can.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8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0B14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SECONDS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HELP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440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What's this in English?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892040" y="457200"/>
            <a:ext cx="6748272" cy="5760720"/>
          </a:xfrm>
          <a:prstGeom prst="rect">
            <a:avLst/>
          </a:prstGeom>
          <a:solidFill>
            <a:srgbClr val="F3EFE6"/>
          </a:solidFill>
          <a:ln/>
        </p:spPr>
      </p:sp>
      <p:pic>
        <p:nvPicPr>
          <p:cNvPr id="13" name="Image 0" descr="pass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86868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7800" y="1856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pic>
        <p:nvPicPr>
          <p:cNvPr id="15" name="Image 1" descr="phone charg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6868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19672" y="1856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pic>
        <p:nvPicPr>
          <p:cNvPr id="17" name="Image 2" descr="tshi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868680"/>
            <a:ext cx="914400" cy="9144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81544" y="1856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3" descr="shor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868680"/>
            <a:ext cx="914400" cy="9144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43416" y="1856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pic>
        <p:nvPicPr>
          <p:cNvPr id="21" name="Image 4" descr="tro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8" y="868680"/>
            <a:ext cx="914400" cy="9144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305288" y="1856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  <p:pic>
        <p:nvPicPr>
          <p:cNvPr id="23" name="Image 5" descr="swea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456" y="2697480"/>
            <a:ext cx="914400" cy="9144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888736" y="3685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  <p:pic>
        <p:nvPicPr>
          <p:cNvPr id="25" name="Image 6" descr="jack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328" y="2697480"/>
            <a:ext cx="914400" cy="9144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150608" y="3685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200" dirty="0"/>
          </a:p>
        </p:txBody>
      </p:sp>
      <p:pic>
        <p:nvPicPr>
          <p:cNvPr id="27" name="Image 7" descr="sho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2697480"/>
            <a:ext cx="914400" cy="91440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412480" y="3685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  <p:pic>
        <p:nvPicPr>
          <p:cNvPr id="29" name="Image 8" descr="swimsui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0072" y="2697480"/>
            <a:ext cx="914400" cy="91440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9674352" y="3685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  <p:pic>
        <p:nvPicPr>
          <p:cNvPr id="31" name="Image 9" descr="umbrell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4526280"/>
            <a:ext cx="914400" cy="9144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5257800" y="5513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  <p:pic>
        <p:nvPicPr>
          <p:cNvPr id="33" name="Image 10" descr="raincoa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392" y="4526280"/>
            <a:ext cx="914400" cy="9144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519672" y="5513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  <p:pic>
        <p:nvPicPr>
          <p:cNvPr id="35" name="Image 11" descr="sunglasse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7264" y="4526280"/>
            <a:ext cx="914400" cy="91440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781544" y="5513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  <p:pic>
        <p:nvPicPr>
          <p:cNvPr id="37" name="Image 12" descr="sunscree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9136" y="4526280"/>
            <a:ext cx="914400" cy="91440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043416" y="5513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  <p:pic>
        <p:nvPicPr>
          <p:cNvPr id="39" name="Image 13" descr="ha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51008" y="4526280"/>
            <a:ext cx="914400" cy="914400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10305288" y="5513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WORDS · 01–09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Essentials and clothes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ESSENTIALS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CLOTHES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63240" y="1737360"/>
            <a:ext cx="0" cy="438912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pic>
        <p:nvPicPr>
          <p:cNvPr id="10" name="Image 0" descr="pass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960120" cy="960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819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172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passport</a:t>
            </a:r>
            <a:endParaRPr lang="en-US" sz="2200" dirty="0"/>
          </a:p>
        </p:txBody>
      </p:sp>
      <p:pic>
        <p:nvPicPr>
          <p:cNvPr id="13" name="Image 1" descr="phone charg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0"/>
            <a:ext cx="960120" cy="9601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81912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276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phone charger</a:t>
            </a:r>
            <a:endParaRPr lang="en-US" sz="2200" dirty="0"/>
          </a:p>
        </p:txBody>
      </p:sp>
      <p:pic>
        <p:nvPicPr>
          <p:cNvPr id="16" name="Image 2" descr="tshi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103120"/>
            <a:ext cx="960120" cy="9601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6227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3429000" y="3172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T-shirt</a:t>
            </a:r>
            <a:endParaRPr lang="en-US" sz="2200" dirty="0"/>
          </a:p>
        </p:txBody>
      </p:sp>
      <p:pic>
        <p:nvPicPr>
          <p:cNvPr id="19" name="Image 3" descr="shor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103120"/>
            <a:ext cx="960120" cy="9601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56539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5532120" y="3172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shorts</a:t>
            </a:r>
            <a:endParaRPr lang="en-US" sz="2200" dirty="0"/>
          </a:p>
        </p:txBody>
      </p:sp>
      <p:pic>
        <p:nvPicPr>
          <p:cNvPr id="22" name="Image 4" descr="tro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103120"/>
            <a:ext cx="960120" cy="9601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668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7635240" y="3172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trousers</a:t>
            </a:r>
            <a:endParaRPr lang="en-US" sz="2200" dirty="0"/>
          </a:p>
        </p:txBody>
      </p:sp>
      <p:sp>
        <p:nvSpPr>
          <p:cNvPr id="25" name="Text 17"/>
          <p:cNvSpPr txBox="1"/>
          <p:nvPr/>
        </p:nvSpPr>
        <p:spPr>
          <a:xfrm>
            <a:off x="76352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US: pants</a:t>
            </a:r>
            <a:endParaRPr lang="en-US" sz="1100" dirty="0"/>
          </a:p>
        </p:txBody>
      </p:sp>
      <p:pic>
        <p:nvPicPr>
          <p:cNvPr id="26" name="Image 5" descr="swea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2103120"/>
            <a:ext cx="960120" cy="9601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77163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9738360" y="3172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sweater</a:t>
            </a:r>
            <a:endParaRPr lang="en-US" sz="2200" dirty="0"/>
          </a:p>
        </p:txBody>
      </p:sp>
      <p:pic>
        <p:nvPicPr>
          <p:cNvPr id="29" name="Image 6" descr="jack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4206240"/>
            <a:ext cx="960120" cy="9601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462272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3429000" y="5276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jacket</a:t>
            </a:r>
            <a:endParaRPr lang="en-US" sz="2200" dirty="0"/>
          </a:p>
        </p:txBody>
      </p:sp>
      <p:pic>
        <p:nvPicPr>
          <p:cNvPr id="32" name="Image 7" descr="sho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4206240"/>
            <a:ext cx="960120" cy="96012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565392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532120" y="5276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shoes</a:t>
            </a:r>
            <a:endParaRPr lang="en-US" sz="2200" dirty="0"/>
          </a:p>
        </p:txBody>
      </p:sp>
      <p:pic>
        <p:nvPicPr>
          <p:cNvPr id="35" name="Image 8" descr="swimsui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4206240"/>
            <a:ext cx="960120" cy="96012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668512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7635240" y="5276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swimsuit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WORDS · 10–14 · WEATHER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weather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WEATHER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WEATHER ITEMS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0" cy="438912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pic>
        <p:nvPicPr>
          <p:cNvPr id="10" name="Image 0" descr="sun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sunny</a:t>
            </a:r>
            <a:endParaRPr lang="en-US" sz="2200" dirty="0"/>
          </a:p>
        </p:txBody>
      </p:sp>
      <p:pic>
        <p:nvPicPr>
          <p:cNvPr id="12" name="Image 1" descr="rain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103120"/>
            <a:ext cx="914400" cy="914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37744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rainy</a:t>
            </a:r>
            <a:endParaRPr lang="en-US" sz="2200" dirty="0"/>
          </a:p>
        </p:txBody>
      </p:sp>
      <p:pic>
        <p:nvPicPr>
          <p:cNvPr id="14" name="Image 2" descr="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914400" cy="914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8640" y="4937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hot</a:t>
            </a:r>
            <a:endParaRPr lang="en-US" sz="2200" dirty="0"/>
          </a:p>
        </p:txBody>
      </p:sp>
      <p:pic>
        <p:nvPicPr>
          <p:cNvPr id="16" name="Image 3" descr="co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931920"/>
            <a:ext cx="914400" cy="9144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377440" y="4937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cold</a:t>
            </a:r>
            <a:endParaRPr lang="en-US" sz="22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5760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It's </a:t>
            </a:r>
            <a:pPr indent="0" marL="0">
              <a:buNone/>
            </a:pPr>
            <a:r>
              <a:rPr lang="en-US" sz="2200" b="1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sunny</a:t>
            </a:r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2200" dirty="0"/>
          </a:p>
        </p:txBody>
      </p:sp>
      <p:pic>
        <p:nvPicPr>
          <p:cNvPr id="19" name="Image 4" descr="umbrell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103120"/>
            <a:ext cx="960120" cy="9601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6967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4663440" y="3172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umbrella</a:t>
            </a:r>
            <a:endParaRPr lang="en-US" sz="2200" dirty="0"/>
          </a:p>
        </p:txBody>
      </p:sp>
      <p:pic>
        <p:nvPicPr>
          <p:cNvPr id="22" name="Image 5" descr="rainco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2103120"/>
            <a:ext cx="960120" cy="9601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02843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6995160" y="3172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raincoat</a:t>
            </a:r>
            <a:endParaRPr lang="en-US" sz="2200" dirty="0"/>
          </a:p>
        </p:txBody>
      </p:sp>
      <p:pic>
        <p:nvPicPr>
          <p:cNvPr id="25" name="Image 6" descr="sunglass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103120"/>
            <a:ext cx="960120" cy="9601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36015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9326880" y="3172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sunglasses</a:t>
            </a:r>
            <a:endParaRPr lang="en-US" sz="2200" dirty="0"/>
          </a:p>
        </p:txBody>
      </p:sp>
      <p:pic>
        <p:nvPicPr>
          <p:cNvPr id="28" name="Image 7" descr="sunscree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4206240"/>
            <a:ext cx="960120" cy="96012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696712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4663440" y="5276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sunscreen</a:t>
            </a:r>
            <a:endParaRPr lang="en-US" sz="2200" dirty="0"/>
          </a:p>
        </p:txBody>
      </p:sp>
      <p:pic>
        <p:nvPicPr>
          <p:cNvPr id="31" name="Image 8" descr="ha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4206240"/>
            <a:ext cx="960120" cy="96012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028432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6995160" y="5276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2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 — or it depends?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40680" cy="306324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9" name="Shape 6"/>
          <p:cNvSpPr/>
          <p:nvPr/>
        </p:nvSpPr>
        <p:spPr>
          <a:xfrm>
            <a:off x="6199632" y="1691640"/>
            <a:ext cx="5440680" cy="306324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my bag, every trip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depends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519672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 the weather? on the trip?</a:t>
            </a:r>
            <a:endParaRPr lang="en-US" sz="1800" dirty="0"/>
          </a:p>
        </p:txBody>
      </p:sp>
      <p:pic>
        <p:nvPicPr>
          <p:cNvPr id="14" name="Image 0" descr="pass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983480"/>
            <a:ext cx="603504" cy="603504"/>
          </a:xfrm>
          <a:prstGeom prst="rect">
            <a:avLst/>
          </a:prstGeom>
        </p:spPr>
      </p:pic>
      <p:pic>
        <p:nvPicPr>
          <p:cNvPr id="15" name="Image 1" descr="phone charg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911" y="4983480"/>
            <a:ext cx="603504" cy="603504"/>
          </a:xfrm>
          <a:prstGeom prst="rect">
            <a:avLst/>
          </a:prstGeom>
        </p:spPr>
      </p:pic>
      <p:pic>
        <p:nvPicPr>
          <p:cNvPr id="16" name="Image 2" descr="tshi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182" y="4983480"/>
            <a:ext cx="603504" cy="603504"/>
          </a:xfrm>
          <a:prstGeom prst="rect">
            <a:avLst/>
          </a:prstGeom>
        </p:spPr>
      </p:pic>
      <p:pic>
        <p:nvPicPr>
          <p:cNvPr id="17" name="Image 3" descr="shor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454" y="4983480"/>
            <a:ext cx="603504" cy="603504"/>
          </a:xfrm>
          <a:prstGeom prst="rect">
            <a:avLst/>
          </a:prstGeom>
        </p:spPr>
      </p:pic>
      <p:pic>
        <p:nvPicPr>
          <p:cNvPr id="18" name="Image 4" descr="tro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725" y="4983480"/>
            <a:ext cx="603504" cy="603504"/>
          </a:xfrm>
          <a:prstGeom prst="rect">
            <a:avLst/>
          </a:prstGeom>
        </p:spPr>
      </p:pic>
      <p:pic>
        <p:nvPicPr>
          <p:cNvPr id="19" name="Image 5" descr="swea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996" y="4983480"/>
            <a:ext cx="603504" cy="603504"/>
          </a:xfrm>
          <a:prstGeom prst="rect">
            <a:avLst/>
          </a:prstGeom>
        </p:spPr>
      </p:pic>
      <p:pic>
        <p:nvPicPr>
          <p:cNvPr id="20" name="Image 6" descr="jack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8267" y="4983480"/>
            <a:ext cx="603504" cy="603504"/>
          </a:xfrm>
          <a:prstGeom prst="rect">
            <a:avLst/>
          </a:prstGeom>
        </p:spPr>
      </p:pic>
      <p:pic>
        <p:nvPicPr>
          <p:cNvPr id="21" name="Image 7" descr="sho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6538" y="4983480"/>
            <a:ext cx="603504" cy="603504"/>
          </a:xfrm>
          <a:prstGeom prst="rect">
            <a:avLst/>
          </a:prstGeom>
        </p:spPr>
      </p:pic>
      <p:pic>
        <p:nvPicPr>
          <p:cNvPr id="22" name="Image 8" descr="swimsui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4810" y="4983480"/>
            <a:ext cx="603504" cy="603504"/>
          </a:xfrm>
          <a:prstGeom prst="rect">
            <a:avLst/>
          </a:prstGeom>
        </p:spPr>
      </p:pic>
      <p:pic>
        <p:nvPicPr>
          <p:cNvPr id="23" name="Image 9" descr="umbrell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3081" y="4983480"/>
            <a:ext cx="603504" cy="603504"/>
          </a:xfrm>
          <a:prstGeom prst="rect">
            <a:avLst/>
          </a:prstGeom>
        </p:spPr>
      </p:pic>
      <p:pic>
        <p:nvPicPr>
          <p:cNvPr id="24" name="Image 10" descr="raincoa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1352" y="4983480"/>
            <a:ext cx="603504" cy="603504"/>
          </a:xfrm>
          <a:prstGeom prst="rect">
            <a:avLst/>
          </a:prstGeom>
        </p:spPr>
      </p:pic>
      <p:pic>
        <p:nvPicPr>
          <p:cNvPr id="25" name="Image 11" descr="sunglasse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9623" y="4983480"/>
            <a:ext cx="603504" cy="603504"/>
          </a:xfrm>
          <a:prstGeom prst="rect">
            <a:avLst/>
          </a:prstGeom>
        </p:spPr>
      </p:pic>
      <p:pic>
        <p:nvPicPr>
          <p:cNvPr id="26" name="Image 12" descr="sunscree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7894" y="4983480"/>
            <a:ext cx="603504" cy="603504"/>
          </a:xfrm>
          <a:prstGeom prst="rect">
            <a:avLst/>
          </a:prstGeom>
        </p:spPr>
      </p:pic>
      <p:pic>
        <p:nvPicPr>
          <p:cNvPr id="27" name="Image 13" descr="ha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26166" y="4983480"/>
            <a:ext cx="603504" cy="603504"/>
          </a:xfrm>
          <a:prstGeom prst="rect">
            <a:avLst/>
          </a:prstGeom>
        </p:spPr>
      </p:pic>
      <p:sp>
        <p:nvSpPr>
          <p:cNvPr id="28" name="Text 11"/>
          <p:cNvSpPr txBox="1"/>
          <p:nvPr/>
        </p:nvSpPr>
        <p:spPr>
          <a:xfrm>
            <a:off x="548640" y="5760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PAIRS · SORT THE 14 THINGS · ONLINE: DRAG THEM INTO A BOX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3 · LISTEN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3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 is going to Madrid.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This is his bag. Good bag?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6583680" cy="356616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LEO'S BAG · FIRST IDEA</a:t>
            </a:r>
            <a:endParaRPr lang="en-US" sz="1200" dirty="0"/>
          </a:p>
        </p:txBody>
      </p:sp>
      <p:pic>
        <p:nvPicPr>
          <p:cNvPr id="11" name="Image 0" descr="tshi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1417320" cy="1417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0120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T-shirts</a:t>
            </a:r>
            <a:endParaRPr lang="en-US" sz="2200" dirty="0"/>
          </a:p>
        </p:txBody>
      </p:sp>
      <p:pic>
        <p:nvPicPr>
          <p:cNvPr id="13" name="Image 1" descr="sho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971800"/>
            <a:ext cx="1417320" cy="1417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63240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shorts</a:t>
            </a:r>
            <a:endParaRPr lang="en-US" sz="2200" dirty="0"/>
          </a:p>
        </p:txBody>
      </p:sp>
      <p:pic>
        <p:nvPicPr>
          <p:cNvPr id="15" name="Image 2" descr="sunglas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971800"/>
            <a:ext cx="1417320" cy="1417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166360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sunglasses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Predict.</a:t>
            </a:r>
            <a:endParaRPr lang="en-US" sz="3200" dirty="0"/>
          </a:p>
        </p:txBody>
      </p:sp>
      <p:sp>
        <p:nvSpPr>
          <p:cNvPr id="18" name="Text 12"/>
          <p:cNvSpPr txBox="1"/>
          <p:nvPr/>
        </p:nvSpPr>
        <p:spPr>
          <a:xfrm>
            <a:off x="7680960" y="29718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Good bag? Yes or no?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does Leo need?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7680960" y="4206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Tell a partner.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LISTEN ·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3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Leo's Call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LISTEN AND ANSWER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105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  </a:t>
            </a:r>
            <a:pPr indent="0" marL="0">
              <a:buNone/>
            </a:pPr>
            <a:r>
              <a:rPr lang="en-US" sz="24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is Leo going?  </a:t>
            </a:r>
            <a:pPr indent="0" marL="0">
              <a:buNone/>
            </a:pPr>
            <a:r>
              <a:rPr lang="en-US" sz="24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  </a:t>
            </a:r>
            <a:pPr indent="0" marL="0">
              <a:buNone/>
            </a:pPr>
            <a:r>
              <a:rPr lang="en-US" sz="24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many days?  </a:t>
            </a:r>
            <a:pPr indent="0" marL="0">
              <a:buNone/>
            </a:pPr>
            <a:r>
              <a:rPr lang="en-US" sz="24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  </a:t>
            </a:r>
            <a:pPr indent="0" marL="0">
              <a:buNone/>
            </a:pPr>
            <a:r>
              <a:rPr lang="en-US" sz="24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weather?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898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NIGHT</a:t>
            </a:r>
            <a:endParaRPr lang="en-US" sz="1100" dirty="0"/>
          </a:p>
        </p:txBody>
      </p:sp>
      <p:pic>
        <p:nvPicPr>
          <p:cNvPr id="14" name="Image 0" descr="sun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154680"/>
            <a:ext cx="731520" cy="7315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160520" y="3959352"/>
            <a:ext cx="274320" cy="274320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16" name="Image 1" descr="rain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154680"/>
            <a:ext cx="731520" cy="7315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257800" y="3959352"/>
            <a:ext cx="274320" cy="274320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18" name="Image 2" descr="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54680"/>
            <a:ext cx="731520" cy="7315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812280" y="3959352"/>
            <a:ext cx="274320" cy="274320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20" name="Image 3" descr="co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154680"/>
            <a:ext cx="731520" cy="73152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909560" y="3959352"/>
            <a:ext cx="274320" cy="274320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48640" y="4617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  </a:t>
            </a:r>
            <a:pPr indent="0" marL="0">
              <a:buNone/>
            </a:pPr>
            <a:r>
              <a:rPr lang="en-US" sz="24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Activities? Tick 2.</a:t>
            </a:r>
            <a:endParaRPr lang="en-US" sz="2400" dirty="0"/>
          </a:p>
        </p:txBody>
      </p:sp>
      <p:pic>
        <p:nvPicPr>
          <p:cNvPr id="23" name="Image 4" descr="wal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4480560"/>
            <a:ext cx="731520" cy="7315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31920" y="52303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walk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4160520" y="5577840"/>
            <a:ext cx="274320" cy="274320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26" name="Image 5" descr="swi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4480560"/>
            <a:ext cx="731520" cy="7315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349240" y="52303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swim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5577840" y="5577840"/>
            <a:ext cx="274320" cy="274320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29" name="Image 6" descr="hik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4480560"/>
            <a:ext cx="731520" cy="7315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766560" y="52303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hike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6995160" y="5577840"/>
            <a:ext cx="274320" cy="274320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32" name="Image 7" descr="museum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4480560"/>
            <a:ext cx="731520" cy="73152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183880" y="52303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museum</a:t>
            </a:r>
            <a:endParaRPr lang="en-US" sz="1600" dirty="0"/>
          </a:p>
        </p:txBody>
      </p:sp>
      <p:sp>
        <p:nvSpPr>
          <p:cNvPr id="34" name="Shape 23"/>
          <p:cNvSpPr/>
          <p:nvPr/>
        </p:nvSpPr>
        <p:spPr>
          <a:xfrm>
            <a:off x="8412480" y="5577840"/>
            <a:ext cx="274320" cy="274320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378440" y="1417320"/>
            <a:ext cx="1097280" cy="109728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1014984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AUDIO · 0:58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LISTEN ·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3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Taking or not taking?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Listen again. Tick one box for each thing.</a:t>
            </a:r>
            <a:endParaRPr lang="en-US" sz="2000" dirty="0"/>
          </a:p>
        </p:txBody>
      </p:sp>
      <p:pic>
        <p:nvPicPr>
          <p:cNvPr id="9" name="Image 0" descr="sho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868680" cy="868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shorts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1600200" y="210312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075688"/>
            <a:ext cx="384048" cy="38404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600200" y="256032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14" name="Image 2" descr="cro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532888"/>
            <a:ext cx="384048" cy="384048"/>
          </a:xfrm>
          <a:prstGeom prst="rect">
            <a:avLst/>
          </a:prstGeom>
        </p:spPr>
      </p:pic>
      <p:pic>
        <p:nvPicPr>
          <p:cNvPr id="15" name="Image 3" descr="tro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057400"/>
            <a:ext cx="868680" cy="8686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01752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trousers</a:t>
            </a:r>
            <a:endParaRPr lang="en-US" sz="2000" dirty="0"/>
          </a:p>
        </p:txBody>
      </p:sp>
      <p:sp>
        <p:nvSpPr>
          <p:cNvPr id="17" name="Shape 10"/>
          <p:cNvSpPr/>
          <p:nvPr/>
        </p:nvSpPr>
        <p:spPr>
          <a:xfrm>
            <a:off x="4069080" y="210312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18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075688"/>
            <a:ext cx="384048" cy="38404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069080" y="256032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20" name="Image 5" descr="cro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2532888"/>
            <a:ext cx="384048" cy="384048"/>
          </a:xfrm>
          <a:prstGeom prst="rect">
            <a:avLst/>
          </a:prstGeom>
        </p:spPr>
      </p:pic>
      <p:pic>
        <p:nvPicPr>
          <p:cNvPr id="21" name="Image 6" descr="jack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2057400"/>
            <a:ext cx="868680" cy="86868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548640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jacket</a:t>
            </a:r>
            <a:endParaRPr lang="en-US" sz="2000" dirty="0"/>
          </a:p>
        </p:txBody>
      </p:sp>
      <p:sp>
        <p:nvSpPr>
          <p:cNvPr id="23" name="Shape 13"/>
          <p:cNvSpPr/>
          <p:nvPr/>
        </p:nvSpPr>
        <p:spPr>
          <a:xfrm>
            <a:off x="6537960" y="210312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24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2075688"/>
            <a:ext cx="384048" cy="384048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6537960" y="256032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26" name="Image 8" descr="cros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2532888"/>
            <a:ext cx="384048" cy="384048"/>
          </a:xfrm>
          <a:prstGeom prst="rect">
            <a:avLst/>
          </a:prstGeom>
        </p:spPr>
      </p:pic>
      <p:pic>
        <p:nvPicPr>
          <p:cNvPr id="27" name="Image 9" descr="shoe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2057400"/>
            <a:ext cx="868680" cy="86868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795528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shoes</a:t>
            </a:r>
            <a:endParaRPr lang="en-US" sz="2000" dirty="0"/>
          </a:p>
        </p:txBody>
      </p:sp>
      <p:sp>
        <p:nvSpPr>
          <p:cNvPr id="29" name="Shape 16"/>
          <p:cNvSpPr/>
          <p:nvPr/>
        </p:nvSpPr>
        <p:spPr>
          <a:xfrm>
            <a:off x="9006840" y="210312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30" name="Image 10" descr="check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2600" y="2075688"/>
            <a:ext cx="384048" cy="384048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9006840" y="256032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32" name="Image 11" descr="cros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2600" y="2532888"/>
            <a:ext cx="384048" cy="384048"/>
          </a:xfrm>
          <a:prstGeom prst="rect">
            <a:avLst/>
          </a:prstGeom>
        </p:spPr>
      </p:pic>
      <p:pic>
        <p:nvPicPr>
          <p:cNvPr id="33" name="Image 12" descr="umbrell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4160520"/>
            <a:ext cx="868680" cy="868680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548640" y="5093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umbrella</a:t>
            </a:r>
            <a:endParaRPr lang="en-US" sz="2000" dirty="0"/>
          </a:p>
        </p:txBody>
      </p:sp>
      <p:sp>
        <p:nvSpPr>
          <p:cNvPr id="35" name="Shape 19"/>
          <p:cNvSpPr/>
          <p:nvPr/>
        </p:nvSpPr>
        <p:spPr>
          <a:xfrm>
            <a:off x="1600200" y="420624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36" name="Image 13" descr="check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65960" y="4178808"/>
            <a:ext cx="384048" cy="384048"/>
          </a:xfrm>
          <a:prstGeom prst="rect">
            <a:avLst/>
          </a:prstGeom>
        </p:spPr>
      </p:pic>
      <p:sp>
        <p:nvSpPr>
          <p:cNvPr id="37" name="Shape 20"/>
          <p:cNvSpPr/>
          <p:nvPr/>
        </p:nvSpPr>
        <p:spPr>
          <a:xfrm>
            <a:off x="1600200" y="466344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38" name="Image 14" descr="cros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65960" y="4636008"/>
            <a:ext cx="384048" cy="384048"/>
          </a:xfrm>
          <a:prstGeom prst="rect">
            <a:avLst/>
          </a:prstGeom>
        </p:spPr>
      </p:pic>
      <p:pic>
        <p:nvPicPr>
          <p:cNvPr id="39" name="Image 15" descr="swimsuit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17520" y="4160520"/>
            <a:ext cx="868680" cy="868680"/>
          </a:xfrm>
          <a:prstGeom prst="rect">
            <a:avLst/>
          </a:prstGeom>
        </p:spPr>
      </p:pic>
      <p:sp>
        <p:nvSpPr>
          <p:cNvPr id="40" name="Text 21"/>
          <p:cNvSpPr txBox="1"/>
          <p:nvPr/>
        </p:nvSpPr>
        <p:spPr>
          <a:xfrm>
            <a:off x="3017520" y="5093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swimsuit</a:t>
            </a:r>
            <a:endParaRPr lang="en-US" sz="2000" dirty="0"/>
          </a:p>
        </p:txBody>
      </p:sp>
      <p:sp>
        <p:nvSpPr>
          <p:cNvPr id="41" name="Shape 22"/>
          <p:cNvSpPr/>
          <p:nvPr/>
        </p:nvSpPr>
        <p:spPr>
          <a:xfrm>
            <a:off x="4069080" y="420624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42" name="Image 16" descr="check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34840" y="4178808"/>
            <a:ext cx="384048" cy="384048"/>
          </a:xfrm>
          <a:prstGeom prst="rect">
            <a:avLst/>
          </a:prstGeom>
        </p:spPr>
      </p:pic>
      <p:sp>
        <p:nvSpPr>
          <p:cNvPr id="43" name="Shape 23"/>
          <p:cNvSpPr/>
          <p:nvPr/>
        </p:nvSpPr>
        <p:spPr>
          <a:xfrm>
            <a:off x="4069080" y="466344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44" name="Image 17" descr="cross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34840" y="4636008"/>
            <a:ext cx="384048" cy="384048"/>
          </a:xfrm>
          <a:prstGeom prst="rect">
            <a:avLst/>
          </a:prstGeom>
        </p:spPr>
      </p:pic>
      <p:pic>
        <p:nvPicPr>
          <p:cNvPr id="45" name="Image 18" descr="sunscree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86400" y="4160520"/>
            <a:ext cx="868680" cy="868680"/>
          </a:xfrm>
          <a:prstGeom prst="rect">
            <a:avLst/>
          </a:prstGeom>
        </p:spPr>
      </p:pic>
      <p:sp>
        <p:nvSpPr>
          <p:cNvPr id="46" name="Text 24"/>
          <p:cNvSpPr txBox="1"/>
          <p:nvPr/>
        </p:nvSpPr>
        <p:spPr>
          <a:xfrm>
            <a:off x="5486400" y="5093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sunscreen</a:t>
            </a:r>
            <a:endParaRPr lang="en-US" sz="2000" dirty="0"/>
          </a:p>
        </p:txBody>
      </p:sp>
      <p:sp>
        <p:nvSpPr>
          <p:cNvPr id="47" name="Shape 25"/>
          <p:cNvSpPr/>
          <p:nvPr/>
        </p:nvSpPr>
        <p:spPr>
          <a:xfrm>
            <a:off x="6537960" y="420624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48" name="Image 19" descr="check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03720" y="4178808"/>
            <a:ext cx="384048" cy="384048"/>
          </a:xfrm>
          <a:prstGeom prst="rect">
            <a:avLst/>
          </a:prstGeom>
        </p:spPr>
      </p:pic>
      <p:sp>
        <p:nvSpPr>
          <p:cNvPr id="49" name="Shape 26"/>
          <p:cNvSpPr/>
          <p:nvPr/>
        </p:nvSpPr>
        <p:spPr>
          <a:xfrm>
            <a:off x="6537960" y="466344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50" name="Image 20" descr="cross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03720" y="4636008"/>
            <a:ext cx="384048" cy="384048"/>
          </a:xfrm>
          <a:prstGeom prst="rect">
            <a:avLst/>
          </a:prstGeom>
        </p:spPr>
      </p:pic>
      <p:pic>
        <p:nvPicPr>
          <p:cNvPr id="51" name="Image 21" descr="sunglasses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55280" y="4160520"/>
            <a:ext cx="868680" cy="868680"/>
          </a:xfrm>
          <a:prstGeom prst="rect">
            <a:avLst/>
          </a:prstGeom>
        </p:spPr>
      </p:pic>
      <p:sp>
        <p:nvSpPr>
          <p:cNvPr id="52" name="Text 27"/>
          <p:cNvSpPr txBox="1"/>
          <p:nvPr/>
        </p:nvSpPr>
        <p:spPr>
          <a:xfrm>
            <a:off x="7955280" y="5093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sunglasses</a:t>
            </a:r>
            <a:endParaRPr lang="en-US" sz="2000" dirty="0"/>
          </a:p>
        </p:txBody>
      </p:sp>
      <p:sp>
        <p:nvSpPr>
          <p:cNvPr id="53" name="Shape 28"/>
          <p:cNvSpPr/>
          <p:nvPr/>
        </p:nvSpPr>
        <p:spPr>
          <a:xfrm>
            <a:off x="9006840" y="420624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54" name="Image 22" descr="check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72600" y="4178808"/>
            <a:ext cx="384048" cy="384048"/>
          </a:xfrm>
          <a:prstGeom prst="rect">
            <a:avLst/>
          </a:prstGeom>
        </p:spPr>
      </p:pic>
      <p:sp>
        <p:nvSpPr>
          <p:cNvPr id="55" name="Shape 29"/>
          <p:cNvSpPr/>
          <p:nvPr/>
        </p:nvSpPr>
        <p:spPr>
          <a:xfrm>
            <a:off x="9006840" y="4663440"/>
            <a:ext cx="329184" cy="329184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56" name="Image 23" descr="cross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72600" y="4636008"/>
            <a:ext cx="384048" cy="384048"/>
          </a:xfrm>
          <a:prstGeom prst="rect">
            <a:avLst/>
          </a:prstGeom>
        </p:spPr>
      </p:pic>
      <p:sp>
        <p:nvSpPr>
          <p:cNvPr id="57" name="Text 30"/>
          <p:cNvSpPr txBox="1"/>
          <p:nvPr/>
        </p:nvSpPr>
        <p:spPr>
          <a:xfrm>
            <a:off x="10287000" y="4160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taking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 taking</a:t>
            </a:r>
            <a:endParaRPr lang="en-US" sz="1400" dirty="0"/>
          </a:p>
        </p:txBody>
      </p:sp>
      <p:pic>
        <p:nvPicPr>
          <p:cNvPr id="58" name="Image 24" descr="check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75520" y="4133088"/>
            <a:ext cx="329184" cy="329184"/>
          </a:xfrm>
          <a:prstGeom prst="rect">
            <a:avLst/>
          </a:prstGeom>
        </p:spPr>
      </p:pic>
      <p:pic>
        <p:nvPicPr>
          <p:cNvPr id="59" name="Image 25" descr="cross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75520" y="4453128"/>
            <a:ext cx="329184" cy="329184"/>
          </a:xfrm>
          <a:prstGeom prst="rect">
            <a:avLst/>
          </a:prstGeom>
        </p:spPr>
      </p:pic>
      <p:pic>
        <p:nvPicPr>
          <p:cNvPr id="29" name="Media 0">
            <a:hlinkClick r:id="" action="ppaction://media"/>
          </p:cNvPr>
          <p:cNvPicPr>
            <a:picLocks noChangeAspect="1"/>
          </p:cNvPicPr>
          <p:nvPr>
            <a:videoFile r:link="rId27"/>
            <p:extLst>
              <p:ext uri="{DAA4B4D4-6D71-4841-9C94-3DE7FCFB9230}">
                <p14:media xmlns:p14="http://schemas.microsoft.com/office/powerpoint/2010/main" r:embed="rId28"/>
              </p:ext>
            </p:extLst>
          </p:nvPr>
        </p:nvPicPr>
        <p:blipFill>
          <a:blip r:embed="rId29"/>
          <a:stretch>
            <a:fillRect/>
          </a:stretch>
        </p:blipFill>
        <p:spPr>
          <a:xfrm>
            <a:off x="10378440" y="1417320"/>
            <a:ext cx="1097280" cy="1097280"/>
          </a:xfrm>
          <a:prstGeom prst="rect">
            <a:avLst/>
          </a:prstGeom>
        </p:spPr>
      </p:pic>
      <p:sp>
        <p:nvSpPr>
          <p:cNvPr id="61" name="Text 31"/>
          <p:cNvSpPr txBox="1"/>
          <p:nvPr/>
        </p:nvSpPr>
        <p:spPr>
          <a:xfrm>
            <a:off x="1014984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AUDIO · 0:58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LISTEN ·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3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your answers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LISTENING 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05740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  Madrid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  Four days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  Sunny in the day, cold at night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  Walk and swim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LISTENING 2</a:t>
            </a:r>
            <a:endParaRPr lang="en-US" sz="1200" dirty="0"/>
          </a:p>
        </p:txBody>
      </p:sp>
      <p:pic>
        <p:nvPicPr>
          <p:cNvPr id="11" name="Image 0" descr="shorts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394960" y="2057400"/>
            <a:ext cx="685800" cy="685800"/>
          </a:xfrm>
          <a:prstGeom prst="rect">
            <a:avLst/>
          </a:prstGeom>
        </p:spPr>
      </p:pic>
      <p:pic>
        <p:nvPicPr>
          <p:cNvPr id="12" name="Image 1" descr="cro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574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shorts</a:t>
            </a:r>
            <a:endParaRPr lang="en-US" sz="1500" dirty="0"/>
          </a:p>
        </p:txBody>
      </p:sp>
      <p:pic>
        <p:nvPicPr>
          <p:cNvPr id="14" name="Image 2" descr="tro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057400"/>
            <a:ext cx="685800" cy="685800"/>
          </a:xfrm>
          <a:prstGeom prst="rect">
            <a:avLst/>
          </a:prstGeom>
        </p:spPr>
      </p:pic>
      <p:pic>
        <p:nvPicPr>
          <p:cNvPr id="15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057400"/>
            <a:ext cx="411480" cy="4114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967728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trousers</a:t>
            </a:r>
            <a:endParaRPr lang="en-US" sz="1500" dirty="0"/>
          </a:p>
        </p:txBody>
      </p:sp>
      <p:pic>
        <p:nvPicPr>
          <p:cNvPr id="17" name="Image 4" descr="jack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057400"/>
            <a:ext cx="685800" cy="685800"/>
          </a:xfrm>
          <a:prstGeom prst="rect">
            <a:avLst/>
          </a:prstGeom>
        </p:spPr>
      </p:pic>
      <p:pic>
        <p:nvPicPr>
          <p:cNvPr id="18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2057400"/>
            <a:ext cx="411480" cy="41148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540496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jacket</a:t>
            </a:r>
            <a:endParaRPr lang="en-US" sz="1500" dirty="0"/>
          </a:p>
        </p:txBody>
      </p:sp>
      <p:pic>
        <p:nvPicPr>
          <p:cNvPr id="20" name="Image 6" descr="sho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2057400"/>
            <a:ext cx="685800" cy="685800"/>
          </a:xfrm>
          <a:prstGeom prst="rect">
            <a:avLst/>
          </a:prstGeom>
        </p:spPr>
      </p:pic>
      <p:pic>
        <p:nvPicPr>
          <p:cNvPr id="21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4784" y="2057400"/>
            <a:ext cx="411480" cy="41148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0113264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shoes</a:t>
            </a:r>
            <a:endParaRPr lang="en-US" sz="1500" dirty="0"/>
          </a:p>
        </p:txBody>
      </p:sp>
      <p:pic>
        <p:nvPicPr>
          <p:cNvPr id="23" name="Image 8" descr="umbrella">    </p:cNvPr>
          <p:cNvPicPr>
            <a:picLocks noChangeAspect="1"/>
          </p:cNvPicPr>
          <p:nvPr/>
        </p:nvPicPr>
        <p:blipFill>
          <a:blip r:embed="rId9">
            <a:alphaModFix amt="55000"/>
          </a:blip>
          <a:stretch>
            <a:fillRect/>
          </a:stretch>
        </p:blipFill>
        <p:spPr>
          <a:xfrm>
            <a:off x="5394960" y="3657600"/>
            <a:ext cx="685800" cy="685800"/>
          </a:xfrm>
          <a:prstGeom prst="rect">
            <a:avLst/>
          </a:prstGeom>
        </p:spPr>
      </p:pic>
      <p:pic>
        <p:nvPicPr>
          <p:cNvPr id="24" name="Image 9" descr="cros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657600"/>
            <a:ext cx="411480" cy="41148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5394960" y="4389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umbrella</a:t>
            </a:r>
            <a:endParaRPr lang="en-US" sz="1500" dirty="0"/>
          </a:p>
        </p:txBody>
      </p:sp>
      <p:pic>
        <p:nvPicPr>
          <p:cNvPr id="26" name="Image 10" descr="swimsui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7728" y="3657600"/>
            <a:ext cx="685800" cy="685800"/>
          </a:xfrm>
          <a:prstGeom prst="rect">
            <a:avLst/>
          </a:prstGeom>
        </p:spPr>
      </p:pic>
      <p:pic>
        <p:nvPicPr>
          <p:cNvPr id="27" name="Image 11" descr="check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9248" y="3657600"/>
            <a:ext cx="411480" cy="411480"/>
          </a:xfrm>
          <a:prstGeom prst="rect">
            <a:avLst/>
          </a:prstGeom>
        </p:spPr>
      </p:pic>
      <p:sp>
        <p:nvSpPr>
          <p:cNvPr id="28" name="Text 13"/>
          <p:cNvSpPr txBox="1"/>
          <p:nvPr/>
        </p:nvSpPr>
        <p:spPr>
          <a:xfrm>
            <a:off x="6967728" y="4389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swimsuit</a:t>
            </a:r>
            <a:endParaRPr lang="en-US" sz="1500" dirty="0"/>
          </a:p>
        </p:txBody>
      </p:sp>
      <p:pic>
        <p:nvPicPr>
          <p:cNvPr id="29" name="Image 12" descr="sunscree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0496" y="3657600"/>
            <a:ext cx="685800" cy="685800"/>
          </a:xfrm>
          <a:prstGeom prst="rect">
            <a:avLst/>
          </a:prstGeom>
        </p:spPr>
      </p:pic>
      <p:pic>
        <p:nvPicPr>
          <p:cNvPr id="30" name="Image 13" descr="check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2016" y="3657600"/>
            <a:ext cx="411480" cy="411480"/>
          </a:xfrm>
          <a:prstGeom prst="rect">
            <a:avLst/>
          </a:prstGeom>
        </p:spPr>
      </p:pic>
      <p:sp>
        <p:nvSpPr>
          <p:cNvPr id="31" name="Text 14"/>
          <p:cNvSpPr txBox="1"/>
          <p:nvPr/>
        </p:nvSpPr>
        <p:spPr>
          <a:xfrm>
            <a:off x="8540496" y="4389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sunscreen</a:t>
            </a:r>
            <a:endParaRPr lang="en-US" sz="1500" dirty="0"/>
          </a:p>
        </p:txBody>
      </p:sp>
      <p:pic>
        <p:nvPicPr>
          <p:cNvPr id="32" name="Image 14" descr="sunglasse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3264" y="3657600"/>
            <a:ext cx="685800" cy="685800"/>
          </a:xfrm>
          <a:prstGeom prst="rect">
            <a:avLst/>
          </a:prstGeom>
        </p:spPr>
      </p:pic>
      <p:pic>
        <p:nvPicPr>
          <p:cNvPr id="33" name="Image 15" descr="check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44784" y="3657600"/>
            <a:ext cx="411480" cy="411480"/>
          </a:xfrm>
          <a:prstGeom prst="rect">
            <a:avLst/>
          </a:prstGeom>
        </p:spPr>
      </p:pic>
      <p:sp>
        <p:nvSpPr>
          <p:cNvPr id="34" name="Text 15"/>
          <p:cNvSpPr txBox="1"/>
          <p:nvPr/>
        </p:nvSpPr>
        <p:spPr>
          <a:xfrm>
            <a:off x="10113264" y="4389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sunglasses</a:t>
            </a:r>
            <a:endParaRPr lang="en-US" sz="1500" dirty="0"/>
          </a:p>
        </p:txBody>
      </p:sp>
      <p:sp>
        <p:nvSpPr>
          <p:cNvPr id="35" name="Shape 16"/>
          <p:cNvSpPr/>
          <p:nvPr/>
        </p:nvSpPr>
        <p:spPr>
          <a:xfrm>
            <a:off x="548640" y="5257800"/>
            <a:ext cx="11091672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36" name="Text 17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changed? Why?   </a:t>
            </a:r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shorts → trousers and a jacket · </a:t>
            </a:r>
            <a:pPr indent="0" marL="0">
              <a:buNone/>
            </a:pPr>
            <a:r>
              <a:rPr lang="en-US" sz="2000" b="1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It's cold at night.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LANGUAGE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Leo's lines.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</a:t>
            </a:r>
            <a:pPr indent="0" marL="0">
              <a:buNone/>
            </a:pPr>
            <a:r>
              <a:rPr lang="en-US" sz="24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·   </a:t>
            </a:r>
            <a:pPr indent="0" marL="0">
              <a:buNone/>
            </a:pPr>
            <a:r>
              <a:rPr lang="en-US" sz="24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taking</a:t>
            </a:r>
            <a:pPr indent="0" marL="0">
              <a:buNone/>
            </a:pPr>
            <a:r>
              <a:rPr lang="en-US" sz="24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·   </a:t>
            </a:r>
            <a:pPr indent="0" marL="0">
              <a:buNone/>
            </a:pPr>
            <a:r>
              <a:rPr lang="en-US" sz="24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</a:t>
            </a:r>
            <a:pPr indent="0" marL="0">
              <a:buNone/>
            </a:pPr>
            <a:r>
              <a:rPr lang="en-US" sz="24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·   </a:t>
            </a:r>
            <a:pPr indent="0" marL="0">
              <a:buNone/>
            </a:pPr>
            <a:r>
              <a:rPr lang="en-US" sz="24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going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indent="0" marL="0">
              <a:buNone/>
            </a:pPr>
            <a:r>
              <a:rPr lang="en-US" sz="3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  I'm </a:t>
            </a:r>
            <a:pPr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</a:t>
            </a:r>
            <a:pPr indent="0" marL="0">
              <a:buNone/>
            </a:pPr>
            <a:r>
              <a:rPr lang="en-US" sz="3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to Madrid for four days.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indent="0" marL="0">
              <a:buNone/>
            </a:pPr>
            <a:r>
              <a:rPr lang="en-US" sz="3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  I'm </a:t>
            </a:r>
            <a:pPr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</a:t>
            </a:r>
            <a:pPr indent="0" marL="0">
              <a:buNone/>
            </a:pPr>
            <a:r>
              <a:rPr lang="en-US" sz="3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taking shorts.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indent="0" marL="0">
              <a:buNone/>
            </a:pPr>
            <a:r>
              <a:rPr lang="en-US" sz="3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  I'm </a:t>
            </a:r>
            <a:pPr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</a:t>
            </a:r>
            <a:pPr indent="0" marL="0">
              <a:buNone/>
            </a:pPr>
            <a:r>
              <a:rPr lang="en-US" sz="3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trousers and a jacket.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983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indent="0" marL="0">
              <a:buNone/>
            </a:pPr>
            <a:r>
              <a:rPr lang="en-US" sz="3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  OK, I </a:t>
            </a:r>
            <a:pPr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</a:t>
            </a:r>
            <a:pPr indent="0" marL="0">
              <a:buNone/>
            </a:pPr>
            <a:r>
              <a:rPr lang="en-US" sz="3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good shoes.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Complete. Then check with a partner.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LANGUAGE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Decide. Say it.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going to </a:t>
            </a:r>
            <a:pPr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Madrid</a:t>
            </a:r>
            <a:pPr indent="0" marL="0">
              <a:buNone/>
            </a:pPr>
            <a:r>
              <a:rPr lang="en-US" sz="3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four days.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28116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0B14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TRIP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11091672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51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need </a:t>
            </a:r>
            <a:pPr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 shoes</a:t>
            </a:r>
            <a:pPr indent="0" marL="0">
              <a:buNone/>
            </a:pPr>
            <a:r>
              <a:rPr lang="en-US" sz="3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0B14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IMPORTANT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456432"/>
            <a:ext cx="11091672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taking </a:t>
            </a:r>
            <a:pPr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jacket</a:t>
            </a:r>
            <a:pPr indent="0" marL="0">
              <a:buNone/>
            </a:pPr>
            <a:r>
              <a:rPr lang="en-US" sz="3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  <p:pic>
        <p:nvPicPr>
          <p:cNvPr id="14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372160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28116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0B14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MY BAG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416552"/>
            <a:ext cx="11091672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572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not taking </a:t>
            </a:r>
            <a:pPr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shorts</a:t>
            </a:r>
            <a:pPr indent="0" marL="0">
              <a:buNone/>
            </a:pPr>
            <a:r>
              <a:rPr lang="en-US" sz="3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  <p:pic>
        <p:nvPicPr>
          <p:cNvPr id="18" name="Image 1" descr="cro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8172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8116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0B14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IN MY BAG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669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PAIRS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463040" y="56144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A: point to a thing.   B: decide — I'm taking… / I'm not taking…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Say it.</a:t>
            </a:r>
            <a:endParaRPr lang="en-US" sz="4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69164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002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</a:t>
            </a:r>
            <a:pPr indent="0" marL="0">
              <a:buNone/>
            </a:pPr>
            <a:r>
              <a:rPr lang="en-US" sz="4000" b="1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</a:t>
            </a:r>
            <a:pPr indent="0" marL="0">
              <a:buNone/>
            </a:pPr>
            <a:r>
              <a:rPr lang="en-US" sz="4000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indent="0" marL="0">
              <a:buNone/>
            </a:pPr>
            <a:r>
              <a:rPr lang="en-US" sz="4000" b="1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</a:t>
            </a:r>
            <a:pPr indent="0" marL="0">
              <a:buNone/>
            </a:pPr>
            <a:r>
              <a:rPr lang="en-US" sz="4000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screen.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1481328" y="2304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  DUM  DUM-da</a:t>
            </a:r>
            <a:endParaRPr lang="en-US" sz="130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8640" y="29260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8346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</a:t>
            </a:r>
            <a:pPr indent="0" marL="0">
              <a:buNone/>
            </a:pPr>
            <a:r>
              <a:rPr lang="en-US" sz="4000" b="1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</a:t>
            </a:r>
            <a:pPr indent="0" marL="0">
              <a:buNone/>
            </a:pPr>
            <a:r>
              <a:rPr lang="en-US" sz="4000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 a </a:t>
            </a:r>
            <a:pPr indent="0" marL="0">
              <a:buNone/>
            </a:pPr>
            <a:r>
              <a:rPr lang="en-US" sz="4000" b="1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swim</a:t>
            </a:r>
            <a:pPr indent="0" marL="0">
              <a:buNone/>
            </a:pPr>
            <a:r>
              <a:rPr lang="en-US" sz="4000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suit.</a:t>
            </a:r>
            <a:endParaRPr lang="en-US" sz="4000" dirty="0"/>
          </a:p>
        </p:txBody>
      </p:sp>
      <p:sp>
        <p:nvSpPr>
          <p:cNvPr id="12" name="Text 7"/>
          <p:cNvSpPr txBox="1"/>
          <p:nvPr/>
        </p:nvSpPr>
        <p:spPr>
          <a:xfrm>
            <a:off x="1481328" y="3538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  DUM-da  da  DUM-da</a:t>
            </a:r>
            <a:endParaRPr lang="en-US" sz="130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48640" y="416052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63040" y="4069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</a:t>
            </a:r>
            <a:pPr indent="0" marL="0">
              <a:buNone/>
            </a:pPr>
            <a:r>
              <a:rPr lang="en-US" sz="4000" b="1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</a:t>
            </a:r>
            <a:pPr indent="0" marL="0">
              <a:buNone/>
            </a:pPr>
            <a:r>
              <a:rPr lang="en-US" sz="4000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taking </a:t>
            </a:r>
            <a:pPr indent="0" marL="0">
              <a:buNone/>
            </a:pPr>
            <a:r>
              <a:rPr lang="en-US" sz="4000" b="1" dirty="0">
                <a:solidFill>
                  <a:srgbClr val="F4490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shorts</a:t>
            </a:r>
            <a:pPr indent="0" marL="0">
              <a:buNone/>
            </a:pPr>
            <a:r>
              <a:rPr lang="en-US" sz="4000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  <p:sp>
        <p:nvSpPr>
          <p:cNvPr id="15" name="Text 9"/>
          <p:cNvSpPr txBox="1"/>
          <p:nvPr/>
        </p:nvSpPr>
        <p:spPr>
          <a:xfrm>
            <a:off x="1481328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  DUM  da-da  DUM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549640" y="1645920"/>
            <a:ext cx="3090672" cy="338328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88239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SAY THE M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82396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taking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882396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  “I taking”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823960" y="3383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882396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 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 “needa”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486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 IT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920240" y="54223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jacket  </a:t>
            </a:r>
            <a:pPr indent="0" marL="0">
              <a:buNone/>
            </a:pPr>
            <a:r>
              <a:rPr lang="en-US" sz="2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need a jacket  </a:t>
            </a:r>
            <a:pPr indent="0" marL="0">
              <a:buNone/>
            </a:pPr>
            <a:r>
              <a:rPr lang="en-US" sz="2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I need a jacket.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SAY IT · PAIRS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Decide fast.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A: point.   B: decide and say it.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3520440" cy="18288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pic>
        <p:nvPicPr>
          <p:cNvPr id="10" name="Image 0" descr="rai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868680" cy="8686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740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</a:t>
            </a:r>
            <a:endParaRPr lang="en-US" sz="3200" dirty="0"/>
          </a:p>
        </p:txBody>
      </p:sp>
      <p:pic>
        <p:nvPicPr>
          <p:cNvPr id="12" name="Image 1" descr="rainco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868680" cy="8686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724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taking a raincoat.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4297680" y="2057400"/>
            <a:ext cx="3520440" cy="18288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52628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2" descr="sunn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868680" cy="8686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80644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</a:t>
            </a:r>
            <a:endParaRPr lang="en-US" sz="3200" dirty="0"/>
          </a:p>
        </p:txBody>
      </p:sp>
      <p:pic>
        <p:nvPicPr>
          <p:cNvPr id="18" name="Image 3" descr="umbrel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331720"/>
            <a:ext cx="868680" cy="8686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52628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not taking an umbrella.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8046720" y="2057400"/>
            <a:ext cx="3520440" cy="18288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827532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200" dirty="0"/>
          </a:p>
        </p:txBody>
      </p:sp>
      <p:pic>
        <p:nvPicPr>
          <p:cNvPr id="22" name="Image 4" descr="co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331720"/>
            <a:ext cx="868680" cy="8686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55548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</a:t>
            </a:r>
            <a:endParaRPr lang="en-US" sz="3200" dirty="0"/>
          </a:p>
        </p:txBody>
      </p:sp>
      <p:pic>
        <p:nvPicPr>
          <p:cNvPr id="24" name="Image 5" descr="shor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2331720"/>
            <a:ext cx="868680" cy="86868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548640" y="4114800"/>
            <a:ext cx="3520440" cy="18288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777240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200" dirty="0"/>
          </a:p>
        </p:txBody>
      </p:sp>
      <p:pic>
        <p:nvPicPr>
          <p:cNvPr id="27" name="Image 6" descr="ho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389120"/>
            <a:ext cx="868680" cy="86868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2057400" y="4526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</a:t>
            </a:r>
            <a:endParaRPr lang="en-US" sz="3200" dirty="0"/>
          </a:p>
        </p:txBody>
      </p:sp>
      <p:pic>
        <p:nvPicPr>
          <p:cNvPr id="29" name="Image 7" descr="sweat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0" y="4389120"/>
            <a:ext cx="868680" cy="86868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4297680" y="4114800"/>
            <a:ext cx="3520440" cy="18288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31" name="Text 20"/>
          <p:cNvSpPr txBox="1"/>
          <p:nvPr/>
        </p:nvSpPr>
        <p:spPr>
          <a:xfrm>
            <a:off x="4526280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200" dirty="0"/>
          </a:p>
        </p:txBody>
      </p:sp>
      <p:pic>
        <p:nvPicPr>
          <p:cNvPr id="32" name="Image 8" descr="sunn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389120"/>
            <a:ext cx="868680" cy="86868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806440" y="4526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</a:t>
            </a:r>
            <a:endParaRPr lang="en-US" sz="3200" dirty="0"/>
          </a:p>
        </p:txBody>
      </p:sp>
      <p:pic>
        <p:nvPicPr>
          <p:cNvPr id="34" name="Image 9" descr="sunglasse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389120"/>
            <a:ext cx="868680" cy="868680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8046720" y="4114800"/>
            <a:ext cx="3520440" cy="18288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36" name="Text 23"/>
          <p:cNvSpPr txBox="1"/>
          <p:nvPr/>
        </p:nvSpPr>
        <p:spPr>
          <a:xfrm>
            <a:off x="8275320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200" dirty="0"/>
          </a:p>
        </p:txBody>
      </p:sp>
      <p:pic>
        <p:nvPicPr>
          <p:cNvPr id="37" name="Image 10" descr="col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5360" y="4389120"/>
            <a:ext cx="868680" cy="86868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9555480" y="4526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</a:t>
            </a:r>
            <a:endParaRPr lang="en-US" sz="3200" dirty="0"/>
          </a:p>
        </p:txBody>
      </p:sp>
      <p:pic>
        <p:nvPicPr>
          <p:cNvPr id="39" name="Image 11" descr="jacke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4120" y="43891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4 · PRACTISE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4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 the weather.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TRAVELLER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011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Choose 3 things for your bag.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· FRIEND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154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Choose a weather card. Don’t show A!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A: change 2 things. Then swap.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HELP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7667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Sorry? Can you repeat that, please?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Slowly, please.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663440" y="1645920"/>
            <a:ext cx="6976872" cy="452628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9377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8562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Hi! Are you ready for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?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23134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Yes! I'm going to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for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days.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27706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taking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and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394960" y="32278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What's the weather like?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36850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It's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this week.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493776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394960" y="41422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Really? OK. I'm not taking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493776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394960" y="45994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taking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493776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394960" y="50566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 I need </a:t>
            </a:r>
            <a:pPr indent="0" marL="0">
              <a:buNone/>
            </a:pPr>
            <a:r>
              <a:rPr lang="en-US" sz="19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</a:t>
            </a:r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?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493776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394960" y="55138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Yes, you do.  /  No, you don't.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5 · 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5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AF7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bag. Ten things.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AF7F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You're travelling together. You have ONE small bag — 10 things, including your essentials.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523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2 MIN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AF7F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Think alone. Fill your bag.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107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5 MIN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331720" y="33558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AF7F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Compare. Agree on ONE bag.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3 MIN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40142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AF7F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New information! 1 out, 1 in.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27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4 MIN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331720" y="46725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AF7F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Show your bag to another pair.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BAG · 10 THINGS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863840" y="2697480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8631936" y="2697480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9400032" y="2697480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168128" y="2697480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10936224" y="2697480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7863840" y="3465576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8631936" y="3465576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9400032" y="3465576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0168128" y="3465576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10936224" y="3465576"/>
            <a:ext cx="658368" cy="658368"/>
          </a:xfrm>
          <a:prstGeom prst="rect">
            <a:avLst/>
          </a:prstGeom>
          <a:ln w="15875">
            <a:solidFill>
              <a:srgbClr val="FAF7F2"/>
            </a:solidFill>
            <a:prstDash val="dash"/>
          </a:ln>
        </p:spPr>
      </p:sp>
      <p:pic>
        <p:nvPicPr>
          <p:cNvPr id="28" name="Image 0" descr="pass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4" y="2752344"/>
            <a:ext cx="548640" cy="548640"/>
          </a:xfrm>
          <a:prstGeom prst="rect">
            <a:avLst/>
          </a:prstGeom>
        </p:spPr>
      </p:pic>
      <p:pic>
        <p:nvPicPr>
          <p:cNvPr id="29" name="Image 1" descr="phone charg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752344"/>
            <a:ext cx="548640" cy="54864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548640" y="5486400"/>
            <a:ext cx="11091672" cy="0"/>
          </a:xfrm>
          <a:prstGeom prst="line">
            <a:avLst/>
          </a:prstGeom>
          <a:noFill/>
          <a:ln w="9525">
            <a:solidFill>
              <a:srgbClr val="FAF7F2">
                <a:alpha val="2500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SAY   </a:t>
            </a:r>
            <a:pPr indent="0" marL="0">
              <a:buNone/>
            </a:pPr>
            <a:r>
              <a:rPr lang="en-US" sz="1900" dirty="0">
                <a:solidFill>
                  <a:srgbClr val="FAF7F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Are you taking…?   ·   Good idea!   ·   Hmm, I’m not sure.   ·   My bag is full.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5 · YOUR TRIP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5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trip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651760" cy="461772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TRIP 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Lisbon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587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Portugal · April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 days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319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1</a:t>
            </a:r>
            <a:endParaRPr lang="en-US" sz="900" dirty="0"/>
          </a:p>
        </p:txBody>
      </p:sp>
      <p:pic>
        <p:nvPicPr>
          <p:cNvPr id="15" name="Image 0" descr="sun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94760"/>
            <a:ext cx="530352" cy="5303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7724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22°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55448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2</a:t>
            </a:r>
            <a:endParaRPr lang="en-US" sz="900" dirty="0"/>
          </a:p>
        </p:txBody>
      </p:sp>
      <p:pic>
        <p:nvPicPr>
          <p:cNvPr id="18" name="Image 1" descr="rain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794760"/>
            <a:ext cx="530352" cy="5303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17°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233172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3</a:t>
            </a:r>
            <a:endParaRPr lang="en-US" sz="900" dirty="0"/>
          </a:p>
        </p:txBody>
      </p:sp>
      <p:pic>
        <p:nvPicPr>
          <p:cNvPr id="21" name="Image 2" descr="sunn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3794760"/>
            <a:ext cx="530352" cy="5303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33172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21°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983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ACTIVITIES</a:t>
            </a:r>
            <a:endParaRPr lang="en-US" sz="1000" dirty="0"/>
          </a:p>
        </p:txBody>
      </p:sp>
      <p:pic>
        <p:nvPicPr>
          <p:cNvPr id="24" name="Image 3" descr="wal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3951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80160" y="5276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walk a lot</a:t>
            </a:r>
            <a:endParaRPr lang="en-US" sz="1500" dirty="0"/>
          </a:p>
        </p:txBody>
      </p:sp>
      <p:pic>
        <p:nvPicPr>
          <p:cNvPr id="26" name="Image 4" descr="dinn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9671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280160" y="5733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dinner out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3383280" y="1600200"/>
            <a:ext cx="2651760" cy="461772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361188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TRIP B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361188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Sapporo</a:t>
            </a:r>
            <a:endParaRPr lang="en-US" sz="2600" dirty="0"/>
          </a:p>
        </p:txBody>
      </p:sp>
      <p:sp>
        <p:nvSpPr>
          <p:cNvPr id="31" name="Text 23"/>
          <p:cNvSpPr txBox="1"/>
          <p:nvPr/>
        </p:nvSpPr>
        <p:spPr>
          <a:xfrm>
            <a:off x="3611880" y="2587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Japan · February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361188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 days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611880" y="3319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1188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1</a:t>
            </a:r>
            <a:endParaRPr lang="en-US" sz="900" dirty="0"/>
          </a:p>
        </p:txBody>
      </p:sp>
      <p:pic>
        <p:nvPicPr>
          <p:cNvPr id="35" name="Image 5" descr="snow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794760"/>
            <a:ext cx="530352" cy="53035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361188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−4°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438912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2</a:t>
            </a:r>
            <a:endParaRPr lang="en-US" sz="900" dirty="0"/>
          </a:p>
        </p:txBody>
      </p:sp>
      <p:pic>
        <p:nvPicPr>
          <p:cNvPr id="38" name="Image 6" descr="col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794760"/>
            <a:ext cx="530352" cy="53035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38912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−2°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516636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3</a:t>
            </a:r>
            <a:endParaRPr lang="en-US" sz="900" dirty="0"/>
          </a:p>
        </p:txBody>
      </p:sp>
      <p:pic>
        <p:nvPicPr>
          <p:cNvPr id="41" name="Image 7" descr="snow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794760"/>
            <a:ext cx="530352" cy="53035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516636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−5°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3611880" y="4983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ACTIVITIES</a:t>
            </a:r>
            <a:endParaRPr lang="en-US" sz="1000" dirty="0"/>
          </a:p>
        </p:txBody>
      </p:sp>
      <p:pic>
        <p:nvPicPr>
          <p:cNvPr id="44" name="Image 8" descr="wal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5239512"/>
            <a:ext cx="384048" cy="38404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4114800" y="5276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walk</a:t>
            </a:r>
            <a:endParaRPr lang="en-US" sz="1500" dirty="0"/>
          </a:p>
        </p:txBody>
      </p:sp>
      <p:pic>
        <p:nvPicPr>
          <p:cNvPr id="46" name="Image 9" descr="festiva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1880" y="5696712"/>
            <a:ext cx="384048" cy="38404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114800" y="5733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visit a festival</a:t>
            </a:r>
            <a:endParaRPr lang="en-US" sz="1500" dirty="0"/>
          </a:p>
        </p:txBody>
      </p:sp>
      <p:sp>
        <p:nvSpPr>
          <p:cNvPr id="48" name="Shape 35"/>
          <p:cNvSpPr/>
          <p:nvPr/>
        </p:nvSpPr>
        <p:spPr>
          <a:xfrm>
            <a:off x="6217920" y="1600200"/>
            <a:ext cx="2651760" cy="461772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49" name="Text 36"/>
          <p:cNvSpPr txBox="1"/>
          <p:nvPr/>
        </p:nvSpPr>
        <p:spPr>
          <a:xfrm>
            <a:off x="644652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TRIP C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644652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Bangkok</a:t>
            </a:r>
            <a:endParaRPr lang="en-US" sz="2600" dirty="0"/>
          </a:p>
        </p:txBody>
      </p:sp>
      <p:sp>
        <p:nvSpPr>
          <p:cNvPr id="51" name="Text 38"/>
          <p:cNvSpPr txBox="1"/>
          <p:nvPr/>
        </p:nvSpPr>
        <p:spPr>
          <a:xfrm>
            <a:off x="6446520" y="2587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Thailand · August</a:t>
            </a:r>
            <a:endParaRPr lang="en-US" sz="1500" dirty="0"/>
          </a:p>
        </p:txBody>
      </p:sp>
      <p:sp>
        <p:nvSpPr>
          <p:cNvPr id="52" name="Text 39"/>
          <p:cNvSpPr txBox="1"/>
          <p:nvPr/>
        </p:nvSpPr>
        <p:spPr>
          <a:xfrm>
            <a:off x="644652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 days</a:t>
            </a:r>
            <a:endParaRPr lang="en-US" sz="1500" dirty="0"/>
          </a:p>
        </p:txBody>
      </p:sp>
      <p:sp>
        <p:nvSpPr>
          <p:cNvPr id="53" name="Text 40"/>
          <p:cNvSpPr txBox="1"/>
          <p:nvPr/>
        </p:nvSpPr>
        <p:spPr>
          <a:xfrm>
            <a:off x="6446520" y="3319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644652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1</a:t>
            </a:r>
            <a:endParaRPr lang="en-US" sz="900" dirty="0"/>
          </a:p>
        </p:txBody>
      </p:sp>
      <p:pic>
        <p:nvPicPr>
          <p:cNvPr id="55" name="Image 10" descr="rain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3794760"/>
            <a:ext cx="530352" cy="530352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644652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33°</a:t>
            </a:r>
            <a:endParaRPr lang="en-US" sz="1500" dirty="0"/>
          </a:p>
        </p:txBody>
      </p:sp>
      <p:sp>
        <p:nvSpPr>
          <p:cNvPr id="57" name="Text 43"/>
          <p:cNvSpPr txBox="1"/>
          <p:nvPr/>
        </p:nvSpPr>
        <p:spPr>
          <a:xfrm>
            <a:off x="722376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2</a:t>
            </a:r>
            <a:endParaRPr lang="en-US" sz="900" dirty="0"/>
          </a:p>
        </p:txBody>
      </p:sp>
      <p:pic>
        <p:nvPicPr>
          <p:cNvPr id="58" name="Image 11" descr="ho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3760" y="3794760"/>
            <a:ext cx="530352" cy="530352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722376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34°</a:t>
            </a:r>
            <a:endParaRPr lang="en-US" sz="1500" dirty="0"/>
          </a:p>
        </p:txBody>
      </p:sp>
      <p:sp>
        <p:nvSpPr>
          <p:cNvPr id="60" name="Text 45"/>
          <p:cNvSpPr txBox="1"/>
          <p:nvPr/>
        </p:nvSpPr>
        <p:spPr>
          <a:xfrm>
            <a:off x="800100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3</a:t>
            </a:r>
            <a:endParaRPr lang="en-US" sz="900" dirty="0"/>
          </a:p>
        </p:txBody>
      </p:sp>
      <p:pic>
        <p:nvPicPr>
          <p:cNvPr id="61" name="Image 12" descr="rainy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0" y="3794760"/>
            <a:ext cx="530352" cy="530352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800100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32°</a:t>
            </a:r>
            <a:endParaRPr lang="en-US" sz="1500" dirty="0"/>
          </a:p>
        </p:txBody>
      </p:sp>
      <p:sp>
        <p:nvSpPr>
          <p:cNvPr id="63" name="Text 47"/>
          <p:cNvSpPr txBox="1"/>
          <p:nvPr/>
        </p:nvSpPr>
        <p:spPr>
          <a:xfrm>
            <a:off x="6446520" y="4672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RAINY AFTERNOONS</a:t>
            </a:r>
            <a:endParaRPr lang="en-US" sz="900" dirty="0"/>
          </a:p>
        </p:txBody>
      </p:sp>
      <p:sp>
        <p:nvSpPr>
          <p:cNvPr id="64" name="Text 48"/>
          <p:cNvSpPr txBox="1"/>
          <p:nvPr/>
        </p:nvSpPr>
        <p:spPr>
          <a:xfrm>
            <a:off x="6446520" y="4983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ACTIVITIES</a:t>
            </a:r>
            <a:endParaRPr lang="en-US" sz="1000" dirty="0"/>
          </a:p>
        </p:txBody>
      </p:sp>
      <p:pic>
        <p:nvPicPr>
          <p:cNvPr id="65" name="Image 13" descr="marke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5239512"/>
            <a:ext cx="384048" cy="384048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6949440" y="5276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go to a market</a:t>
            </a:r>
            <a:endParaRPr lang="en-US" sz="1500" dirty="0"/>
          </a:p>
        </p:txBody>
      </p:sp>
      <p:pic>
        <p:nvPicPr>
          <p:cNvPr id="67" name="Image 14" descr="old city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6520" y="5696712"/>
            <a:ext cx="384048" cy="384048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6949440" y="5733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visit the old city</a:t>
            </a:r>
            <a:endParaRPr lang="en-US" sz="1500" dirty="0"/>
          </a:p>
        </p:txBody>
      </p:sp>
      <p:sp>
        <p:nvSpPr>
          <p:cNvPr id="69" name="Shape 51"/>
          <p:cNvSpPr/>
          <p:nvPr/>
        </p:nvSpPr>
        <p:spPr>
          <a:xfrm>
            <a:off x="9052560" y="1600200"/>
            <a:ext cx="2651760" cy="461772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70" name="Text 52"/>
          <p:cNvSpPr txBox="1"/>
          <p:nvPr/>
        </p:nvSpPr>
        <p:spPr>
          <a:xfrm>
            <a:off x="928116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TRIP D</a:t>
            </a:r>
            <a:endParaRPr lang="en-US" sz="1200" dirty="0"/>
          </a:p>
        </p:txBody>
      </p:sp>
      <p:sp>
        <p:nvSpPr>
          <p:cNvPr id="71" name="Text 53"/>
          <p:cNvSpPr txBox="1"/>
          <p:nvPr/>
        </p:nvSpPr>
        <p:spPr>
          <a:xfrm>
            <a:off x="92811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Cape Town</a:t>
            </a:r>
            <a:endParaRPr lang="en-US" sz="2600" dirty="0"/>
          </a:p>
        </p:txBody>
      </p:sp>
      <p:sp>
        <p:nvSpPr>
          <p:cNvPr id="72" name="Text 54"/>
          <p:cNvSpPr txBox="1"/>
          <p:nvPr/>
        </p:nvSpPr>
        <p:spPr>
          <a:xfrm>
            <a:off x="9281160" y="2587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South Africa · January</a:t>
            </a:r>
            <a:endParaRPr lang="en-US" sz="1500" dirty="0"/>
          </a:p>
        </p:txBody>
      </p:sp>
      <p:sp>
        <p:nvSpPr>
          <p:cNvPr id="73" name="Text 55"/>
          <p:cNvSpPr txBox="1"/>
          <p:nvPr/>
        </p:nvSpPr>
        <p:spPr>
          <a:xfrm>
            <a:off x="928116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 days</a:t>
            </a:r>
            <a:endParaRPr lang="en-US" sz="1500" dirty="0"/>
          </a:p>
        </p:txBody>
      </p:sp>
      <p:sp>
        <p:nvSpPr>
          <p:cNvPr id="74" name="Text 56"/>
          <p:cNvSpPr txBox="1"/>
          <p:nvPr/>
        </p:nvSpPr>
        <p:spPr>
          <a:xfrm>
            <a:off x="9281160" y="3319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75" name="Text 57"/>
          <p:cNvSpPr txBox="1"/>
          <p:nvPr/>
        </p:nvSpPr>
        <p:spPr>
          <a:xfrm>
            <a:off x="928116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1</a:t>
            </a:r>
            <a:endParaRPr lang="en-US" sz="900" dirty="0"/>
          </a:p>
        </p:txBody>
      </p:sp>
      <p:pic>
        <p:nvPicPr>
          <p:cNvPr id="76" name="Image 15" descr="sunny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81160" y="3794760"/>
            <a:ext cx="530352" cy="530352"/>
          </a:xfrm>
          <a:prstGeom prst="rect">
            <a:avLst/>
          </a:prstGeom>
        </p:spPr>
      </p:pic>
      <p:sp>
        <p:nvSpPr>
          <p:cNvPr id="77" name="Text 58"/>
          <p:cNvSpPr txBox="1"/>
          <p:nvPr/>
        </p:nvSpPr>
        <p:spPr>
          <a:xfrm>
            <a:off x="928116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27°</a:t>
            </a:r>
            <a:endParaRPr lang="en-US" sz="1500" dirty="0"/>
          </a:p>
        </p:txBody>
      </p:sp>
      <p:sp>
        <p:nvSpPr>
          <p:cNvPr id="78" name="Text 59"/>
          <p:cNvSpPr txBox="1"/>
          <p:nvPr/>
        </p:nvSpPr>
        <p:spPr>
          <a:xfrm>
            <a:off x="1005840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2</a:t>
            </a:r>
            <a:endParaRPr lang="en-US" sz="900" dirty="0"/>
          </a:p>
        </p:txBody>
      </p:sp>
      <p:pic>
        <p:nvPicPr>
          <p:cNvPr id="79" name="Image 16" descr="windy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58400" y="3794760"/>
            <a:ext cx="530352" cy="530352"/>
          </a:xfrm>
          <a:prstGeom prst="rect">
            <a:avLst/>
          </a:prstGeom>
        </p:spPr>
      </p:pic>
      <p:sp>
        <p:nvSpPr>
          <p:cNvPr id="80" name="Text 60"/>
          <p:cNvSpPr txBox="1"/>
          <p:nvPr/>
        </p:nvSpPr>
        <p:spPr>
          <a:xfrm>
            <a:off x="1005840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24°</a:t>
            </a:r>
            <a:endParaRPr lang="en-US" sz="1500" dirty="0"/>
          </a:p>
        </p:txBody>
      </p:sp>
      <p:sp>
        <p:nvSpPr>
          <p:cNvPr id="81" name="Text 61"/>
          <p:cNvSpPr txBox="1"/>
          <p:nvPr/>
        </p:nvSpPr>
        <p:spPr>
          <a:xfrm>
            <a:off x="10835640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 3</a:t>
            </a:r>
            <a:endParaRPr lang="en-US" sz="900" dirty="0"/>
          </a:p>
        </p:txBody>
      </p:sp>
      <p:pic>
        <p:nvPicPr>
          <p:cNvPr id="82" name="Image 17" descr="sunny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35640" y="3794760"/>
            <a:ext cx="530352" cy="530352"/>
          </a:xfrm>
          <a:prstGeom prst="rect">
            <a:avLst/>
          </a:prstGeom>
        </p:spPr>
      </p:pic>
      <p:sp>
        <p:nvSpPr>
          <p:cNvPr id="83" name="Text 62"/>
          <p:cNvSpPr txBox="1"/>
          <p:nvPr/>
        </p:nvSpPr>
        <p:spPr>
          <a:xfrm>
            <a:off x="1083564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28°</a:t>
            </a:r>
            <a:endParaRPr lang="en-US" sz="1500" dirty="0"/>
          </a:p>
        </p:txBody>
      </p:sp>
      <p:sp>
        <p:nvSpPr>
          <p:cNvPr id="84" name="Text 63"/>
          <p:cNvSpPr txBox="1"/>
          <p:nvPr/>
        </p:nvSpPr>
        <p:spPr>
          <a:xfrm>
            <a:off x="9281160" y="4983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ACTIVITIES</a:t>
            </a:r>
            <a:endParaRPr lang="en-US" sz="1000" dirty="0"/>
          </a:p>
        </p:txBody>
      </p:sp>
      <p:pic>
        <p:nvPicPr>
          <p:cNvPr id="85" name="Image 18" descr="swim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81160" y="5239512"/>
            <a:ext cx="384048" cy="384048"/>
          </a:xfrm>
          <a:prstGeom prst="rect">
            <a:avLst/>
          </a:prstGeom>
        </p:spPr>
      </p:pic>
      <p:sp>
        <p:nvSpPr>
          <p:cNvPr id="86" name="Text 64"/>
          <p:cNvSpPr txBox="1"/>
          <p:nvPr/>
        </p:nvSpPr>
        <p:spPr>
          <a:xfrm>
            <a:off x="9784080" y="5276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swim</a:t>
            </a:r>
            <a:endParaRPr lang="en-US" sz="1500" dirty="0"/>
          </a:p>
        </p:txBody>
      </p:sp>
      <p:pic>
        <p:nvPicPr>
          <p:cNvPr id="87" name="Image 19" descr="hike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81160" y="5696712"/>
            <a:ext cx="384048" cy="384048"/>
          </a:xfrm>
          <a:prstGeom prst="rect">
            <a:avLst/>
          </a:prstGeom>
        </p:spPr>
      </p:pic>
      <p:sp>
        <p:nvSpPr>
          <p:cNvPr id="88" name="Text 65"/>
          <p:cNvSpPr txBox="1"/>
          <p:nvPr/>
        </p:nvSpPr>
        <p:spPr>
          <a:xfrm>
            <a:off x="9784080" y="5733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hike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5 · PACK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5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 your bag.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4892040" cy="406908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BAG · 10 THINGS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33172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822960" y="31363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09928" y="233172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1709928" y="31363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96896" y="233172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2596896" y="31363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83864" y="233172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3483864" y="31363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70832" y="233172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4370832" y="31363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" y="374904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822960" y="45537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709928" y="374904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1709928" y="45537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96896" y="374904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2596896" y="45537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83864" y="374904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3483864" y="45537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70832" y="3749040"/>
            <a:ext cx="749808" cy="749808"/>
          </a:xfrm>
          <a:prstGeom prst="rect">
            <a:avLst/>
          </a:prstGeom>
          <a:ln w="15875">
            <a:solidFill>
              <a:srgbClr val="0B1440">
                <a:alpha val="60000"/>
              </a:srgbClr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4370832" y="45537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  <p:pic>
        <p:nvPicPr>
          <p:cNvPr id="30" name="Image 0" descr="pass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6928" cy="566928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806440" y="2203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passport</a:t>
            </a:r>
            <a:endParaRPr lang="en-US" sz="1200" dirty="0"/>
          </a:p>
        </p:txBody>
      </p:sp>
      <p:pic>
        <p:nvPicPr>
          <p:cNvPr id="32" name="Image 1" descr="phone charg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1600200"/>
            <a:ext cx="566928" cy="56692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967728" y="2203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phone charger</a:t>
            </a:r>
            <a:endParaRPr lang="en-US" sz="1200" dirty="0"/>
          </a:p>
        </p:txBody>
      </p:sp>
      <p:pic>
        <p:nvPicPr>
          <p:cNvPr id="34" name="Image 2" descr="tshi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600200"/>
            <a:ext cx="566928" cy="56692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129016" y="2203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T-shirt</a:t>
            </a:r>
            <a:endParaRPr lang="en-US" sz="1200" dirty="0"/>
          </a:p>
        </p:txBody>
      </p:sp>
      <p:pic>
        <p:nvPicPr>
          <p:cNvPr id="36" name="Image 3" descr="shor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1600200"/>
            <a:ext cx="566928" cy="56692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290304" y="2203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shorts</a:t>
            </a:r>
            <a:endParaRPr lang="en-US" sz="1200" dirty="0"/>
          </a:p>
        </p:txBody>
      </p:sp>
      <p:pic>
        <p:nvPicPr>
          <p:cNvPr id="38" name="Image 4" descr="tro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72" y="1600200"/>
            <a:ext cx="566928" cy="56692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451592" y="2203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trousers</a:t>
            </a:r>
            <a:endParaRPr lang="en-US" sz="1200" dirty="0"/>
          </a:p>
        </p:txBody>
      </p:sp>
      <p:pic>
        <p:nvPicPr>
          <p:cNvPr id="40" name="Image 5" descr="swea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2743200"/>
            <a:ext cx="566928" cy="566928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806440" y="3346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sweater</a:t>
            </a:r>
            <a:endParaRPr lang="en-US" sz="1200" dirty="0"/>
          </a:p>
        </p:txBody>
      </p:sp>
      <p:pic>
        <p:nvPicPr>
          <p:cNvPr id="42" name="Image 6" descr="jack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2743200"/>
            <a:ext cx="566928" cy="56692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967728" y="3346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jacket</a:t>
            </a:r>
            <a:endParaRPr lang="en-US" sz="1200" dirty="0"/>
          </a:p>
        </p:txBody>
      </p:sp>
      <p:pic>
        <p:nvPicPr>
          <p:cNvPr id="44" name="Image 7" descr="sho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896" y="2743200"/>
            <a:ext cx="566928" cy="56692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129016" y="3346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shoes</a:t>
            </a:r>
            <a:endParaRPr lang="en-US" sz="1200" dirty="0"/>
          </a:p>
        </p:txBody>
      </p:sp>
      <p:pic>
        <p:nvPicPr>
          <p:cNvPr id="46" name="Image 8" descr="swimsui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3184" y="2743200"/>
            <a:ext cx="566928" cy="566928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290304" y="3346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swimsuit</a:t>
            </a:r>
            <a:endParaRPr lang="en-US" sz="1200" dirty="0"/>
          </a:p>
        </p:txBody>
      </p:sp>
      <p:pic>
        <p:nvPicPr>
          <p:cNvPr id="48" name="Image 9" descr="umbrell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4472" y="2743200"/>
            <a:ext cx="566928" cy="566928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10451592" y="3346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umbrella</a:t>
            </a:r>
            <a:endParaRPr lang="en-US" sz="1200" dirty="0"/>
          </a:p>
        </p:txBody>
      </p:sp>
      <p:pic>
        <p:nvPicPr>
          <p:cNvPr id="50" name="Image 10" descr="raincoa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9320" y="3886200"/>
            <a:ext cx="566928" cy="56692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5806440" y="4489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raincoat</a:t>
            </a:r>
            <a:endParaRPr lang="en-US" sz="1200" dirty="0"/>
          </a:p>
        </p:txBody>
      </p:sp>
      <p:pic>
        <p:nvPicPr>
          <p:cNvPr id="52" name="Image 11" descr="sunglasse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0608" y="3886200"/>
            <a:ext cx="566928" cy="566928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6967728" y="4489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sunglasses</a:t>
            </a:r>
            <a:endParaRPr lang="en-US" sz="1200" dirty="0"/>
          </a:p>
        </p:txBody>
      </p:sp>
      <p:pic>
        <p:nvPicPr>
          <p:cNvPr id="54" name="Image 12" descr="sunscree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1896" y="3886200"/>
            <a:ext cx="566928" cy="566928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8129016" y="4489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sunscreen</a:t>
            </a:r>
            <a:endParaRPr lang="en-US" sz="1200" dirty="0"/>
          </a:p>
        </p:txBody>
      </p:sp>
      <p:pic>
        <p:nvPicPr>
          <p:cNvPr id="56" name="Image 13" descr="ha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73184" y="3886200"/>
            <a:ext cx="566928" cy="566928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9290304" y="4489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hat</a:t>
            </a:r>
            <a:endParaRPr lang="en-US" sz="1200" dirty="0"/>
          </a:p>
        </p:txBody>
      </p:sp>
      <p:sp>
        <p:nvSpPr>
          <p:cNvPr id="58" name="Text 41"/>
          <p:cNvSpPr txBox="1"/>
          <p:nvPr/>
        </p:nvSpPr>
        <p:spPr>
          <a:xfrm>
            <a:off x="5897880" y="5120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ALSO IN THE SHOP</a:t>
            </a:r>
            <a:endParaRPr lang="en-US" sz="1000" dirty="0"/>
          </a:p>
        </p:txBody>
      </p:sp>
      <p:pic>
        <p:nvPicPr>
          <p:cNvPr id="59" name="Image 14" descr="wallet">    </p:cNvPr>
          <p:cNvPicPr>
            <a:picLocks noChangeAspect="1"/>
          </p:cNvPicPr>
          <p:nvPr/>
        </p:nvPicPr>
        <p:blipFill>
          <a:blip r:embed="rId15">
            <a:alphaModFix amt="50000"/>
          </a:blip>
          <a:stretch>
            <a:fillRect/>
          </a:stretch>
        </p:blipFill>
        <p:spPr>
          <a:xfrm>
            <a:off x="6007608" y="5376672"/>
            <a:ext cx="384048" cy="384048"/>
          </a:xfrm>
          <a:prstGeom prst="rect">
            <a:avLst/>
          </a:prstGeom>
        </p:spPr>
      </p:pic>
      <p:sp>
        <p:nvSpPr>
          <p:cNvPr id="60" name="Text 42"/>
          <p:cNvSpPr txBox="1"/>
          <p:nvPr/>
        </p:nvSpPr>
        <p:spPr>
          <a:xfrm>
            <a:off x="5806440" y="5779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wallet</a:t>
            </a:r>
            <a:endParaRPr lang="en-US" sz="800" dirty="0"/>
          </a:p>
        </p:txBody>
      </p:sp>
      <p:pic>
        <p:nvPicPr>
          <p:cNvPr id="61" name="Image 15" descr="adapter">    </p:cNvPr>
          <p:cNvPicPr>
            <a:picLocks noChangeAspect="1"/>
          </p:cNvPicPr>
          <p:nvPr/>
        </p:nvPicPr>
        <p:blipFill>
          <a:blip r:embed="rId16">
            <a:alphaModFix amt="50000"/>
          </a:blip>
          <a:stretch>
            <a:fillRect/>
          </a:stretch>
        </p:blipFill>
        <p:spPr>
          <a:xfrm>
            <a:off x="6830568" y="5376672"/>
            <a:ext cx="384048" cy="384048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6629400" y="5779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adapter</a:t>
            </a:r>
            <a:endParaRPr lang="en-US" sz="800" dirty="0"/>
          </a:p>
        </p:txBody>
      </p:sp>
      <p:pic>
        <p:nvPicPr>
          <p:cNvPr id="63" name="Image 16" descr="toothbrush">    </p:cNvPr>
          <p:cNvPicPr>
            <a:picLocks noChangeAspect="1"/>
          </p:cNvPicPr>
          <p:nvPr/>
        </p:nvPicPr>
        <p:blipFill>
          <a:blip r:embed="rId17">
            <a:alphaModFix amt="50000"/>
          </a:blip>
          <a:stretch>
            <a:fillRect/>
          </a:stretch>
        </p:blipFill>
        <p:spPr>
          <a:xfrm>
            <a:off x="7653528" y="5376672"/>
            <a:ext cx="384048" cy="384048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7452360" y="5779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toothbrush</a:t>
            </a:r>
            <a:endParaRPr lang="en-US" sz="800" dirty="0"/>
          </a:p>
        </p:txBody>
      </p:sp>
      <p:pic>
        <p:nvPicPr>
          <p:cNvPr id="65" name="Image 17" descr="medicine">    </p:cNvPr>
          <p:cNvPicPr>
            <a:picLocks noChangeAspect="1"/>
          </p:cNvPicPr>
          <p:nvPr/>
        </p:nvPicPr>
        <p:blipFill>
          <a:blip r:embed="rId18">
            <a:alphaModFix amt="50000"/>
          </a:blip>
          <a:stretch>
            <a:fillRect/>
          </a:stretch>
        </p:blipFill>
        <p:spPr>
          <a:xfrm>
            <a:off x="8476488" y="5376672"/>
            <a:ext cx="384048" cy="384048"/>
          </a:xfrm>
          <a:prstGeom prst="rect">
            <a:avLst/>
          </a:prstGeom>
        </p:spPr>
      </p:pic>
      <p:sp>
        <p:nvSpPr>
          <p:cNvPr id="66" name="Text 45"/>
          <p:cNvSpPr txBox="1"/>
          <p:nvPr/>
        </p:nvSpPr>
        <p:spPr>
          <a:xfrm>
            <a:off x="8275320" y="5779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medicine</a:t>
            </a:r>
            <a:endParaRPr lang="en-US" sz="800" dirty="0"/>
          </a:p>
        </p:txBody>
      </p:sp>
      <p:pic>
        <p:nvPicPr>
          <p:cNvPr id="67" name="Image 18" descr="scarf">    </p:cNvPr>
          <p:cNvPicPr>
            <a:picLocks noChangeAspect="1"/>
          </p:cNvPicPr>
          <p:nvPr/>
        </p:nvPicPr>
        <p:blipFill>
          <a:blip r:embed="rId19">
            <a:alphaModFix amt="50000"/>
          </a:blip>
          <a:stretch>
            <a:fillRect/>
          </a:stretch>
        </p:blipFill>
        <p:spPr>
          <a:xfrm>
            <a:off x="9299448" y="5376672"/>
            <a:ext cx="384048" cy="384048"/>
          </a:xfrm>
          <a:prstGeom prst="rect">
            <a:avLst/>
          </a:prstGeom>
        </p:spPr>
      </p:pic>
      <p:sp>
        <p:nvSpPr>
          <p:cNvPr id="68" name="Text 46"/>
          <p:cNvSpPr txBox="1"/>
          <p:nvPr/>
        </p:nvSpPr>
        <p:spPr>
          <a:xfrm>
            <a:off x="9098280" y="5779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scarf</a:t>
            </a:r>
            <a:endParaRPr lang="en-US" sz="800" dirty="0"/>
          </a:p>
        </p:txBody>
      </p:sp>
      <p:pic>
        <p:nvPicPr>
          <p:cNvPr id="69" name="Image 19" descr="gloves">    </p:cNvPr>
          <p:cNvPicPr>
            <a:picLocks noChangeAspect="1"/>
          </p:cNvPicPr>
          <p:nvPr/>
        </p:nvPicPr>
        <p:blipFill>
          <a:blip r:embed="rId20">
            <a:alphaModFix amt="50000"/>
          </a:blip>
          <a:stretch>
            <a:fillRect/>
          </a:stretch>
        </p:blipFill>
        <p:spPr>
          <a:xfrm>
            <a:off x="10122408" y="5376672"/>
            <a:ext cx="384048" cy="384048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9921240" y="5779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gloves</a:t>
            </a:r>
            <a:endParaRPr lang="en-US" sz="800" dirty="0"/>
          </a:p>
        </p:txBody>
      </p:sp>
      <p:pic>
        <p:nvPicPr>
          <p:cNvPr id="71" name="Image 20" descr="sandals">    </p:cNvPr>
          <p:cNvPicPr>
            <a:picLocks noChangeAspect="1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>
            <a:off x="10945368" y="5376672"/>
            <a:ext cx="384048" cy="384048"/>
          </a:xfrm>
          <a:prstGeom prst="rect">
            <a:avLst/>
          </a:prstGeom>
        </p:spPr>
      </p:pic>
      <p:sp>
        <p:nvSpPr>
          <p:cNvPr id="72" name="Text 48"/>
          <p:cNvSpPr txBox="1"/>
          <p:nvPr/>
        </p:nvSpPr>
        <p:spPr>
          <a:xfrm>
            <a:off x="10744200" y="5779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sandals</a:t>
            </a:r>
            <a:endParaRPr lang="en-US" sz="800" dirty="0"/>
          </a:p>
        </p:txBody>
      </p:sp>
      <p:sp>
        <p:nvSpPr>
          <p:cNvPr id="73" name="Text 49"/>
          <p:cNvSpPr txBox="1"/>
          <p:nvPr/>
        </p:nvSpPr>
        <p:spPr>
          <a:xfrm>
            <a:off x="54864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ONLINE: DRAG INTO THE BAG · IN CLASS: CARDS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5 · NEW INFORMATION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5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information!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651760" cy="38862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1801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CARD 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forecast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Day 3 is cold.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 1 THING OUT. PUT 1 THING IN.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83280" y="1600200"/>
            <a:ext cx="2651760" cy="38862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11880" y="1801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CARD 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 news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hotel has a pool.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61188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 1 THING OUT. PUT 1 THING IN.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17920" y="1600200"/>
            <a:ext cx="2651760" cy="38862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46520" y="1801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CARD 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465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plan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You're visiting a religious site. Check the local dress rules.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3749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Some places ask visitors to cover their shoulders or knees. Rules are different in different places.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 1 THING OUT. PUT 1 THING IN.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052560" y="1600200"/>
            <a:ext cx="2651760" cy="38862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281160" y="1801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CARD 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28116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Oh no!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28116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bag is too heavy.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928116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 2 THINGS OUT.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Decide together. Then tell another pair: </a:t>
            </a:r>
            <a:pPr indent="0" marL="0">
              <a:buNone/>
            </a:pPr>
            <a:r>
              <a:rPr lang="en-US" sz="20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taking… / I'm not taking…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TRAVEL NOTE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depends.</a:t>
            </a:r>
            <a:endParaRPr lang="en-US" sz="4000" dirty="0"/>
          </a:p>
        </p:txBody>
      </p:sp>
      <p:pic>
        <p:nvPicPr>
          <p:cNvPr id="7" name="Image 0" descr="sun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77240" cy="777240"/>
          </a:xfrm>
          <a:prstGeom prst="rect">
            <a:avLst/>
          </a:prstGeom>
        </p:spPr>
      </p:pic>
      <p:pic>
        <p:nvPicPr>
          <p:cNvPr id="8" name="Image 1" descr="co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45920"/>
            <a:ext cx="777240" cy="7772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WEATHER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292608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same city can be hot in the day and cold at night. Check the forecast for your dates.</a:t>
            </a:r>
            <a:endParaRPr lang="en-US" sz="1900" dirty="0"/>
          </a:p>
        </p:txBody>
      </p:sp>
      <p:pic>
        <p:nvPicPr>
          <p:cNvPr id="11" name="Image 2" descr="old c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777240" cy="7772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343400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PLACES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4343400" y="292608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Some religious sites have dress rules — for example, covering shoulders or knees. Rules are different in different places.</a:t>
            </a:r>
            <a:endParaRPr lang="en-US" sz="1900" dirty="0"/>
          </a:p>
        </p:txBody>
      </p:sp>
      <p:pic>
        <p:nvPicPr>
          <p:cNvPr id="14" name="Image 3" descr="adap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45920"/>
            <a:ext cx="777240" cy="77724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138160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PLUGS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8138160" y="292608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Plugs are different in different countries. Do you need an adapter?</a:t>
            </a:r>
            <a:endParaRPr lang="en-US" sz="1900" dirty="0"/>
          </a:p>
        </p:txBody>
      </p:sp>
      <p:sp>
        <p:nvSpPr>
          <p:cNvPr id="17" name="Shape 10"/>
          <p:cNvSpPr/>
          <p:nvPr/>
        </p:nvSpPr>
        <p:spPr>
          <a:xfrm>
            <a:off x="548640" y="4754880"/>
            <a:ext cx="11091672" cy="141732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visitor to your country: what do they need?</a:t>
            </a:r>
            <a:endParaRPr lang="en-US" sz="2400" dirty="0"/>
          </a:p>
        </p:txBody>
      </p:sp>
      <p:sp>
        <p:nvSpPr>
          <p:cNvPr id="19" name="Text 12"/>
          <p:cNvSpPr txBox="1"/>
          <p:nvPr/>
        </p:nvSpPr>
        <p:spPr>
          <a:xfrm>
            <a:off x="82296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</a:t>
            </a:r>
            <a:pPr indent="0" marL="0">
              <a:buNone/>
            </a:pPr>
            <a:r>
              <a:rPr lang="en-US" sz="2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</a:t>
            </a:r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you need </a:t>
            </a:r>
            <a:pPr indent="0" marL="0">
              <a:buNone/>
            </a:pPr>
            <a:r>
              <a:rPr lang="en-US" sz="22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</a:t>
            </a:r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DECISION 6 · FINAL TASK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6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AF7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Travel Bag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</a:t>
            </a:r>
            <a:pPr indent="0" marL="0">
              <a:buNone/>
            </a:pPr>
            <a:r>
              <a:rPr lang="en-US" sz="1800" spc="10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1800" spc="10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</a:t>
            </a:r>
            <a:pPr indent="0" marL="0">
              <a:buNone/>
            </a:pPr>
            <a:r>
              <a:rPr lang="en-US" sz="1800" spc="10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1800" spc="10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DECIDE</a:t>
            </a:r>
            <a:pPr indent="0" marL="0">
              <a:buNone/>
            </a:pPr>
            <a:r>
              <a:rPr lang="en-US" sz="1800" spc="10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1800" spc="100" kern="0" dirty="0">
                <a:solidFill>
                  <a:srgbClr val="8890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31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7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Plan.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0175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AF7F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trip: real or dream — or a trip card.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AF7F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Complete your list.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MINUTES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57800" y="2194560"/>
            <a:ext cx="6382512" cy="397764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53212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 TRAVEL BAG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532120" y="2724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going to </a:t>
            </a:r>
            <a:pPr indent="0" marL="0">
              <a:buNone/>
            </a:pPr>
            <a:r>
              <a:rPr lang="en-US" sz="18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____________</a:t>
            </a:r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for </a:t>
            </a:r>
            <a:pPr indent="0" marL="0">
              <a:buNone/>
            </a:pPr>
            <a:r>
              <a:rPr lang="en-US" sz="18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days.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3182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weather:</a:t>
            </a:r>
            <a:endParaRPr lang="en-US" sz="1800" dirty="0"/>
          </a:p>
        </p:txBody>
      </p:sp>
      <p:pic>
        <p:nvPicPr>
          <p:cNvPr id="16" name="Image 0" descr="sun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3108960"/>
            <a:ext cx="411480" cy="4114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543800" y="3200400"/>
            <a:ext cx="201168" cy="201168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18" name="Image 1" descr="rain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108960"/>
            <a:ext cx="411480" cy="411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321040" y="3200400"/>
            <a:ext cx="201168" cy="201168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20" name="Image 2" descr="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3108960"/>
            <a:ext cx="411480" cy="4114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098280" y="3200400"/>
            <a:ext cx="201168" cy="201168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pic>
        <p:nvPicPr>
          <p:cNvPr id="22" name="Image 3" descr="co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3108960"/>
            <a:ext cx="411480" cy="41148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9875520" y="3200400"/>
            <a:ext cx="201168" cy="201168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532120" y="3639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Activities: </a:t>
            </a:r>
            <a:pPr indent="0" marL="0">
              <a:buNone/>
            </a:pPr>
            <a:r>
              <a:rPr lang="en-US" sz="18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______________________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5532120" y="4096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taking: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532120" y="4434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 </a:t>
            </a:r>
            <a:pPr indent="0" marL="0">
              <a:buNone/>
            </a:pPr>
            <a:r>
              <a:rPr lang="en-US" sz="15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______________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5532120" y="47640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 </a:t>
            </a:r>
            <a:pPr indent="0" marL="0">
              <a:buNone/>
            </a:pPr>
            <a:r>
              <a:rPr lang="en-US" sz="15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______________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532120" y="50932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 </a:t>
            </a:r>
            <a:pPr indent="0" marL="0">
              <a:buNone/>
            </a:pPr>
            <a:r>
              <a:rPr lang="en-US" sz="15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______________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458200" y="4434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 </a:t>
            </a:r>
            <a:pPr indent="0" marL="0">
              <a:buNone/>
            </a:pPr>
            <a:r>
              <a:rPr lang="en-US" sz="15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______________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458200" y="47640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 </a:t>
            </a:r>
            <a:pPr indent="0" marL="0">
              <a:buNone/>
            </a:pPr>
            <a:r>
              <a:rPr lang="en-US" sz="15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______________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458200" y="50932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 </a:t>
            </a:r>
            <a:pPr indent="0" marL="0">
              <a:buNone/>
            </a:pPr>
            <a:r>
              <a:rPr lang="en-US" sz="15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______________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5532120" y="5468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not taking: </a:t>
            </a:r>
            <a:pPr indent="0" marL="0">
              <a:buNone/>
            </a:pPr>
            <a:r>
              <a:rPr lang="en-US" sz="17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</a:t>
            </a:r>
            <a:pPr indent="0" marL="0">
              <a:buNone/>
            </a:pPr>
            <a:r>
              <a:rPr lang="en-US" sz="17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It's </a:t>
            </a:r>
            <a:pPr indent="0" marL="0">
              <a:buNone/>
            </a:pPr>
            <a:r>
              <a:rPr lang="en-US" sz="17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</a:t>
            </a:r>
            <a:pPr indent="0" marL="0">
              <a:buNone/>
            </a:pPr>
            <a:r>
              <a:rPr lang="en-US" sz="17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5532120" y="5806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CHANGES  </a:t>
            </a:r>
            <a:pPr indent="0" marL="0">
              <a:buNone/>
            </a:pPr>
            <a:r>
              <a:rPr lang="en-US" sz="15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______________________________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FINAL TASK ·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6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your partner's bag.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81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1400" b="1" spc="10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DECIDE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65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 ONE thing to add, remove or change.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90779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 you taking… ?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you need… ?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Yes, I am.  /  No, I'm not.  /  Yes, I do.  /  No, I don't.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SUGGEST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507992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need a jacket. It's cold at night.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don't need shorts.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Take a raincoat, not an umbrella.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172200" y="1600200"/>
            <a:ext cx="5468112" cy="420624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46520" y="1801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213055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going to Lisbon for three days. It's sunny. I'm taking T-shirts, shoes, sunglasses and sunscreen. I'm not taking a swimsuit.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6446520" y="3291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32735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Are you taking a jacket?</a:t>
            </a:r>
            <a:endParaRPr lang="en-US" sz="175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3794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3776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No.</a:t>
            </a:r>
            <a:endParaRPr lang="en-US" sz="175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4206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41879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need a jacket. It's cold at night.</a:t>
            </a:r>
            <a:endParaRPr lang="en-US" sz="175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4892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48737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OK, good idea. I'm taking a jacket.</a:t>
            </a:r>
            <a:endParaRPr lang="en-US" sz="17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ROUNDS · NEW PARTNER EACH ROUND · CHECK, THEN SWAP ROLES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FINAL TASK · DECIDE · UPDATE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3840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6 /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Decide. Update your list.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81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DECIDE</a:t>
            </a:r>
            <a:pPr indent="0" marL="0">
              <a:buNone/>
            </a:pPr>
            <a:r>
              <a:rPr lang="en-US" sz="14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1400" b="1" spc="10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DECIDE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231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  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OK, good idea. I'm taking a jacket.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  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No, thanks. I have a sweater.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the change on your list.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CHANGES  </a:t>
            </a:r>
            <a:pPr indent="0" marL="0">
              <a:buNone/>
            </a:pPr>
            <a:r>
              <a:rPr lang="en-US" sz="2000" i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 a jacket  (It's cold at night.)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03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Tell the class: </a:t>
            </a:r>
            <a:pPr indent="0" marL="0">
              <a:buNone/>
            </a:pPr>
            <a:r>
              <a:rPr lang="en-US" sz="22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change and why.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629400" y="1600200"/>
            <a:ext cx="5010912" cy="457200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03720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DID YOU DO IT?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TRAVELLER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2560320"/>
            <a:ext cx="219456" cy="219456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6948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say where and how long.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903720" y="2980944"/>
            <a:ext cx="219456" cy="219456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69480" y="2935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say the weather.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903720" y="3401568"/>
            <a:ext cx="219456" cy="219456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69480" y="33558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say 5+ things I'm taking and 1+ thing I'm not taking.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6903720" y="4005072"/>
            <a:ext cx="219456" cy="219456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3959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answer the question.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903720" y="4425696"/>
            <a:ext cx="219456" cy="219456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69480" y="4379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decide and update my list.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690372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903720" y="5166360"/>
            <a:ext cx="219456" cy="219456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69480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ask 1 question.</a:t>
            </a:r>
            <a:endParaRPr lang="en-US" sz="1550" dirty="0"/>
          </a:p>
        </p:txBody>
      </p:sp>
      <p:sp>
        <p:nvSpPr>
          <p:cNvPr id="31" name="Shape 28"/>
          <p:cNvSpPr/>
          <p:nvPr/>
        </p:nvSpPr>
        <p:spPr>
          <a:xfrm>
            <a:off x="6903720" y="5586984"/>
            <a:ext cx="219456" cy="219456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69480" y="55412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make 1 useful suggestion with a reason.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FEEDBACK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did it go?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B608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Who changed their bag? Why?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5440680" cy="397764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9" name="Shape 6"/>
          <p:cNvSpPr/>
          <p:nvPr/>
        </p:nvSpPr>
        <p:spPr>
          <a:xfrm>
            <a:off x="6199632" y="2194560"/>
            <a:ext cx="5440680" cy="397764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GREAT LANGUAGE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73952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LET'S FIX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CAN YOU…?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you do it?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48640" y="1810512"/>
            <a:ext cx="347472" cy="347472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737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say where I’m going and for how long.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2523744"/>
            <a:ext cx="347472" cy="347472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24505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say what I’m taking and not taking.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48640" y="3236976"/>
            <a:ext cx="347472" cy="347472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316382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give a simple reason: It's cold at night.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48640" y="3950208"/>
            <a:ext cx="347472" cy="347472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38770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check a partner’s bag and make a suggestion.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347472" cy="347472"/>
          </a:xfrm>
          <a:prstGeom prst="rect">
            <a:avLst/>
          </a:prstGeom>
          <a:ln w="19050">
            <a:solidFill>
              <a:srgbClr val="0B14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43000" y="45902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make a simple packing list.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548640" y="5532120"/>
            <a:ext cx="11091672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669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LESSON 01 · I CAN TALK ABOUT WHAT I NEED TO TAKE ON A TRIP AND MAKE A SIMPLE PACKING LIST.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TRAVEL TOOLKIT · LESSON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Travel Toolkit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READY-MADE PHRASES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0116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going to Lisbon for three days.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557784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52374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a jacket.  /  I need sunscreen.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2962656"/>
            <a:ext cx="557784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3580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taking a sweater.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557784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5478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not taking shorts.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3986784"/>
            <a:ext cx="557784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05993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It's cold at night.  /  It's rainy this week.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4498848"/>
            <a:ext cx="557784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5720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bag is full.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1645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USEFUL QUESTIONS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are you going?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492240" y="2450592"/>
            <a:ext cx="512064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25237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many days?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492240" y="2962656"/>
            <a:ext cx="512064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30358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What's the weather like?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492240" y="3474720"/>
            <a:ext cx="512064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92240" y="35478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 I need an umbrella?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6492240" y="3986784"/>
            <a:ext cx="512064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40599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Are you taking a jacket?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TRAVEL TOOLKIT · LESSON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TRAVEL ENGLISH · LESSON 01 · PACKING FOR A TRIP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1908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Travel Toolkit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USEFUL ANSWERS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Yes, you do.  /  No, you don't.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414016"/>
            <a:ext cx="347472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4871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Yes, I am.  /  No, I'm not.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889504"/>
            <a:ext cx="347472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962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Yes, I do.  /  No, I don't.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4381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OK, good idea!  /  Hmm, I'm not sure.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3840480"/>
            <a:ext cx="347472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9136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No, thanks. I have a sweater.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16459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 A FRIEND'S BAG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2011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Are you taking a hat?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343400" y="2414016"/>
            <a:ext cx="388620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4871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 you need sunscreen?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343400" y="2889504"/>
            <a:ext cx="388620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43400" y="29626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need a jacket. It's cold at night.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343400" y="3364992"/>
            <a:ext cx="388620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43400" y="343814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 don't need shorts.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43400" y="3840480"/>
            <a:ext cx="388620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43400" y="391363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Take a raincoat, not an umbrella.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549640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REPAIR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54964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Sorry?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549640" y="2414016"/>
            <a:ext cx="310896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49640" y="2487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Can you repeat that, please?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549640" y="2889504"/>
            <a:ext cx="310896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49640" y="29626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Slowly, please.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8549640" y="3364992"/>
            <a:ext cx="3108960" cy="0"/>
          </a:xfrm>
          <a:prstGeom prst="line">
            <a:avLst/>
          </a:prstGeom>
          <a:noFill/>
          <a:ln w="9525">
            <a:solidFill>
              <a:srgbClr val="0B1440">
                <a:alpha val="2000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49640" y="3438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What's this in English?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48640" y="4663440"/>
            <a:ext cx="11091672" cy="1417320"/>
          </a:xfrm>
          <a:prstGeom prst="rect">
            <a:avLst/>
          </a:prstGeom>
          <a:solidFill>
            <a:srgbClr val="F3EFE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2960" y="4828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F449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 LIST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Lisbon · 3 days · sunny, rainy Day 2   </a:t>
            </a:r>
            <a:pPr indent="0" marL="0">
              <a:buNone/>
            </a:pPr>
            <a:r>
              <a:rPr lang="en-US" sz="1600" b="1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taking: </a:t>
            </a:r>
            <a:pPr indent="0" marL="0">
              <a:buNone/>
            </a:pPr>
            <a:r>
              <a:rPr lang="en-US" sz="16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passport, a phone charger, shoes, a sweater, a raincoat, sunglasses.   </a:t>
            </a:r>
            <a:pPr indent="0" marL="0">
              <a:buNone/>
            </a:pPr>
            <a:r>
              <a:rPr lang="en-US" sz="1600" b="1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I'm not taking: </a:t>
            </a:r>
            <a:pPr indent="0" marL="0">
              <a:buNone/>
            </a:pPr>
            <a:r>
              <a:rPr lang="en-US" sz="16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umbrella. I have a raincoat.   </a:t>
            </a:r>
            <a:pPr indent="0" marL="0">
              <a:buNone/>
            </a:pPr>
            <a:r>
              <a:rPr lang="en-US" sz="1600" b="1" dirty="0">
                <a:solidFill>
                  <a:srgbClr val="F4490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CHANGES: </a:t>
            </a:r>
            <a:pPr indent="0" marL="0">
              <a:buNone/>
            </a:pPr>
            <a:r>
              <a:rPr lang="en-US" sz="1600" dirty="0">
                <a:solidFill>
                  <a:srgbClr val="0B144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 a jacket (It's cold at night.)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Today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Today Travel English · Lesson 01 · Packing for a Trip</dc:title>
  <dc:subject>PptxGenJS Presentation</dc:subject>
  <dc:creator>Today Travel English</dc:creator>
  <cp:lastModifiedBy>Today Travel English</cp:lastModifiedBy>
  <cp:revision>1</cp:revision>
  <dcterms:created xsi:type="dcterms:W3CDTF">2026-09-25T19:48:57Z</dcterms:created>
  <dcterms:modified xsi:type="dcterms:W3CDTF">2026-09-25T19:48:57Z</dcterms:modified>
</cp:coreProperties>
</file>